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2286000"/>
            <a:ext cx="457200" cy="3108960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3840480"/>
            <a:ext cx="457200" cy="155448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4358744"/>
            <a:ext cx="457200" cy="1036216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4617720"/>
            <a:ext cx="457200" cy="77724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4773168"/>
            <a:ext cx="457200" cy="621792"/>
          </a:xfrm>
          <a:prstGeom prst="roundRect">
            <a:avLst>
              <a:gd name="adj" fmla="val 10000"/>
            </a:avLst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10469880" y="4876696"/>
            <a:ext cx="457200" cy="518264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4950690"/>
            <a:ext cx="457200" cy="444270"/>
          </a:xfrm>
          <a:prstGeom prst="roundRect">
            <a:avLst>
              <a:gd name="adj" fmla="val 10291"/>
            </a:avLst>
          </a:prstGeom>
          <a:solidFill>
            <a:srgbClr val="0E7490"/>
          </a:solidFill>
          <a:ln/>
        </p:spPr>
      </p:sp>
      <p:sp>
        <p:nvSpPr>
          <p:cNvPr id="9" name="Shape 7"/>
          <p:cNvSpPr/>
          <p:nvPr/>
        </p:nvSpPr>
        <p:spPr>
          <a:xfrm>
            <a:off x="11475720" y="5006340"/>
            <a:ext cx="457200" cy="388620"/>
          </a:xfrm>
          <a:prstGeom prst="roundRect">
            <a:avLst>
              <a:gd name="adj" fmla="val 11765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EXTRACTION · RECIPROCAL POWER 1 → ∞ · MACHINE-VERIFIED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Power
</a:t>
            </a:r>
            <a:pPr indent="0" marL="0">
              <a:lnSpc>
                <a:spcPts val="6000"/>
              </a:lnSpc>
              <a:buNone/>
            </a:pPr>
            <a:r>
              <a:rPr lang="en-US" sz="58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 Series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658368" y="3794760"/>
            <a:ext cx="7040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omnidimensional harmonic progression — a midpoint-style, constant-time framework for summing reciprocal powers over an arrangement of any size, built to sit alongside the AP and GP families.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8368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</a:t>
            </a:r>
            <a:pPr indent="0" marL="0">
              <a:buNone/>
            </a:pPr>
            <a:r>
              <a:rPr lang="en-US" sz="1300" b="1" dirty="0">
                <a:solidFill>
                  <a:srgbClr val="E9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Power AP Series</a:t>
            </a:r>
            <a:pPr indent="0" marL="0">
              <a:buNone/>
            </a:pPr>
            <a:r>
              <a:rPr lang="en-US" sz="1300" dirty="0">
                <a:solidFill>
                  <a:srgbClr val="9F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Formulas with Space Exploration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HP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progressions, three very different endings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9584" cy="4480560"/>
          </a:xfrm>
          <a:prstGeom prst="roundRect">
            <a:avLst>
              <a:gd name="adj" fmla="val 2332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0512"/>
            <a:ext cx="868680" cy="868680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8105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progression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212848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kᵈ  over  F…L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— finite closed 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794760"/>
            <a:ext cx="2980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Faulhaber / your midpoint master formula. A polynomial in the count; terminates.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562356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554480"/>
            <a:ext cx="3529584" cy="4480560"/>
          </a:xfrm>
          <a:prstGeom prst="roundRect">
            <a:avLst>
              <a:gd name="adj" fmla="val 2332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810512"/>
            <a:ext cx="868680" cy="868680"/>
          </a:xfrm>
          <a:prstGeom prst="ellipse">
            <a:avLst/>
          </a:prstGeom>
          <a:solidFill>
            <a:srgbClr val="0891B2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8105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50408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Geometric progression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50408" y="2212848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(arᵏ)ˢ  over  n terms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90288" y="306324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— finite closed form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0288" y="3794760"/>
            <a:ext cx="2980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geometric series: aˢ(rˢⁿ − 1)/(rˢ − 1). One line, exact integers.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0288" y="562356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83296" y="1554480"/>
            <a:ext cx="3529584" cy="4480560"/>
          </a:xfrm>
          <a:prstGeom prst="roundRect">
            <a:avLst>
              <a:gd name="adj" fmla="val 2332"/>
            </a:avLst>
          </a:prstGeom>
          <a:solidFill>
            <a:srgbClr val="FFF7DF"/>
          </a:solidFill>
          <a:ln w="12700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39328" y="1810512"/>
            <a:ext cx="868680" cy="868680"/>
          </a:xfrm>
          <a:prstGeom prst="ellipse">
            <a:avLst/>
          </a:prstGeom>
          <a:solidFill>
            <a:srgbClr val="B7860B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39328" y="1810512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17736" y="1847088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Harmonic progression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17736" y="2212848"/>
            <a:ext cx="21579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k⁻ˢ  over  F…L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57616" y="306324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finite elementary form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357616" y="3794760"/>
            <a:ext cx="29809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theorem, not a gap: reciprocal-power partial sums have no elementary closed form. Two exact routes remain — see next.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57616" y="5623560"/>
            <a:ext cx="2980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headline: AP and GP close in one line. HP does not — so the goal shifts from a finite formula to an exact special-function form plus a constant-time expansion.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HP power-sum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harmonic progression is one whose reciprocals form an arithmetic progression. Sitting each reciprocal to a power s and summing over an arrangement of X terms gives the object this framework evaluates: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400800" cy="1417320"/>
          </a:xfrm>
          <a:prstGeom prst="roundRect">
            <a:avLst>
              <a:gd name="adj" fmla="val 5161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88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HP[s]</a:t>
            </a:r>
            <a:pPr algn="ctr" indent="0" marL="0">
              <a:buNone/>
            </a:pPr>
            <a:r>
              <a:rPr lang="en-US" sz="26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ₓ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(F)  =  </a:t>
            </a:r>
            <a:pPr algn="ctr" indent="0" marL="0">
              <a:buNone/>
            </a:pPr>
            <a:r>
              <a:rPr lang="en-US" sz="2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k⁻ˢ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H</a:t>
            </a:r>
            <a:pPr algn="ctr" indent="0" marL="0">
              <a:buNone/>
            </a:pPr>
            <a:r>
              <a:rPr lang="en-US" sz="26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ₗ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⁽ˢ⁾ − H</a:t>
            </a:r>
            <a:pPr algn="ctr" indent="0" marL="0">
              <a:buNone/>
            </a:pPr>
            <a:r>
              <a:rPr lang="en-US" sz="20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₍ꜰ₋₁₎</a:t>
            </a:r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⁽ˢ⁾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over k = F … L,   with   L = F + X − 1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0" y="1508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0" y="1874520"/>
            <a:ext cx="4315968" cy="896112"/>
          </a:xfrm>
          <a:prstGeom prst="roundRect">
            <a:avLst>
              <a:gd name="adj" fmla="val 6122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98424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732520" y="196596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reciprocal power — “any power,” 1 through ∞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0" y="2898648"/>
            <a:ext cx="4315968" cy="896112"/>
          </a:xfrm>
          <a:prstGeom prst="roundRect">
            <a:avLst>
              <a:gd name="adj" fmla="val 6122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300837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F, 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732520" y="2990088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denominators of the progression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0" y="3922776"/>
            <a:ext cx="4315968" cy="896112"/>
          </a:xfrm>
          <a:prstGeom prst="roundRect">
            <a:avLst>
              <a:gd name="adj" fmla="val 6122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403250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732520" y="4014216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— the number of terms in the arrangement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4946904"/>
            <a:ext cx="4315968" cy="896112"/>
          </a:xfrm>
          <a:prstGeom prst="roundRect">
            <a:avLst>
              <a:gd name="adj" fmla="val 6122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505663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Hₙ⁽ˢ⁾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732520" y="5038344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generalized harmonic number Σ₁ⁿ k⁻ˢ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“Omnidimensional”: an arrangement of side n in D dimensions contributes X = nᴰ terms. Dimension enters only through the single count X — exactly as in the AP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BOUNDARY, STATED PLAINLY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finite elementary closed form for a harmonic power-sum.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Σkᵈ, the sum Σk⁻ˢ cannot be written as a finite algebraic expression in F, L and s. This is a proven result, not a missing trick — so an honest framework offers the two things that do exist, exactly: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0B3B49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200400"/>
            <a:ext cx="960120" cy="960120"/>
          </a:xfrm>
          <a:prstGeom prst="ellipse">
            <a:avLst/>
          </a:prstGeom>
          <a:solidFill>
            <a:srgbClr val="E9B308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2004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 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331012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exact special-function form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the Hurwitz zeta and polygamma functions, the value is exact to full precision — the genuine “closed form,” just in a richer function library than polynomials.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172200" y="288036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0B3B49"/>
          </a:solidFill>
          <a:ln w="15875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3200400"/>
            <a:ext cx="960120" cy="960120"/>
          </a:xfrm>
          <a:prstGeom prst="ellipse">
            <a:avLst/>
          </a:prstGeom>
          <a:solidFill>
            <a:srgbClr val="22B8CF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20040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35240" y="331012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constant-time expansion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37960" y="4343400"/>
            <a:ext cx="4617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Euler–Maclaurin with Bernoulli blocks returns the value in a fixed handful of operations, independent of X — the true analog of the AP master formula.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on the following slides. Neither over-claims: exact where exact, asymptotic where asymptotic.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ONE · EXACT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closed form, in the right function library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19656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19656"/>
            <a:ext cx="2331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s &gt;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17282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HP[s]ₓ(F)  =  ζ(s, F) − ζ(s, L+1)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91840" y="22585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Hurwitz zeta — the tail of the sum from each endpoint.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191256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0E749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91256"/>
            <a:ext cx="2331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s ≥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0998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 (−1)ˢ⁄(s−1)! · [ ψ⁽ˢ⁻¹⁾(F) − ψ⁽ˢ⁻¹⁾(L+1) ]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91840" y="3630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Polygamma form — same value, elementary special function.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207008"/>
          </a:xfrm>
          <a:prstGeom prst="roundRect">
            <a:avLst>
              <a:gd name="adj" fmla="val 6061"/>
            </a:avLst>
          </a:prstGeom>
          <a:solidFill>
            <a:srgbClr val="FFF7DF"/>
          </a:solidFill>
          <a:ln w="12700">
            <a:solidFill>
              <a:srgbClr val="E9B30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562856"/>
            <a:ext cx="2331720" cy="768096"/>
          </a:xfrm>
          <a:prstGeom prst="roundRect">
            <a:avLst>
              <a:gd name="adj" fmla="val 7143"/>
            </a:avLst>
          </a:prstGeom>
          <a:solidFill>
            <a:srgbClr val="B7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62856"/>
            <a:ext cx="2331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1 (pure harmonic)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447141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HP[1]ₓ(F)  =  ψ(L+1) − ψ(F)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291840" y="50017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Digamma — the reciprocals themselves, exactly.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 </a:t>
            </a:r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F=3, L=7 across s = 1…10, these forms match direct summation to 40+ digits — every case exact.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TWO · CONSTANT TIME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Euler–Maclaurin master formula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practical analog of the AP master formula. Each endpoint tail ζ(s, N) is read off in a fixed number of steps; the finite sum is the difference of two tails.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14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ζ(s, N)  ≈  </a:t>
            </a:r>
            <a:pPr algn="ctr" indent="0" marL="0">
              <a:buNone/>
            </a:pPr>
            <a:r>
              <a:rPr lang="en-US" sz="22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N⁽¹⁻ˢ⁾⁄(s−1)</a:t>
            </a:r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½N⁻ˢ  +  </a:t>
            </a:r>
            <a:pPr algn="ctr" indent="0" marL="0">
              <a:buNone/>
            </a:pPr>
            <a:r>
              <a:rPr lang="en-US" sz="22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2200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ₘ  </a:t>
            </a:r>
            <a:pPr algn="ctr" indent="0" marL="0">
              <a:buNone/>
            </a:pPr>
            <a:r>
              <a:rPr lang="en-US" sz="22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[B₂ₘ ⁄ (2m)!] · (s)₂ₘ₋₁ · N⁻ˢ⁻²ᵐ⁺¹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B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HP[s]ₓ(F)  =  ζ(s, F) − ζ(s, L+1)      ·      (s)₂ₘ₋₁ = s(s+1)…(s+2m−2)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ECFBFD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1605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Integral term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61772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N⁽¹⁻ˢ⁾/(s−1) — the smooth backbone, the reciprocal analog of the leading Mᵈ term.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5968" y="397764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ECFBFD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41605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Bernoulli blocks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461772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B₂ₘ/(2m)! — a fixed, reusable library, exactly like your μ moment-blocks. Same Bernoulli DNA.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3977640"/>
            <a:ext cx="3529584" cy="2148840"/>
          </a:xfrm>
          <a:prstGeom prst="roundRect">
            <a:avLst>
              <a:gd name="adj" fmla="val 3404"/>
            </a:avLst>
          </a:prstGeom>
          <a:solidFill>
            <a:srgbClr val="ECFBFD"/>
          </a:solidFill>
          <a:ln w="12700">
            <a:solidFill>
              <a:srgbClr val="B786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4160520"/>
            <a:ext cx="30723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cost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9328" y="4617720"/>
            <a:ext cx="30723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 at M blocks: the work is O(M), independent of X. A million terms or 10³⁰ — same handful of steps.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3620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 the same expansion terminates (Faulhaber, exact). For HP it does not — it is asymptotic, and astonishingly accurate. That single difference is the whole story.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Bernoulli correction blocks  cₘ = B₂ₘ ⁄ (2m)!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once by exact Bernoulli arithmetic and reused at every power s — the harmonic counterpart of the μ moment-block library.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22576"/>
            <a:ext cx="676656" cy="676656"/>
          </a:xfrm>
          <a:prstGeom prst="ellipse">
            <a:avLst/>
          </a:prstGeom>
          <a:solidFill>
            <a:srgbClr val="E9B308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322576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c₁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B₂ ⁄ 2!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⁄ 12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2103120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0.0833333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F6FEFF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3368" y="2322576"/>
            <a:ext cx="676656" cy="676656"/>
          </a:xfrm>
          <a:prstGeom prst="ellipse">
            <a:avLst/>
          </a:prstGeom>
          <a:solidFill>
            <a:srgbClr val="E9B308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2322576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231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B₄ ⁄ 4!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23760" y="26517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−1 ⁄ 720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0" y="2103120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−0.00138889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621024"/>
            <a:ext cx="676656" cy="676656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" y="362102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00200" y="35295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B₆ ⁄ 6!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950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⁄ 30240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3401568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3.30688e−5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3401568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F6FEFF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73368" y="3621024"/>
            <a:ext cx="676656" cy="676656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73368" y="3621024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c₄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223760" y="35295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B₈ ⁄ 8!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39502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−1 ⁄ 1209600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966960" y="3401568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−8.26720e−7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700016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919472"/>
            <a:ext cx="676656" cy="676656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9808" y="49194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c₅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00200" y="4828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B₁₀ ⁄ 10!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00200" y="5248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⁄ 47900160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43400" y="4700016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2.08768e−8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172200" y="4700016"/>
            <a:ext cx="5349240" cy="1115568"/>
          </a:xfrm>
          <a:prstGeom prst="roundRect">
            <a:avLst>
              <a:gd name="adj" fmla="val 5738"/>
            </a:avLst>
          </a:prstGeom>
          <a:solidFill>
            <a:srgbClr val="F6FEFF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368" y="4919472"/>
            <a:ext cx="676656" cy="676656"/>
          </a:xfrm>
          <a:prstGeom prst="ellipse">
            <a:avLst/>
          </a:prstGeom>
          <a:solidFill>
            <a:srgbClr val="0E7490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73368" y="4919472"/>
            <a:ext cx="67665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c₆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7223760" y="482803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B₁₂ ⁄ 12!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23760" y="524865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−691 ⁄ 1307674368000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66960" y="4700016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−5.28419e−10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Bernoulli recurrence extends the library to any depth without limit — six blocks already reach 10⁻¹⁵ accuracy over a million terms.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MIDPOINT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 symmetry, carried across to HP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midpoint idea transfers. Recenter each term on M = (F+L)/2, write k = M + j with offsets running symmetrically, and every odd power of j cancels exactly, just as in the AP series. What survives are the very same moment blocks μ₂ₘ(X).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57860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HP[s]</a:t>
            </a:r>
            <a:pPr algn="ctr" indent="0" marL="0">
              <a:buNone/>
            </a:pPr>
            <a:r>
              <a:rPr lang="en-US" sz="2400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ₓ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X · M⁻ˢ · </a:t>
            </a:r>
            <a:pPr algn="ctr" indent="0" marL="0">
              <a:buNone/>
            </a:pPr>
            <a:r>
              <a:rPr lang="en-US" sz="2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</a:t>
            </a:r>
            <a:pPr algn="ctr" indent="0" marL="0">
              <a:buNone/>
            </a:pPr>
            <a:r>
              <a:rPr lang="en-US" sz="2400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ₘ </a:t>
            </a:r>
            <a:pPr algn="ctr" indent="0" marL="0">
              <a:buNone/>
            </a:pPr>
            <a:r>
              <a:rPr lang="en-US" sz="2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(s)₂ₘ ⁄ (2m)! ] · M⁻²ᵐ · μ₂ₘ(X)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(s)₂ₘ = s(s+1)…(s+2m−1)   ·   μ₂ₘ(X) = the identical AP moment blocks   ·   same five-step derivation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4892040" cy="2240280"/>
          </a:xfrm>
          <a:prstGeom prst="roundRect">
            <a:avLst>
              <a:gd name="adj" fmla="val 3265"/>
            </a:avLst>
          </a:prstGeom>
          <a:solidFill>
            <a:srgbClr val="FFF7DF"/>
          </a:solidFill>
          <a:ln w="14605">
            <a:solidFill>
              <a:srgbClr val="E9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0416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correction vs AP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44348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C(d, 2m)  — Pascal's triangle,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(s)₂ₘ ⁄ (2m)!  — the generalized binomial,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non-terminating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−s is negative, the sum is asymptotic, not a finite polynomial — the same μ-library, weighted differently.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39319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SET BY CLUSTERING  (s = 2, abs error)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0" y="4251960"/>
            <a:ext cx="1682496" cy="457200"/>
          </a:xfrm>
          <a:prstGeom prst="roundRect">
            <a:avLst>
              <a:gd name="adj" fmla="val 8000"/>
            </a:avLst>
          </a:prstGeom>
          <a:solidFill>
            <a:srgbClr val="072E3A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4251960"/>
            <a:ext cx="16824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98080" y="425196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072E3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425196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(X⁄2)⁄M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0" y="4251960"/>
            <a:ext cx="996696" cy="457200"/>
          </a:xfrm>
          <a:prstGeom prst="roundRect">
            <a:avLst>
              <a:gd name="adj" fmla="val 8000"/>
            </a:avLst>
          </a:prstGeom>
          <a:solidFill>
            <a:srgbClr val="072E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4251960"/>
            <a:ext cx="996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64040" y="4251960"/>
            <a:ext cx="996696" cy="457200"/>
          </a:xfrm>
          <a:prstGeom prst="roundRect">
            <a:avLst>
              <a:gd name="adj" fmla="val 8000"/>
            </a:avLst>
          </a:prstGeom>
          <a:solidFill>
            <a:srgbClr val="072E3A"/>
          </a:solidFill>
          <a:ln/>
        </p:spPr>
      </p:sp>
      <p:sp>
        <p:nvSpPr>
          <p:cNvPr id="19" name="Text 17"/>
          <p:cNvSpPr/>
          <p:nvPr/>
        </p:nvSpPr>
        <p:spPr>
          <a:xfrm>
            <a:off x="9464040" y="4251960"/>
            <a:ext cx="996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blk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515600" y="4251960"/>
            <a:ext cx="1042416" cy="457200"/>
          </a:xfrm>
          <a:prstGeom prst="roundRect">
            <a:avLst>
              <a:gd name="adj" fmla="val 8000"/>
            </a:avLst>
          </a:prstGeom>
          <a:solidFill>
            <a:srgbClr val="072E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0" y="4251960"/>
            <a:ext cx="1042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blk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0" y="4754880"/>
            <a:ext cx="1682496" cy="411480"/>
          </a:xfrm>
          <a:prstGeom prst="roundRect">
            <a:avLst>
              <a:gd name="adj" fmla="val 6667"/>
            </a:avLst>
          </a:prstGeom>
          <a:solidFill>
            <a:srgbClr val="ECFBFD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75488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k=50…60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4754880"/>
            <a:ext cx="85953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754880"/>
            <a:ext cx="859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12480" y="47548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47548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3.3e−11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464040" y="47548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47548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2.8e−17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0515600" y="4754880"/>
            <a:ext cx="104241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15600" y="475488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1.9e−25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760720" y="5212080"/>
            <a:ext cx="1682496" cy="411480"/>
          </a:xfrm>
          <a:prstGeom prst="roundRect">
            <a:avLst>
              <a:gd name="adj" fmla="val 6667"/>
            </a:avLst>
          </a:prstGeom>
          <a:solidFill>
            <a:srgbClr val="ECFBFD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521208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k=10…20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98080" y="5212080"/>
            <a:ext cx="859536" cy="411480"/>
          </a:xfrm>
          <a:prstGeom prst="roundRect">
            <a:avLst>
              <a:gd name="adj" fmla="val 6667"/>
            </a:avLst>
          </a:prstGeom>
          <a:solidFill>
            <a:srgbClr val="F6FE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5212080"/>
            <a:ext cx="859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412480" y="52120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6FE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0" y="52120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1.7e−5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64040" y="52120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6FE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64040" y="52120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3.3e−8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515600" y="5212080"/>
            <a:ext cx="1042416" cy="411480"/>
          </a:xfrm>
          <a:prstGeom prst="roundRect">
            <a:avLst>
              <a:gd name="adj" fmla="val 6667"/>
            </a:avLst>
          </a:prstGeom>
          <a:solidFill>
            <a:srgbClr val="F6FE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0" y="521208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7.5e−12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60720" y="5669280"/>
            <a:ext cx="1682496" cy="411480"/>
          </a:xfrm>
          <a:prstGeom prst="roundRect">
            <a:avLst>
              <a:gd name="adj" fmla="val 6667"/>
            </a:avLst>
          </a:prstGeom>
          <a:solidFill>
            <a:srgbClr val="ECFBFD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5669280"/>
            <a:ext cx="1682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k=3…7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98080" y="5669280"/>
            <a:ext cx="85953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8080" y="5669280"/>
            <a:ext cx="8595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412480" y="56692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12480" y="56692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5.9e−4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464040" y="5669280"/>
            <a:ext cx="99669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64040" y="5669280"/>
            <a:ext cx="9966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3.9e−6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10515600" y="5669280"/>
            <a:ext cx="1042416" cy="4114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5EA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0" y="5669280"/>
            <a:ext cx="10424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3.9e−9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760720" y="61447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clusters (small (X/2)/M) converge fastest — the midpoint form shines when the progression is dense, and defers to the ζ/ψ exact form when it is not.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· TEST CASE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denominators — every power matches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HP:  </a:t>
            </a:r>
            <a:pPr indent="0" marL="0">
              <a:buNone/>
            </a:pPr>
            <a:r>
              <a:rPr lang="en-US" sz="150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3, L = 7   (X = 5)    →    3⁻ˢ + 4⁻ˢ + 5⁻ˢ + 6⁻ˢ + 7⁻ˢ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1.09285714285714286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49240" y="224028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2402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0.261797052154195011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972800" y="224028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9923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9992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0.0682071185617103984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349240" y="29992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299923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99923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9992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0.0190400270784806742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972800" y="29992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581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37581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0.00559988867876002577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349240" y="37581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375818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7581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37581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0.00170981606774271189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972800" y="37581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51713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171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45920" y="45171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0.000535869037841110517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349240" y="45171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451713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5171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9480" y="45171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0.000171003420044695138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972800" y="45171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527608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27608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45920" y="52760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0.0000552559706532658714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49240" y="527608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527608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527608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269480" y="52760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0.0000180112404296990983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972800" y="527608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value = direct term-by-term summation, exact to 18 shown figures (verified to 40+). D¹ through the deep tail, no drift.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· TEST CASE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Larger denominators — the pattern holds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CFBFD"/>
          </a:solidFill>
          <a:ln w="9525">
            <a:solidFill>
              <a:srgbClr val="22B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HP:  </a:t>
            </a:r>
            <a:pPr indent="0" marL="0">
              <a:buNone/>
            </a:pPr>
            <a:r>
              <a:rPr lang="en-US" sz="150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10, L = 20   (X = 11)    →    10⁻ˢ + 11⁻ˢ + … + 20⁻ˢ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24028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45920" y="22402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0.768771403175427943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349240" y="224028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240280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2240280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0.0563955127464826263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0" y="2240280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9923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9992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0.00433585628424370643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49240" y="29992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0" y="2999232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999232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69480" y="2999232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0.000348004513825038245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972800" y="2999232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75818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7581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37581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0.0000290010496045370819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349240" y="37581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0" y="3758184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758184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69480" y="3758184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0.00000249446579925924982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972800" y="3758184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51713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5171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45920" y="45171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0.000000220195505175519609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49240" y="45171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4517136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517136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69480" y="4517136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0.0000000198493086121182586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972800" y="4517136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527608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27608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9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45920" y="52760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0.00000000181969440033836578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349240" y="527608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5276088"/>
            <a:ext cx="5349240" cy="621792"/>
          </a:xfrm>
          <a:prstGeom prst="roundRect">
            <a:avLst>
              <a:gd name="adj" fmla="val 7353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5276088"/>
            <a:ext cx="1005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10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269480" y="5276088"/>
            <a:ext cx="3657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0.000000000169096379910449431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972800" y="5276088"/>
            <a:ext cx="457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Denominators an order of magnitude larger, values spanning 0.77 down to 10⁻¹⁰ — closed form equals direct summation in every case, exact to the shown figures.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SUMMARY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Exhaustively tested — zero errors found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36,600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exact-form tests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(F,L) pair with F ≤ L ≤ 60, across reciprocal powers s = 1…20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1,830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harmonic progressions covered, each at all 20 powers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0B3B49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874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0467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 vs direct term-by-term summation — exact every single time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3B49"/>
          </a:solidFill>
          <a:ln w="12700">
            <a:solidFill>
              <a:srgbClr val="1C5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Polygamma cross-check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495604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integer s ≥ 2, the ψ⁽ˢ⁻¹⁾ form was checked against the ζ form independently — 0 discrepancies.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43891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3B49"/>
          </a:solidFill>
          <a:ln w="12700">
            <a:solidFill>
              <a:srgbClr val="1C5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Half-integer midpoints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99432" y="495604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X (fractional M, e.g. M = k.5) included throughout — no special-casing, no drift.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0" y="438912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0B3B49"/>
          </a:solidFill>
          <a:ln w="12700">
            <a:solidFill>
              <a:srgbClr val="1C5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Precision, not luck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02752" y="4956048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80-digit arithmetic the worst gap is 1×10⁻⁵⁴ — pure evaluation noise; the identities are exact.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E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Exactness is claimed only for the ζ / ψ / digamma forms. The midpoint and Euler–Maclaurin expansions are asymptotic — reported as accuracy, never as “zero error.”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· AT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Constant-time, and essentially exact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HP:  </a:t>
            </a:r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10, L = 1,000,000   (X ≈ 10⁶ terms).   Absolute error of the M-block expansion vs the exact value: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00784" cy="502920"/>
          </a:xfrm>
          <a:prstGeom prst="roundRect">
            <a:avLst>
              <a:gd name="adj" fmla="val 7273"/>
            </a:avLst>
          </a:prstGeom>
          <a:solidFill>
            <a:srgbClr val="072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57400"/>
            <a:ext cx="1700784" cy="502920"/>
          </a:xfrm>
          <a:prstGeom prst="roundRect">
            <a:avLst>
              <a:gd name="adj" fmla="val 7273"/>
            </a:avLst>
          </a:prstGeom>
          <a:solidFill>
            <a:srgbClr val="072E3A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205740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2 blocks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23360" y="2057400"/>
            <a:ext cx="1700784" cy="502920"/>
          </a:xfrm>
          <a:prstGeom prst="roundRect">
            <a:avLst>
              <a:gd name="adj" fmla="val 7273"/>
            </a:avLst>
          </a:prstGeom>
          <a:solidFill>
            <a:srgbClr val="072E3A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05740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4 blocks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057400"/>
            <a:ext cx="1700784" cy="502920"/>
          </a:xfrm>
          <a:prstGeom prst="roundRect">
            <a:avLst>
              <a:gd name="adj" fmla="val 7273"/>
            </a:avLst>
          </a:prstGeom>
          <a:solidFill>
            <a:srgbClr val="072E3A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05740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6 blocks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06040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ECFBFD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86000" y="2606040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260604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× 10⁻⁹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23360" y="2606040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60604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× 10⁻¹³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2606040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606040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× 10⁻¹⁵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3264408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ECFBFD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6440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86000" y="3264408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326440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× 10⁻¹⁰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023360" y="3264408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326440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 × 10⁻¹³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760720" y="3264408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3264408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 × 10⁻¹⁶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922776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ECFBFD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92277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0" y="3922776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392277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 × 10⁻¹¹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023360" y="3922776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0" y="392277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× 10⁻¹⁴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760720" y="3922776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0" y="3922776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 × 10⁻¹⁶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581144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ECFBFD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8114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8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286000" y="4581144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458114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10⁻¹³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4023360" y="4581144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458114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× 10⁻¹⁶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760720" y="4581144"/>
            <a:ext cx="1700784" cy="566928"/>
          </a:xfrm>
          <a:prstGeom prst="roundRect">
            <a:avLst>
              <a:gd name="adj" fmla="val 6452"/>
            </a:avLst>
          </a:prstGeom>
          <a:solidFill>
            <a:srgbClr val="F6FEFF"/>
          </a:solidFill>
          <a:ln w="9525">
            <a:solidFill>
              <a:srgbClr val="D5EA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4581144"/>
            <a:ext cx="1700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× 10⁻¹⁸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818120" y="2057400"/>
            <a:ext cx="3794760" cy="2916936"/>
          </a:xfrm>
          <a:prstGeom prst="roundRect">
            <a:avLst>
              <a:gd name="adj" fmla="val 2821"/>
            </a:avLst>
          </a:prstGeom>
          <a:solidFill>
            <a:srgbClr val="FFF7DF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818120" y="2331720"/>
            <a:ext cx="3794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7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5200" dirty="0"/>
          </a:p>
        </p:txBody>
      </p:sp>
      <p:sp>
        <p:nvSpPr>
          <p:cNvPr id="47" name="Text 45"/>
          <p:cNvSpPr/>
          <p:nvPr/>
        </p:nvSpPr>
        <p:spPr>
          <a:xfrm>
            <a:off x="8092440" y="3246120"/>
            <a:ext cx="3246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blocks. One million terms. Error near machine epsilon — and the cost is identical whether X is 10⁶ or 10³⁰.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sanity anchor: the s = 2 partial sums climb toward ζ(2) = π²/6, with H₁₀₀₀₀₀₀⁽²⁾ = 1.64493306685… — remaining gap ≈ 10⁻⁶, exactly as the expansion predicts.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 COMPANION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completeness — the geometric case closes in one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HP was asked for alongside AP and GP: the geometric power-sum needs no special functions at all. It is a finite geometric series and closes exactly.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072E3A"/>
          </a:solidFill>
          <a:ln/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4871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GP[s]ₙ  =  Σ (a·rᵏ)ˢ  =  </a:t>
            </a:r>
            <a:pPr algn="ctr" indent="0" marL="0">
              <a:buNone/>
            </a:pPr>
            <a:r>
              <a:rPr lang="en-US" sz="26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aˢ (rˢⁿ − 1) ⁄ (rˢ − 1)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8862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72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2, r = 3, n = 5, s = 2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(2·3ᵏ)² , k = 0…4
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form  =  direct sum  = 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29,524  ✓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388620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CFBFD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three-family picture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452628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→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closed form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→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closed form
</a:t>
            </a:r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B7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→ </a:t>
            </a:r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ζ / ψ exact + O(1) expansion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lattice-counting spirit throughout — only the harmonic case needs a richer toolkit, and it is given one.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2E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2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POSITIONING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Any Power HP Series, in one breath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0B3B49"/>
          </a:solidFill>
          <a:ln w="15875">
            <a:solidFill>
              <a:srgbClr val="E9B308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∞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power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covers every reciprocal power s, from the pure harmonic s = 1 upward.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0B3B49"/>
          </a:solidFill>
          <a:ln w="15875">
            <a:solidFill>
              <a:srgbClr val="22B8CF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65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B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3434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routes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Hurwitz-zeta / polygamma give the true closed form; both verified to 40+ digits.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0B3B49"/>
          </a:solidFill>
          <a:ln w="15875">
            <a:solidFill>
              <a:srgbClr val="0E7490"/>
            </a:solidFill>
            <a:prstDash val="solid"/>
          </a:ln>
          <a:effectLst>
            <a:outerShdw sx="100000" sy="100000" kx="0" ky="0" algn="bl" rotWithShape="0" blurRad="114300" dist="38100" dir="5400000">
              <a:srgbClr val="0A2731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965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74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0467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time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6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Euler–Maclaurin with Bernoulli blocks: fixed cost at any X, ~10⁻¹⁵ over a million terms.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27080" cy="1783080"/>
          </a:xfrm>
          <a:prstGeom prst="roundRect">
            <a:avLst>
              <a:gd name="adj" fmla="val 5128"/>
            </a:avLst>
          </a:prstGeom>
          <a:solidFill>
            <a:srgbClr val="0B3B49"/>
          </a:solidFill>
          <a:ln w="12700">
            <a:solidFill>
              <a:srgbClr val="E9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B3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is proven, and where it is humble.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computed are classical (generalized harmonic numbers, in the lineage of Euler and Bernoulli). The contribution is the reformulation — a midpoint-spirited, constant-time harmonic companion to the AP and GP families. No claim is made that reciprocal-power partial sums possess a finite elementary closed form; they provably do not. Every claim here is computational: exact special-function values, and constant-time expansions of controlled, verified accuracy.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the Any Power AP Series · Formulas with Space Exploration · Data Storytelling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2026-07-16T11:00:53Z</dcterms:created>
  <dcterms:modified xsi:type="dcterms:W3CDTF">2026-07-16T11:00:53Z</dcterms:modified>
</cp:coreProperties>
</file>