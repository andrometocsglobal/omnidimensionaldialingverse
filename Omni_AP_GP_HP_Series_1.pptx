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868680"/>
            <a:ext cx="749808" cy="74980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326880" y="8686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22992" y="868680"/>
            <a:ext cx="749808" cy="749808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22992" y="8686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119104" y="868680"/>
            <a:ext cx="749808" cy="749808"/>
          </a:xfrm>
          <a:prstGeom prst="ellipse">
            <a:avLst/>
          </a:prstGeom>
          <a:solidFill>
            <a:srgbClr val="E9B308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119104" y="8686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MIDPOINT ENGINE · THREE PROGRESSIONS · MACHINE-VERIFIED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Omni Series
</a:t>
            </a:r>
            <a:pPr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· GP · HP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58368" y="38862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F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geometric and harmonic power-sums under a single midpoint moment-block expansion — one derivation, one correction library, three specializations distinguished only by what closes.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368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with Space Exploration · Data Storytelling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UNIFYING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expansion, recentered on the midpoint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Recenter any sum on M = (F+L)/2 and expand in symmetric offsets. Odd terms cancel; what survives are the moment blocks μ₂ₘ(X). This one identity is the whole engine: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072E3A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871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f(k)  =  X · </a:t>
            </a:r>
            <a:pPr algn="ctr" indent="0" marL="0">
              <a:buNone/>
            </a:pPr>
            <a:r>
              <a:rPr lang="en-US" sz="26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ₘ  [ f</a:t>
            </a:r>
            <a:pPr algn="ctr" indent="0" marL="0">
              <a:buNone/>
            </a:pPr>
            <a:r>
              <a:rPr lang="en-US" sz="2600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⁽²ᵐ⁾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(M) ⁄ (2m)! ] · μ₂ₘ(X)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F…L   ·   the same μ₂ₘ(X) library serves all three families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3529584" cy="2331720"/>
          </a:xfrm>
          <a:prstGeom prst="roundRect">
            <a:avLst>
              <a:gd name="adj" fmla="val 3137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4023360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4023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91640" y="411480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f(k) = kᵈ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489204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terminates → exact polynomial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53492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Pascal binomial C(d,2m) is finite. This is Faulhaber, in factored midpoint form.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15968" y="3794760"/>
            <a:ext cx="3529584" cy="2331720"/>
          </a:xfrm>
          <a:prstGeom prst="roundRect">
            <a:avLst>
              <a:gd name="adj" fmla="val 3137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4023360"/>
            <a:ext cx="777240" cy="77724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53712" y="4023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58968" y="411480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f(k) = (a·rᵏ)ˢ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489204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geometric closed form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0" y="53492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as aˢ(rˢⁿ−1)/(rˢ−1); also fits the lens with R = rˢ, and converges.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83296" y="3794760"/>
            <a:ext cx="3529584" cy="2331720"/>
          </a:xfrm>
          <a:prstGeom prst="roundRect">
            <a:avLst>
              <a:gd name="adj" fmla="val 3137"/>
            </a:avLst>
          </a:prstGeom>
          <a:solidFill>
            <a:srgbClr val="FFF7DF"/>
          </a:solidFill>
          <a:ln w="12700">
            <a:solidFill>
              <a:srgbClr val="E9B30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4023360"/>
            <a:ext cx="777240" cy="777240"/>
          </a:xfrm>
          <a:prstGeom prst="ellipse">
            <a:avLst/>
          </a:prstGeom>
          <a:solidFill>
            <a:srgbClr val="B7860B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21040" y="4023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226296" y="411480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f(k) = k⁻ˢ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39328" y="489204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asymptotic → ζ / ψ exact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39328" y="53492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generalized binomial (s)₂ₘ/(2m)! never terminates — exact via zeta/polygamma.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reframing — not new theorems, and honest about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classical picture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Faulhaber (1631)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7919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of integer powers — a separate polynomial per power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Euler–Maclaurin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correction series, treated case by case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28853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Hurwitz ζ / polygamma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636008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home of reciprocal-power sums, on its own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FFF7DF"/>
          </a:solidFill>
          <a:ln w="12700">
            <a:solidFill>
              <a:srgbClr val="E9B3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Omni reframing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331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μ-library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267919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 moment blocks are reused verbatim inside the HP expansion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33101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derivation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36576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five-step midpoint symmetry generates all three families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428853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+ constant-time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4636008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an O(1) primitive with exhaustive machine checks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72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9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positioning: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quantities are classical. The contribution is the unification, the shared correction library, and the verified constant-time packaging — not a claim that harmonic sums have a finite closed form. They provably do not.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EACH · GENERIC → SPECIFIC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families, from formula to number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9584" cy="4572000"/>
          </a:xfrm>
          <a:prstGeom prst="roundRect">
            <a:avLst>
              <a:gd name="adj" fmla="val 2332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01952" y="178308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01952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2980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Dᵈ = X·Σ C(d,2m) Mᵈ⁻²ᵐ μ₂ₘ(X)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178808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3,  k = 3…7   (X=5, M=5)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5·5·[5² + 3μ₂] = 5·5·31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775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15968" y="1554480"/>
            <a:ext cx="3529584" cy="4572000"/>
          </a:xfrm>
          <a:prstGeom prst="roundRect">
            <a:avLst>
              <a:gd name="adj" fmla="val 2332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1783080"/>
            <a:ext cx="822960" cy="82296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90288" y="278892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90288" y="3035808"/>
            <a:ext cx="2980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GP[s] = aˢ (rˢⁿ − 1) ⁄ (rˢ − 1)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90288" y="393192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90288" y="4178808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3,  a=1, r=2, n=5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90288" y="461772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1³+2³+4³+8³+16³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90288" y="544068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4,681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083296" y="1554480"/>
            <a:ext cx="3529584" cy="4572000"/>
          </a:xfrm>
          <a:prstGeom prst="roundRect">
            <a:avLst>
              <a:gd name="adj" fmla="val 2332"/>
            </a:avLst>
          </a:prstGeom>
          <a:solidFill>
            <a:srgbClr val="FFF7DF"/>
          </a:solidFill>
          <a:ln w="12700">
            <a:solidFill>
              <a:srgbClr val="E9B308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36608" y="1783080"/>
            <a:ext cx="822960" cy="822960"/>
          </a:xfrm>
          <a:prstGeom prst="ellipse">
            <a:avLst/>
          </a:prstGeom>
          <a:solidFill>
            <a:srgbClr val="B7860B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36608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57616" y="278892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57616" y="3035808"/>
            <a:ext cx="2980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HP[s] = ζ(s,F) − ζ(s,L+1)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57616" y="393192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7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57616" y="4178808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3,  k = 3…7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57616" y="461772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3⁻³+4⁻³+5⁻³+6⁻³+7⁻³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357616" y="544068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0.06820712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· POWERS 1 →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midpoint formulas, and their values over k = 3…7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7620">
            <a:solidFill>
              <a:srgbClr val="D5EA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418320" y="15087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F6FEFF"/>
          </a:solidFill>
          <a:ln w="7620">
            <a:solidFill>
              <a:srgbClr val="D5E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93392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99339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X·[M²+μ₂]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18320" y="19933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78024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7620">
            <a:solidFill>
              <a:srgbClr val="D5EA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7802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47802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X·M·[M²+3μ₂]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18320" y="247802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F6FEFF"/>
          </a:solidFill>
          <a:ln w="7620">
            <a:solidFill>
              <a:srgbClr val="D5EA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6265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962656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X·[M⁴+6M²μ₂+μ₄]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418320" y="296265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4,659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447288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7620">
            <a:solidFill>
              <a:srgbClr val="D5EA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47288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447288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X·M·[M⁴+10M²μ₂+5μ₄]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418320" y="344728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28,975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F6FEFF"/>
          </a:solidFill>
          <a:ln w="7620">
            <a:solidFill>
              <a:srgbClr val="D5EA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319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393192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X·[M⁶+15M⁴μ₂+15M²μ₄+μ₆]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418320" y="393192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184,755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416552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7620">
            <a:solidFill>
              <a:srgbClr val="D5EA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416552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D⁷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441655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X·M·[M⁶+21M⁴μ₂+35M²μ₄+7μ₆]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418320" y="441655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1,200,175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901184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F6FEFF"/>
          </a:solidFill>
          <a:ln w="7620">
            <a:solidFill>
              <a:srgbClr val="D5EA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90118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54480" y="490118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X·[M⁸+28M⁶μ₂+70M⁴μ₄+28M²μ₆+μ₈]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418320" y="490118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7,907,139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385816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7620">
            <a:solidFill>
              <a:srgbClr val="D5EA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8581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D⁹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554480" y="5385816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X·M·[M⁸+36M⁶μ₂+126M⁴μ₄+84M²μ₆+9μ₈]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418320" y="538581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52,666,255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870448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F6FEFF"/>
          </a:solidFill>
          <a:ln w="7620">
            <a:solidFill>
              <a:srgbClr val="D5EA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870448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D¹⁰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54480" y="5870448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X·[M¹⁰+45M⁸μ₂+210M⁶μ₄+210M⁴μ₆+45M²μ₈+μ₁₀]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418320" y="587044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353,814,675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Pascal's row d at even positions; the series terminates — exact integers at every power.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· POWERS 1 →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geometric closed form, evaluated for s = 1…10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72E3A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813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GP[s] = aˢ(rˢⁿ−1)⁄(rˢ−1)      </a:t>
            </a:r>
            <a:pPr algn="ctr" indent="0" marL="0">
              <a:buNone/>
            </a:pPr>
            <a:r>
              <a:rPr lang="en-US" sz="1700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worked with  a=1, r=2, n=5   →   1 + 2ˢ + 4ˢ + 8ˢ + 16ˢ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4924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2606040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2606040"/>
            <a:ext cx="5349240" cy="585216"/>
          </a:xfrm>
          <a:prstGeom prst="roundRect">
            <a:avLst>
              <a:gd name="adj" fmla="val 7813"/>
            </a:avLst>
          </a:prstGeom>
          <a:solidFill>
            <a:srgbClr val="F6FE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06040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2606040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19272"/>
            <a:ext cx="534924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19272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3319272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4,681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3319272"/>
            <a:ext cx="5349240" cy="585216"/>
          </a:xfrm>
          <a:prstGeom prst="roundRect">
            <a:avLst>
              <a:gd name="adj" fmla="val 7813"/>
            </a:avLst>
          </a:prstGeom>
          <a:solidFill>
            <a:srgbClr val="F6FE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319272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52360" y="3319272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69,905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032504"/>
            <a:ext cx="534924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32504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28800" y="4032504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1,082,401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4032504"/>
            <a:ext cx="5349240" cy="585216"/>
          </a:xfrm>
          <a:prstGeom prst="roundRect">
            <a:avLst>
              <a:gd name="adj" fmla="val 7813"/>
            </a:avLst>
          </a:prstGeom>
          <a:solidFill>
            <a:srgbClr val="F6FE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032504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4032504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17,043,521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534924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45736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828800" y="4745736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270,549,121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72200" y="4745736"/>
            <a:ext cx="5349240" cy="585216"/>
          </a:xfrm>
          <a:prstGeom prst="roundRect">
            <a:avLst>
              <a:gd name="adj" fmla="val 7813"/>
            </a:avLst>
          </a:prstGeom>
          <a:solidFill>
            <a:srgbClr val="F6FE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745736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52360" y="4745736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4,311,810,305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458968"/>
            <a:ext cx="534924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458968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828800" y="5458968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68,853,957,121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172200" y="5458968"/>
            <a:ext cx="5349240" cy="585216"/>
          </a:xfrm>
          <a:prstGeom prst="roundRect">
            <a:avLst>
              <a:gd name="adj" fmla="val 7813"/>
            </a:avLst>
          </a:prstGeom>
          <a:solidFill>
            <a:srgbClr val="F6FE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5458968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10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52360" y="5458968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1,100,586,419,201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s enters only through rˢ; the sum stays an exact finite geometric series at every power — the simplest of the three to close.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· POWERS 1 →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polygamma form, and its values over k = 3…7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072E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HP[s] = </a:t>
            </a:r>
            <a:pPr algn="ctr" indent="0" marL="0">
              <a:buNone/>
            </a:pPr>
            <a:r>
              <a:rPr lang="en-US" sz="16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(−1)ˢ⁄(s−1)! · [ ψ⁽ˢ⁻¹⁾(F) − ψ⁽ˢ⁻¹⁾(L+1) ]</a:t>
            </a:r>
            <a:pPr algn="ctr" indent="0" marL="0">
              <a:buNone/>
            </a:pPr>
            <a:r>
              <a:rPr lang="en-US" sz="1600" dirty="0">
                <a:solidFill>
                  <a:srgbClr val="BFE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( s = 1 : ψ(L+1) − ψ(F) 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50592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s=1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ψ(L+1) − ψ(F)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5059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1.09285714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450592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450592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s=2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245059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[ψ⁽¹⁾]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92640" y="245059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0.26179705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00400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s=3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20040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½ [ψ⁽²⁾]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69080" y="3200400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0.06820712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200400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200400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s=4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320040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+ 1⁄6 [ψ⁽³⁾]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92640" y="3200400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0.01904003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50208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50208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s=5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95020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− 1⁄24 [ψ⁽⁴⁾]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069080" y="3950208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0.00559989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3950208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50208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s=6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395020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+ 1⁄120 [ψ⁽⁵⁾]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92640" y="3950208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0.00170982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700016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700016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s=7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470001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− 1⁄720 [ψ⁽⁶⁾]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069080" y="4700016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0.00053587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72200" y="4700016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700016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s=8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86600" y="470001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+ 1⁄5040 [ψ⁽⁷⁾]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692640" y="4700016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0.00017100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5449824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449824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s=9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63040" y="544982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− 1⁄40320 [ψ⁽⁸⁾]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069080" y="5449824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0.00005526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172200" y="5449824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8890">
            <a:solidFill>
              <a:srgbClr val="D5EA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5449824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s=10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86600" y="544982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+ 1⁄362880 [ψ⁽⁹⁾]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692640" y="5449824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0.00001801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power collapses to a finite algebraic form — but each is an exact special-function value, matched to 40+ digits.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SCALE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 cost, at any size or power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0B3B49"/>
          </a:solidFill>
          <a:ln w="15875">
            <a:solidFill>
              <a:srgbClr val="E9B308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evaluation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handful of operations, independent of the number of terms or the power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0B3B49"/>
          </a:solidFill>
          <a:ln w="15875">
            <a:solidFill>
              <a:srgbClr val="22B8CF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9659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10³⁰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34340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terms, no cost growth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310128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≈ 32 trillion years; the formula answers in under a millisecond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0B3B49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9659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04672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digits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3310128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integer totals past 25 digits (D³⁰); HP ~10⁻¹⁵ with six correction blocks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10927080" cy="1600200"/>
          </a:xfrm>
          <a:prstGeom prst="roundRect">
            <a:avLst>
              <a:gd name="adj" fmla="val 5714"/>
            </a:avLst>
          </a:prstGeom>
          <a:solidFill>
            <a:srgbClr val="0B3B49"/>
          </a:solidFill>
          <a:ln w="12700">
            <a:solidFill>
              <a:srgbClr val="1C5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451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family lands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→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integers, unbounded size.   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→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one geometric step.   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E9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→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via ζ/ψ, or asymptotic to machine precision in constant time.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size grows ~4 digits per added lattice dimension — past standard floating point beyond ~5 dimensions, where exact arithmetic is the point.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run — zero failures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0B3B49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97,200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tests (prior work)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(F,L) with F ≤ L ≤ 80 across powers D¹…D³⁰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0B3B49"/>
          </a:solidFill>
          <a:ln w="15875">
            <a:solidFill>
              <a:srgbClr val="22B8CF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9659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36,600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4340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 tests (this work)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310128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(F,L) with F ≤ L ≤ 60 across powers s = 1…20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0B3B49"/>
          </a:solidFill>
          <a:ln w="15875">
            <a:solidFill>
              <a:srgbClr val="E9B308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9659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04672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failures, combined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3310128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form vs direct summation — exact in every single case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0927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9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133,800+ exhaustive cases across both families, 0 failures.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Half-integer midpoints (even X) and an independent polygamma cross-check included; at 80-digit arithmetic the worst discrepancy is 10⁻⁵⁴ — pure evaluation noise, not a formula error.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Exactness is claimed only for the closed forms; the midpoint and Euler–Maclaurin expansions are reported as accuracy, never as “zero error.”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Promising directions — grounded, not grandiose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CFBFD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92808"/>
            <a:ext cx="685800" cy="68580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928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85623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 families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series, arbitrary common-difference progressions, and mixed powers under the same midpoint engine.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CFB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892808"/>
            <a:ext cx="685800" cy="68580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8928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185623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Auto-generated library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46520" y="25603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Bernoulli recurrence emits the μ-blocks to any depth on demand — no hand tuning, no ceiling.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858768"/>
            <a:ext cx="685800" cy="685800"/>
          </a:xfrm>
          <a:prstGeom prst="ellipse">
            <a:avLst/>
          </a:prstGeom>
          <a:solidFill>
            <a:srgbClr val="22B8CF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3858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82219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acceleration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the asymptotic HP tails with resummation to push accuracy further at small denominators.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CFBFD"/>
          </a:solidFill>
          <a:ln w="12700">
            <a:solidFill>
              <a:srgbClr val="B786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858768"/>
            <a:ext cx="685800" cy="685800"/>
          </a:xfrm>
          <a:prstGeom prst="ellipse">
            <a:avLst/>
          </a:prstGeom>
          <a:solidFill>
            <a:srgbClr val="B7860B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28232" y="3858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382219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Lattice-scale computing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46520" y="45262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constant-time exact-aggregation layer for cosmological grids, octree debris indexing, and error-correcting code sizing.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is a single, verified, constant-time primitive for counting over structured sequences — useful exactly where a lattice must be aggregated, and honest about where arithmetic stops.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OMNI SERIES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midpoint engine. Three progressions. Zero failures.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pPr algn="ctr" indent="0" marL="0">
              <a:buNone/>
            </a:pPr>
            <a:r>
              <a:rPr lang="en-US" sz="1600" dirty="0">
                <a:solidFill>
                  <a:srgbClr val="9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 · </a:t>
            </a:r>
            <a:pPr algn="ctr" indent="0" marL="0">
              <a:buNone/>
            </a:pPr>
            <a:r>
              <a:rPr lang="en-US" sz="1600" b="1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</a:t>
            </a:r>
            <a:pPr algn="ctr" indent="0" marL="0">
              <a:buNone/>
            </a:pPr>
            <a:r>
              <a:rPr lang="en-US" sz="1600" dirty="0">
                <a:solidFill>
                  <a:srgbClr val="9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 · </a:t>
            </a:r>
            <a:pPr algn="ctr" indent="0" marL="0">
              <a:buNone/>
            </a:pPr>
            <a:r>
              <a:rPr lang="en-US" sz="1600" b="1" dirty="0">
                <a:solidFill>
                  <a:srgbClr val="E9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pPr algn="ctr" indent="0" marL="0">
              <a:buNone/>
            </a:pPr>
            <a:r>
              <a:rPr lang="en-US" sz="1600" dirty="0">
                <a:solidFill>
                  <a:srgbClr val="9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 where exact, constant-time where not.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with Space Exploration · Data Storytelling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2026-07-16T11:19:29Z</dcterms:created>
  <dcterms:modified xsi:type="dcterms:W3CDTF">2026-07-16T11:19:29Z</dcterms:modified>
</cp:coreProperties>
</file>