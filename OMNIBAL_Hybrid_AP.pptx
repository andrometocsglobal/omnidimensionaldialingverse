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" y="6492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22576" y="12984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83864" y="19476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45152" y="25968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06440" y="32461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67728" y="389534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29016" y="4544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90304" y="51937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51592" y="58430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12880" y="64922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" y="3749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48256" y="102412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9544" y="16733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32120" y="29718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3621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54696" y="42702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91947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77272" y="55686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38560" y="62179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" y="1005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3936" y="7498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35224" y="13990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96512" y="204825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26974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19088" y="33467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80376" y="39959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741664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902952" y="52943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64240" y="594360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" y="65928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99616" y="4754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60904" y="112471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22192" y="177393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242316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30723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06056" y="37216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67344" y="43708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628632" y="502005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789920" y="56692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" y="63185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225296" y="20116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386584" y="850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547872" y="14996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21488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70448" y="27980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031736" y="34472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93024" y="409651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54312" y="4745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515600" y="539496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676888" y="60441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50976" y="66934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112264" y="5760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273552" y="122529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434840" y="18745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596128" y="25237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57416" y="31729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918704" y="38221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79992" y="44714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241280" y="512064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402568" y="57698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76656" y="64190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837944" y="3017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999232" y="9509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160520" y="16002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5321808" y="224942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483096" y="28986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644384" y="35478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805672" y="41970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HYBRID AP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640080" y="18745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ladder of differences</a:t>
            </a:r>
            <a:endParaRPr lang="en-US" sz="4800" dirty="0"/>
          </a:p>
        </p:txBody>
      </p:sp>
      <p:sp>
        <p:nvSpPr>
          <p:cNvPr id="74" name="Text 72"/>
          <p:cNvSpPr/>
          <p:nvPr/>
        </p:nvSpPr>
        <p:spPr>
          <a:xfrm>
            <a:off x="640080" y="32004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any sequence. Subtract neighbours to get level 2, again for level 3, and so on. Sooner or later a level turns into a plain arithmetic run (an AP) — or a constant. Read the left edge of the ladder and one formula rebuilds the whole sequence, predicts the next terms, and sums it in closed form.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640080" y="50292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CF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Newton's forward-difference method — your “hybrid AP.”  Every value machine-verified.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Kumaran Kanniappan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" y="6492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22576" y="12984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83864" y="19476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45152" y="25968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06440" y="32461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67728" y="389534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29016" y="4544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90304" y="51937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51592" y="58430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12880" y="64922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" y="3749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48256" y="102412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9544" y="16733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32120" y="29718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3621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54696" y="42702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91947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77272" y="55686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38560" y="62179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" y="1005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3936" y="7498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35224" y="13990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96512" y="204825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26974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19088" y="33467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80376" y="39959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741664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902952" y="52943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64240" y="594360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" y="65928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99616" y="4754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60904" y="112471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22192" y="177393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242316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30723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06056" y="37216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67344" y="43708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628632" y="502005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789920" y="56692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" y="63185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225296" y="20116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386584" y="850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547872" y="14996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21488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70448" y="27980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031736" y="34472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93024" y="409651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54312" y="4745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515600" y="539496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676888" y="60441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50976" y="66934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112264" y="5760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273552" y="122529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434840" y="18745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596128" y="25237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57416" y="31729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918704" y="38221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79992" y="44714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241280" y="512064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402568" y="57698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76656" y="64190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837944" y="3017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999232" y="9509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160520" y="16002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5321808" y="224942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483096" y="28986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644384" y="35478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805672" y="41970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IDEA, NAMED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Peel a sequence into difference levels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1828800" y="1874520"/>
            <a:ext cx="1307592" cy="713232"/>
          </a:xfrm>
          <a:prstGeom prst="roundRect">
            <a:avLst>
              <a:gd name="adj" fmla="val 7692"/>
            </a:avLst>
          </a:prstGeom>
          <a:solidFill>
            <a:srgbClr val="2A3475"/>
          </a:solidFill>
          <a:ln w="20320">
            <a:solidFill>
              <a:srgbClr val="FFC8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828800" y="187452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00" dirty="0"/>
          </a:p>
        </p:txBody>
      </p:sp>
      <p:sp>
        <p:nvSpPr>
          <p:cNvPr id="76" name="Shape 74"/>
          <p:cNvSpPr/>
          <p:nvPr/>
        </p:nvSpPr>
        <p:spPr>
          <a:xfrm>
            <a:off x="3246120" y="1874520"/>
            <a:ext cx="1307592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46120" y="187452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78" name="Shape 76"/>
          <p:cNvSpPr/>
          <p:nvPr/>
        </p:nvSpPr>
        <p:spPr>
          <a:xfrm>
            <a:off x="4663440" y="1874520"/>
            <a:ext cx="1307592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663440" y="187452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700" dirty="0"/>
          </a:p>
        </p:txBody>
      </p:sp>
      <p:sp>
        <p:nvSpPr>
          <p:cNvPr id="80" name="Shape 78"/>
          <p:cNvSpPr/>
          <p:nvPr/>
        </p:nvSpPr>
        <p:spPr>
          <a:xfrm>
            <a:off x="6080760" y="1874520"/>
            <a:ext cx="1307592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080760" y="187452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700" dirty="0"/>
          </a:p>
        </p:txBody>
      </p:sp>
      <p:sp>
        <p:nvSpPr>
          <p:cNvPr id="82" name="Shape 80"/>
          <p:cNvSpPr/>
          <p:nvPr/>
        </p:nvSpPr>
        <p:spPr>
          <a:xfrm>
            <a:off x="7498080" y="1874520"/>
            <a:ext cx="1307592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98080" y="187452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700" dirty="0"/>
          </a:p>
        </p:txBody>
      </p:sp>
      <p:sp>
        <p:nvSpPr>
          <p:cNvPr id="84" name="Text 82"/>
          <p:cNvSpPr/>
          <p:nvPr/>
        </p:nvSpPr>
        <p:spPr>
          <a:xfrm>
            <a:off x="1170432" y="187452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2537460" y="2788920"/>
            <a:ext cx="1307592" cy="713232"/>
          </a:xfrm>
          <a:prstGeom prst="roundRect">
            <a:avLst>
              <a:gd name="adj" fmla="val 7692"/>
            </a:avLst>
          </a:prstGeom>
          <a:solidFill>
            <a:srgbClr val="2A3475"/>
          </a:solidFill>
          <a:ln w="20320">
            <a:solidFill>
              <a:srgbClr val="FFC857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537460" y="278892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00" dirty="0"/>
          </a:p>
        </p:txBody>
      </p:sp>
      <p:sp>
        <p:nvSpPr>
          <p:cNvPr id="87" name="Shape 85"/>
          <p:cNvSpPr/>
          <p:nvPr/>
        </p:nvSpPr>
        <p:spPr>
          <a:xfrm>
            <a:off x="3954780" y="2788920"/>
            <a:ext cx="1307592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954780" y="278892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700" dirty="0"/>
          </a:p>
        </p:txBody>
      </p:sp>
      <p:sp>
        <p:nvSpPr>
          <p:cNvPr id="89" name="Shape 87"/>
          <p:cNvSpPr/>
          <p:nvPr/>
        </p:nvSpPr>
        <p:spPr>
          <a:xfrm>
            <a:off x="5372100" y="2788920"/>
            <a:ext cx="1307592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372100" y="278892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700" dirty="0"/>
          </a:p>
        </p:txBody>
      </p:sp>
      <p:sp>
        <p:nvSpPr>
          <p:cNvPr id="91" name="Shape 89"/>
          <p:cNvSpPr/>
          <p:nvPr/>
        </p:nvSpPr>
        <p:spPr>
          <a:xfrm>
            <a:off x="6789420" y="2788920"/>
            <a:ext cx="1307592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789420" y="278892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700" dirty="0"/>
          </a:p>
        </p:txBody>
      </p:sp>
      <p:sp>
        <p:nvSpPr>
          <p:cNvPr id="93" name="Text 91"/>
          <p:cNvSpPr/>
          <p:nvPr/>
        </p:nvSpPr>
        <p:spPr>
          <a:xfrm>
            <a:off x="1170432" y="278892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3246120" y="3703320"/>
            <a:ext cx="1307592" cy="713232"/>
          </a:xfrm>
          <a:prstGeom prst="roundRect">
            <a:avLst>
              <a:gd name="adj" fmla="val 7692"/>
            </a:avLst>
          </a:prstGeom>
          <a:solidFill>
            <a:srgbClr val="2A3475"/>
          </a:solidFill>
          <a:ln w="20320">
            <a:solidFill>
              <a:srgbClr val="FFC857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246120" y="370332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00" dirty="0"/>
          </a:p>
        </p:txBody>
      </p:sp>
      <p:sp>
        <p:nvSpPr>
          <p:cNvPr id="96" name="Shape 94"/>
          <p:cNvSpPr/>
          <p:nvPr/>
        </p:nvSpPr>
        <p:spPr>
          <a:xfrm>
            <a:off x="4663440" y="3703320"/>
            <a:ext cx="1307592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663440" y="370332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98" name="Shape 96"/>
          <p:cNvSpPr/>
          <p:nvPr/>
        </p:nvSpPr>
        <p:spPr>
          <a:xfrm>
            <a:off x="6080760" y="3703320"/>
            <a:ext cx="1307592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080760" y="370332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700" dirty="0"/>
          </a:p>
        </p:txBody>
      </p:sp>
      <p:sp>
        <p:nvSpPr>
          <p:cNvPr id="100" name="Text 98"/>
          <p:cNvSpPr/>
          <p:nvPr/>
        </p:nvSpPr>
        <p:spPr>
          <a:xfrm>
            <a:off x="1170432" y="370332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3954780" y="4617720"/>
            <a:ext cx="1307592" cy="713232"/>
          </a:xfrm>
          <a:prstGeom prst="roundRect">
            <a:avLst>
              <a:gd name="adj" fmla="val 7692"/>
            </a:avLst>
          </a:prstGeom>
          <a:solidFill>
            <a:srgbClr val="2A3475"/>
          </a:solidFill>
          <a:ln w="20320">
            <a:solidFill>
              <a:srgbClr val="FFC857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954780" y="461772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00" dirty="0"/>
          </a:p>
        </p:txBody>
      </p:sp>
      <p:sp>
        <p:nvSpPr>
          <p:cNvPr id="103" name="Shape 101"/>
          <p:cNvSpPr/>
          <p:nvPr/>
        </p:nvSpPr>
        <p:spPr>
          <a:xfrm>
            <a:off x="5372100" y="4617720"/>
            <a:ext cx="1307592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372100" y="461772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00" dirty="0"/>
          </a:p>
        </p:txBody>
      </p:sp>
      <p:sp>
        <p:nvSpPr>
          <p:cNvPr id="105" name="Text 103"/>
          <p:cNvSpPr/>
          <p:nvPr/>
        </p:nvSpPr>
        <p:spPr>
          <a:xfrm>
            <a:off x="1170432" y="461772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106" name="Text 104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= the gaps of the level above. Keep going until the gaps stop changing.</a:t>
            </a:r>
            <a:endParaRPr lang="en-US" sz="1600" dirty="0"/>
          </a:p>
        </p:txBody>
      </p:sp>
      <p:sp>
        <p:nvSpPr>
          <p:cNvPr id="107" name="Text 105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= the left edge (the leading number of each level). That edge is all we need.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" y="6492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22576" y="12984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83864" y="19476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45152" y="25968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06440" y="32461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67728" y="389534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29016" y="4544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90304" y="51937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51592" y="58430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12880" y="64922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" y="3749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48256" y="102412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9544" y="16733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32120" y="29718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3621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54696" y="42702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91947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77272" y="55686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38560" y="62179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" y="1005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3936" y="7498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35224" y="13990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96512" y="204825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26974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19088" y="33467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80376" y="39959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741664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902952" y="52943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64240" y="594360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" y="65928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99616" y="4754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60904" y="112471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22192" y="177393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242316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30723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06056" y="37216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67344" y="43708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628632" y="502005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789920" y="56692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" y="63185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225296" y="20116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386584" y="850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547872" y="14996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21488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70448" y="27980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031736" y="34472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93024" y="409651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54312" y="4745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515600" y="539496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676888" y="60441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50976" y="66934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112264" y="5760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273552" y="122529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434840" y="18745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596128" y="25237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57416" y="31729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918704" y="38221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79992" y="44714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241280" y="512064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402568" y="57698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76656" y="64190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837944" y="3017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999232" y="9509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160520" y="16002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5321808" y="224942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483096" y="28986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644384" y="35478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805672" y="41970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WHERE THE AP FITS · SIMPLE CASE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Triangular 1, 3, 6, 10, 15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2194560" y="1828800"/>
            <a:ext cx="1307592" cy="758952"/>
          </a:xfrm>
          <a:prstGeom prst="roundRect">
            <a:avLst>
              <a:gd name="adj" fmla="val 7229"/>
            </a:avLst>
          </a:prstGeom>
          <a:solidFill>
            <a:srgbClr val="2A3475"/>
          </a:solidFill>
          <a:ln w="20320">
            <a:solidFill>
              <a:srgbClr val="FFC8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194560" y="1828800"/>
            <a:ext cx="1307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00" dirty="0"/>
          </a:p>
        </p:txBody>
      </p:sp>
      <p:sp>
        <p:nvSpPr>
          <p:cNvPr id="76" name="Shape 74"/>
          <p:cNvSpPr/>
          <p:nvPr/>
        </p:nvSpPr>
        <p:spPr>
          <a:xfrm>
            <a:off x="3611880" y="1828800"/>
            <a:ext cx="1307592" cy="758952"/>
          </a:xfrm>
          <a:prstGeom prst="roundRect">
            <a:avLst>
              <a:gd name="adj" fmla="val 7229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11880" y="1828800"/>
            <a:ext cx="1307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78" name="Shape 76"/>
          <p:cNvSpPr/>
          <p:nvPr/>
        </p:nvSpPr>
        <p:spPr>
          <a:xfrm>
            <a:off x="5029200" y="1828800"/>
            <a:ext cx="1307592" cy="758952"/>
          </a:xfrm>
          <a:prstGeom prst="roundRect">
            <a:avLst>
              <a:gd name="adj" fmla="val 7229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29200" y="1828800"/>
            <a:ext cx="1307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700" dirty="0"/>
          </a:p>
        </p:txBody>
      </p:sp>
      <p:sp>
        <p:nvSpPr>
          <p:cNvPr id="80" name="Shape 78"/>
          <p:cNvSpPr/>
          <p:nvPr/>
        </p:nvSpPr>
        <p:spPr>
          <a:xfrm>
            <a:off x="6446520" y="1828800"/>
            <a:ext cx="1307592" cy="758952"/>
          </a:xfrm>
          <a:prstGeom prst="roundRect">
            <a:avLst>
              <a:gd name="adj" fmla="val 7229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46520" y="1828800"/>
            <a:ext cx="1307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700" dirty="0"/>
          </a:p>
        </p:txBody>
      </p:sp>
      <p:sp>
        <p:nvSpPr>
          <p:cNvPr id="82" name="Shape 80"/>
          <p:cNvSpPr/>
          <p:nvPr/>
        </p:nvSpPr>
        <p:spPr>
          <a:xfrm>
            <a:off x="7863840" y="1828800"/>
            <a:ext cx="1307592" cy="758952"/>
          </a:xfrm>
          <a:prstGeom prst="roundRect">
            <a:avLst>
              <a:gd name="adj" fmla="val 7229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863840" y="1828800"/>
            <a:ext cx="1307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700" dirty="0"/>
          </a:p>
        </p:txBody>
      </p:sp>
      <p:sp>
        <p:nvSpPr>
          <p:cNvPr id="84" name="Text 82"/>
          <p:cNvSpPr/>
          <p:nvPr/>
        </p:nvSpPr>
        <p:spPr>
          <a:xfrm>
            <a:off x="1536192" y="1828800"/>
            <a:ext cx="548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2903220" y="2788920"/>
            <a:ext cx="1307592" cy="758952"/>
          </a:xfrm>
          <a:prstGeom prst="roundRect">
            <a:avLst>
              <a:gd name="adj" fmla="val 7229"/>
            </a:avLst>
          </a:prstGeom>
          <a:solidFill>
            <a:srgbClr val="2A3475"/>
          </a:solidFill>
          <a:ln w="20320">
            <a:solidFill>
              <a:srgbClr val="FFC857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903220" y="2788920"/>
            <a:ext cx="1307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00" dirty="0"/>
          </a:p>
        </p:txBody>
      </p:sp>
      <p:sp>
        <p:nvSpPr>
          <p:cNvPr id="87" name="Shape 85"/>
          <p:cNvSpPr/>
          <p:nvPr/>
        </p:nvSpPr>
        <p:spPr>
          <a:xfrm>
            <a:off x="4320540" y="2788920"/>
            <a:ext cx="1307592" cy="758952"/>
          </a:xfrm>
          <a:prstGeom prst="roundRect">
            <a:avLst>
              <a:gd name="adj" fmla="val 7229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320540" y="2788920"/>
            <a:ext cx="1307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89" name="Shape 87"/>
          <p:cNvSpPr/>
          <p:nvPr/>
        </p:nvSpPr>
        <p:spPr>
          <a:xfrm>
            <a:off x="5737860" y="2788920"/>
            <a:ext cx="1307592" cy="758952"/>
          </a:xfrm>
          <a:prstGeom prst="roundRect">
            <a:avLst>
              <a:gd name="adj" fmla="val 7229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737860" y="2788920"/>
            <a:ext cx="1307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700" dirty="0"/>
          </a:p>
        </p:txBody>
      </p:sp>
      <p:sp>
        <p:nvSpPr>
          <p:cNvPr id="91" name="Shape 89"/>
          <p:cNvSpPr/>
          <p:nvPr/>
        </p:nvSpPr>
        <p:spPr>
          <a:xfrm>
            <a:off x="7155180" y="2788920"/>
            <a:ext cx="1307592" cy="758952"/>
          </a:xfrm>
          <a:prstGeom prst="roundRect">
            <a:avLst>
              <a:gd name="adj" fmla="val 7229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155180" y="2788920"/>
            <a:ext cx="1307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700" dirty="0"/>
          </a:p>
        </p:txBody>
      </p:sp>
      <p:sp>
        <p:nvSpPr>
          <p:cNvPr id="93" name="Text 91"/>
          <p:cNvSpPr/>
          <p:nvPr/>
        </p:nvSpPr>
        <p:spPr>
          <a:xfrm>
            <a:off x="1536192" y="2788920"/>
            <a:ext cx="548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3611880" y="3749040"/>
            <a:ext cx="1307592" cy="758952"/>
          </a:xfrm>
          <a:prstGeom prst="roundRect">
            <a:avLst>
              <a:gd name="adj" fmla="val 7229"/>
            </a:avLst>
          </a:prstGeom>
          <a:solidFill>
            <a:srgbClr val="2A3475"/>
          </a:solidFill>
          <a:ln w="20320">
            <a:solidFill>
              <a:srgbClr val="FFC857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611880" y="3749040"/>
            <a:ext cx="1307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00" dirty="0"/>
          </a:p>
        </p:txBody>
      </p:sp>
      <p:sp>
        <p:nvSpPr>
          <p:cNvPr id="96" name="Shape 94"/>
          <p:cNvSpPr/>
          <p:nvPr/>
        </p:nvSpPr>
        <p:spPr>
          <a:xfrm>
            <a:off x="5029200" y="3749040"/>
            <a:ext cx="1307592" cy="758952"/>
          </a:xfrm>
          <a:prstGeom prst="roundRect">
            <a:avLst>
              <a:gd name="adj" fmla="val 7229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029200" y="3749040"/>
            <a:ext cx="1307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00" dirty="0"/>
          </a:p>
        </p:txBody>
      </p:sp>
      <p:sp>
        <p:nvSpPr>
          <p:cNvPr id="98" name="Shape 96"/>
          <p:cNvSpPr/>
          <p:nvPr/>
        </p:nvSpPr>
        <p:spPr>
          <a:xfrm>
            <a:off x="6446520" y="3749040"/>
            <a:ext cx="1307592" cy="758952"/>
          </a:xfrm>
          <a:prstGeom prst="roundRect">
            <a:avLst>
              <a:gd name="adj" fmla="val 7229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446520" y="3749040"/>
            <a:ext cx="1307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00" dirty="0"/>
          </a:p>
        </p:txBody>
      </p:sp>
      <p:sp>
        <p:nvSpPr>
          <p:cNvPr id="100" name="Text 98"/>
          <p:cNvSpPr/>
          <p:nvPr/>
        </p:nvSpPr>
        <p:spPr>
          <a:xfrm>
            <a:off x="1536192" y="3749040"/>
            <a:ext cx="548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548640" y="498348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2A3475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22960" y="4983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= 2, 3, 4, 5  →  that IS an arithmetic progression (+1).  Level 3 is constant.</a:t>
            </a:r>
            <a:endParaRPr lang="en-US" sz="2000" dirty="0"/>
          </a:p>
        </p:txBody>
      </p:sp>
      <p:sp>
        <p:nvSpPr>
          <p:cNvPr id="103" name="Text 101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CF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AP lives at Level 2 here. One AP layer above a constant → the sequence is a degree-2 (square-law) pattern.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" y="6492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22576" y="12984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83864" y="19476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45152" y="25968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06440" y="32461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67728" y="389534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29016" y="4544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90304" y="51937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51592" y="58430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12880" y="64922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" y="3749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48256" y="102412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9544" y="16733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32120" y="29718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3621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54696" y="42702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91947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77272" y="55686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38560" y="62179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" y="1005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3936" y="7498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35224" y="13990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96512" y="204825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26974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19088" y="33467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80376" y="39959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741664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902952" y="52943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64240" y="594360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" y="65928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99616" y="4754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60904" y="112471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22192" y="177393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242316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30723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06056" y="37216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67344" y="43708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628632" y="502005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789920" y="56692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" y="63185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225296" y="20116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386584" y="850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547872" y="14996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21488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70448" y="27980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031736" y="34472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93024" y="409651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54312" y="4745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515600" y="539496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676888" y="60441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50976" y="66934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112264" y="5760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273552" y="122529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434840" y="18745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596128" y="25237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57416" y="31729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918704" y="38221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79992" y="44714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241280" y="512064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402568" y="57698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76656" y="64190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837944" y="3017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999232" y="9509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160520" y="16002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5321808" y="224942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483096" y="28986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644384" y="35478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805672" y="41970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EXAMPLE · WHERE DOES AP FIT?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1, 3, 7, 14, 25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1828800" y="1783080"/>
            <a:ext cx="1307592" cy="694944"/>
          </a:xfrm>
          <a:prstGeom prst="roundRect">
            <a:avLst>
              <a:gd name="adj" fmla="val 7895"/>
            </a:avLst>
          </a:prstGeom>
          <a:solidFill>
            <a:srgbClr val="2A3475"/>
          </a:solidFill>
          <a:ln w="20320">
            <a:solidFill>
              <a:srgbClr val="FFC8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828800" y="1783080"/>
            <a:ext cx="1307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00" dirty="0"/>
          </a:p>
        </p:txBody>
      </p:sp>
      <p:sp>
        <p:nvSpPr>
          <p:cNvPr id="76" name="Shape 74"/>
          <p:cNvSpPr/>
          <p:nvPr/>
        </p:nvSpPr>
        <p:spPr>
          <a:xfrm>
            <a:off x="3246120" y="1783080"/>
            <a:ext cx="1307592" cy="694944"/>
          </a:xfrm>
          <a:prstGeom prst="roundRect">
            <a:avLst>
              <a:gd name="adj" fmla="val 7895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46120" y="1783080"/>
            <a:ext cx="1307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78" name="Shape 76"/>
          <p:cNvSpPr/>
          <p:nvPr/>
        </p:nvSpPr>
        <p:spPr>
          <a:xfrm>
            <a:off x="4663440" y="1783080"/>
            <a:ext cx="1307592" cy="694944"/>
          </a:xfrm>
          <a:prstGeom prst="roundRect">
            <a:avLst>
              <a:gd name="adj" fmla="val 7895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663440" y="1783080"/>
            <a:ext cx="1307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700" dirty="0"/>
          </a:p>
        </p:txBody>
      </p:sp>
      <p:sp>
        <p:nvSpPr>
          <p:cNvPr id="80" name="Shape 78"/>
          <p:cNvSpPr/>
          <p:nvPr/>
        </p:nvSpPr>
        <p:spPr>
          <a:xfrm>
            <a:off x="6080760" y="1783080"/>
            <a:ext cx="1307592" cy="694944"/>
          </a:xfrm>
          <a:prstGeom prst="roundRect">
            <a:avLst>
              <a:gd name="adj" fmla="val 7895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080760" y="1783080"/>
            <a:ext cx="1307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700" dirty="0"/>
          </a:p>
        </p:txBody>
      </p:sp>
      <p:sp>
        <p:nvSpPr>
          <p:cNvPr id="82" name="Shape 80"/>
          <p:cNvSpPr/>
          <p:nvPr/>
        </p:nvSpPr>
        <p:spPr>
          <a:xfrm>
            <a:off x="7498080" y="1783080"/>
            <a:ext cx="1307592" cy="694944"/>
          </a:xfrm>
          <a:prstGeom prst="roundRect">
            <a:avLst>
              <a:gd name="adj" fmla="val 7895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98080" y="1783080"/>
            <a:ext cx="1307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700" dirty="0"/>
          </a:p>
        </p:txBody>
      </p:sp>
      <p:sp>
        <p:nvSpPr>
          <p:cNvPr id="84" name="Text 82"/>
          <p:cNvSpPr/>
          <p:nvPr/>
        </p:nvSpPr>
        <p:spPr>
          <a:xfrm>
            <a:off x="1170432" y="1783080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2537460" y="2679192"/>
            <a:ext cx="1307592" cy="694944"/>
          </a:xfrm>
          <a:prstGeom prst="roundRect">
            <a:avLst>
              <a:gd name="adj" fmla="val 7895"/>
            </a:avLst>
          </a:prstGeom>
          <a:solidFill>
            <a:srgbClr val="2A3475"/>
          </a:solidFill>
          <a:ln w="20320">
            <a:solidFill>
              <a:srgbClr val="FFC857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537460" y="2679192"/>
            <a:ext cx="1307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00" dirty="0"/>
          </a:p>
        </p:txBody>
      </p:sp>
      <p:sp>
        <p:nvSpPr>
          <p:cNvPr id="87" name="Shape 85"/>
          <p:cNvSpPr/>
          <p:nvPr/>
        </p:nvSpPr>
        <p:spPr>
          <a:xfrm>
            <a:off x="3954780" y="2679192"/>
            <a:ext cx="1307592" cy="694944"/>
          </a:xfrm>
          <a:prstGeom prst="roundRect">
            <a:avLst>
              <a:gd name="adj" fmla="val 7895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954780" y="2679192"/>
            <a:ext cx="1307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700" dirty="0"/>
          </a:p>
        </p:txBody>
      </p:sp>
      <p:sp>
        <p:nvSpPr>
          <p:cNvPr id="89" name="Shape 87"/>
          <p:cNvSpPr/>
          <p:nvPr/>
        </p:nvSpPr>
        <p:spPr>
          <a:xfrm>
            <a:off x="5372100" y="2679192"/>
            <a:ext cx="1307592" cy="694944"/>
          </a:xfrm>
          <a:prstGeom prst="roundRect">
            <a:avLst>
              <a:gd name="adj" fmla="val 7895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372100" y="2679192"/>
            <a:ext cx="1307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700" dirty="0"/>
          </a:p>
        </p:txBody>
      </p:sp>
      <p:sp>
        <p:nvSpPr>
          <p:cNvPr id="91" name="Shape 89"/>
          <p:cNvSpPr/>
          <p:nvPr/>
        </p:nvSpPr>
        <p:spPr>
          <a:xfrm>
            <a:off x="6789420" y="2679192"/>
            <a:ext cx="1307592" cy="694944"/>
          </a:xfrm>
          <a:prstGeom prst="roundRect">
            <a:avLst>
              <a:gd name="adj" fmla="val 7895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789420" y="2679192"/>
            <a:ext cx="1307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700" dirty="0"/>
          </a:p>
        </p:txBody>
      </p:sp>
      <p:sp>
        <p:nvSpPr>
          <p:cNvPr id="93" name="Text 91"/>
          <p:cNvSpPr/>
          <p:nvPr/>
        </p:nvSpPr>
        <p:spPr>
          <a:xfrm>
            <a:off x="1170432" y="2679192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3246120" y="3575304"/>
            <a:ext cx="1307592" cy="694944"/>
          </a:xfrm>
          <a:prstGeom prst="roundRect">
            <a:avLst>
              <a:gd name="adj" fmla="val 7895"/>
            </a:avLst>
          </a:prstGeom>
          <a:solidFill>
            <a:srgbClr val="2A3475"/>
          </a:solidFill>
          <a:ln w="20320">
            <a:solidFill>
              <a:srgbClr val="FFC857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246120" y="3575304"/>
            <a:ext cx="1307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00" dirty="0"/>
          </a:p>
        </p:txBody>
      </p:sp>
      <p:sp>
        <p:nvSpPr>
          <p:cNvPr id="96" name="Shape 94"/>
          <p:cNvSpPr/>
          <p:nvPr/>
        </p:nvSpPr>
        <p:spPr>
          <a:xfrm>
            <a:off x="4663440" y="3575304"/>
            <a:ext cx="1307592" cy="694944"/>
          </a:xfrm>
          <a:prstGeom prst="roundRect">
            <a:avLst>
              <a:gd name="adj" fmla="val 7895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663440" y="3575304"/>
            <a:ext cx="1307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98" name="Shape 96"/>
          <p:cNvSpPr/>
          <p:nvPr/>
        </p:nvSpPr>
        <p:spPr>
          <a:xfrm>
            <a:off x="6080760" y="3575304"/>
            <a:ext cx="1307592" cy="694944"/>
          </a:xfrm>
          <a:prstGeom prst="roundRect">
            <a:avLst>
              <a:gd name="adj" fmla="val 7895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080760" y="3575304"/>
            <a:ext cx="1307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700" dirty="0"/>
          </a:p>
        </p:txBody>
      </p:sp>
      <p:sp>
        <p:nvSpPr>
          <p:cNvPr id="100" name="Text 98"/>
          <p:cNvSpPr/>
          <p:nvPr/>
        </p:nvSpPr>
        <p:spPr>
          <a:xfrm>
            <a:off x="1170432" y="3575304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3954780" y="4471416"/>
            <a:ext cx="1307592" cy="694944"/>
          </a:xfrm>
          <a:prstGeom prst="roundRect">
            <a:avLst>
              <a:gd name="adj" fmla="val 7895"/>
            </a:avLst>
          </a:prstGeom>
          <a:solidFill>
            <a:srgbClr val="2A3475"/>
          </a:solidFill>
          <a:ln w="20320">
            <a:solidFill>
              <a:srgbClr val="FFC857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954780" y="4471416"/>
            <a:ext cx="1307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00" dirty="0"/>
          </a:p>
        </p:txBody>
      </p:sp>
      <p:sp>
        <p:nvSpPr>
          <p:cNvPr id="103" name="Shape 101"/>
          <p:cNvSpPr/>
          <p:nvPr/>
        </p:nvSpPr>
        <p:spPr>
          <a:xfrm>
            <a:off x="5372100" y="4471416"/>
            <a:ext cx="1307592" cy="694944"/>
          </a:xfrm>
          <a:prstGeom prst="roundRect">
            <a:avLst>
              <a:gd name="adj" fmla="val 7895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372100" y="4471416"/>
            <a:ext cx="1307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00" dirty="0"/>
          </a:p>
        </p:txBody>
      </p:sp>
      <p:sp>
        <p:nvSpPr>
          <p:cNvPr id="105" name="Text 103"/>
          <p:cNvSpPr/>
          <p:nvPr/>
        </p:nvSpPr>
        <p:spPr>
          <a:xfrm>
            <a:off x="1170432" y="4471416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548640" y="539496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 w="17780">
            <a:solidFill>
              <a:srgbClr val="FFC857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22960" y="53949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= 2, 4, 7, 11  (not an AP)   →   </a:t>
            </a:r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= 2, 3, 4  is the AP (+1)</a:t>
            </a:r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L4 = 1, 1 constant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" y="6492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22576" y="12984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83864" y="19476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45152" y="25968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06440" y="32461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67728" y="389534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29016" y="4544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90304" y="51937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51592" y="58430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12880" y="64922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" y="3749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48256" y="102412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9544" y="16733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32120" y="29718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3621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54696" y="42702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91947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77272" y="55686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38560" y="62179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" y="1005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3936" y="7498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35224" y="13990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96512" y="204825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26974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19088" y="33467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80376" y="39959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741664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902952" y="52943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64240" y="594360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" y="65928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99616" y="4754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60904" y="112471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22192" y="177393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242316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30723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06056" y="37216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67344" y="43708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628632" y="502005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789920" y="56692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" y="63185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225296" y="20116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386584" y="850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547872" y="14996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21488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70448" y="27980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031736" y="34472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93024" y="409651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54312" y="4745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515600" y="539496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676888" y="60441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50976" y="66934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112264" y="5760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273552" y="122529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434840" y="18745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596128" y="25237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57416" y="31729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918704" y="38221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79992" y="44714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241280" y="512064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402568" y="57698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76656" y="64190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837944" y="3017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999232" y="9509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160520" y="16002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5321808" y="224942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483096" y="28986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644384" y="35478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805672" y="41970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LEFT EDGE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numbers run the whole show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1737360" y="201168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2A3475"/>
          </a:solidFill>
          <a:ln w="20320">
            <a:solidFill>
              <a:srgbClr val="FFC8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737360" y="2148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76" name="Text 74"/>
          <p:cNvSpPr/>
          <p:nvPr/>
        </p:nvSpPr>
        <p:spPr>
          <a:xfrm>
            <a:off x="173736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head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3474720" y="2377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8892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</a:t>
            </a:r>
            <a:endParaRPr lang="en-US" sz="3000" dirty="0"/>
          </a:p>
        </p:txBody>
      </p:sp>
      <p:sp>
        <p:nvSpPr>
          <p:cNvPr id="78" name="Shape 76"/>
          <p:cNvSpPr/>
          <p:nvPr/>
        </p:nvSpPr>
        <p:spPr>
          <a:xfrm>
            <a:off x="3931920" y="201168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2A3475"/>
          </a:solidFill>
          <a:ln w="20320">
            <a:solidFill>
              <a:srgbClr val="FFC85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31920" y="2148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80" name="Text 78"/>
          <p:cNvSpPr/>
          <p:nvPr/>
        </p:nvSpPr>
        <p:spPr>
          <a:xfrm>
            <a:off x="393192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head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5669280" y="2377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8892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</a:t>
            </a:r>
            <a:endParaRPr lang="en-US" sz="3000" dirty="0"/>
          </a:p>
        </p:txBody>
      </p:sp>
      <p:sp>
        <p:nvSpPr>
          <p:cNvPr id="82" name="Shape 80"/>
          <p:cNvSpPr/>
          <p:nvPr/>
        </p:nvSpPr>
        <p:spPr>
          <a:xfrm>
            <a:off x="6126480" y="201168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2A3475"/>
          </a:solidFill>
          <a:ln w="20320">
            <a:solidFill>
              <a:srgbClr val="FFC85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26480" y="2148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84" name="Text 82"/>
          <p:cNvSpPr/>
          <p:nvPr/>
        </p:nvSpPr>
        <p:spPr>
          <a:xfrm>
            <a:off x="612648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head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7863840" y="2377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8892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</a:t>
            </a:r>
            <a:endParaRPr lang="en-US" sz="3000" dirty="0"/>
          </a:p>
        </p:txBody>
      </p:sp>
      <p:sp>
        <p:nvSpPr>
          <p:cNvPr id="86" name="Shape 84"/>
          <p:cNvSpPr/>
          <p:nvPr/>
        </p:nvSpPr>
        <p:spPr>
          <a:xfrm>
            <a:off x="8321040" y="201168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2A3475"/>
          </a:solidFill>
          <a:ln w="20320">
            <a:solidFill>
              <a:srgbClr val="FFC85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321040" y="2148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88" name="Text 86"/>
          <p:cNvSpPr/>
          <p:nvPr/>
        </p:nvSpPr>
        <p:spPr>
          <a:xfrm>
            <a:off x="832104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head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548640" y="379476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2A3475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 edge   d = ( 1, 2, 2, 1 )</a:t>
            </a:r>
            <a:endParaRPr lang="en-US" sz="2000" dirty="0"/>
          </a:p>
        </p:txBody>
      </p:sp>
      <p:sp>
        <p:nvSpPr>
          <p:cNvPr id="91" name="Text 89"/>
          <p:cNvSpPr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heads of each level. Pair each with a Pascal / binomial weight C(n, k) and the sequence is fully rebuilt —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" y="6492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22576" y="12984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83864" y="19476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45152" y="25968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06440" y="32461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67728" y="389534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29016" y="4544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90304" y="51937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51592" y="58430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12880" y="64922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" y="3749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48256" y="102412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9544" y="16733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32120" y="29718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3621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54696" y="42702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91947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77272" y="55686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38560" y="62179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" y="1005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3936" y="7498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35224" y="13990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96512" y="204825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26974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19088" y="33467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80376" y="39959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741664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902952" y="52943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64240" y="594360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" y="65928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99616" y="4754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60904" y="112471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22192" y="177393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242316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30723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06056" y="37216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67344" y="43708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628632" y="502005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789920" y="56692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" y="63185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225296" y="20116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386584" y="850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547872" y="14996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21488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70448" y="27980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031736" y="34472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93024" y="409651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54312" y="4745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515600" y="539496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676888" y="60441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50976" y="66934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112264" y="5760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273552" y="122529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434840" y="18745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596128" y="25237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57416" y="31729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918704" y="38221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79992" y="44714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241280" y="512064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402568" y="57698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76656" y="64190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837944" y="3017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999232" y="9509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160520" y="16002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5321808" y="224942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483096" y="28986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644384" y="35478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805672" y="41970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AP · OMNIDIMENSIONAL FORMULA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formula rebuilds any ladder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548640" y="178308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2A3475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a(n)  =  Σ  dₖ · C(n, k)      k = 0 … depth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548640" y="2971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dₖ = head of level k+1   ·   C(n,k) = the k-th Pascal weight (the “k-dimensional” term)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548640" y="3474720"/>
            <a:ext cx="11091672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</p:sp>
      <p:sp>
        <p:nvSpPr>
          <p:cNvPr id="78" name="Text 76"/>
          <p:cNvSpPr/>
          <p:nvPr/>
        </p:nvSpPr>
        <p:spPr>
          <a:xfrm>
            <a:off x="868680" y="365760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1,3,7,14,25  with d = (1,2,2,1):
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a(n) = 1·C(n,0) + 2·C(n,1) + 2·C(n,2) + 1·C(n,3)
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7CF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n=0→1   n=1→3   n=2→7   n=3→14   n=4→25   ✓   then predicts  n=5→41,  n=6→63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formula, any depth: a plain AP is just depth 1 (d = a₀, step). Deeper ladders add higher Pascal dimensions.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" y="6492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22576" y="12984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83864" y="19476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45152" y="25968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06440" y="32461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67728" y="389534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29016" y="4544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90304" y="51937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51592" y="58430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12880" y="64922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" y="3749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48256" y="102412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9544" y="16733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32120" y="29718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3621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54696" y="42702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91947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77272" y="55686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38560" y="62179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" y="1005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3936" y="7498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35224" y="13990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96512" y="204825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26974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19088" y="33467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80376" y="39959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741664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902952" y="52943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64240" y="594360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" y="65928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99616" y="4754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60904" y="112471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22192" y="177393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242316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30723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06056" y="37216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67344" y="43708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628632" y="502005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789920" y="56692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" y="63185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225296" y="20116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386584" y="850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547872" y="14996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21488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70448" y="27980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031736" y="34472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93024" y="409651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54312" y="4745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515600" y="539496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676888" y="60441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50976" y="66934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112264" y="5760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273552" y="122529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434840" y="18745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596128" y="25237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57416" y="31729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918704" y="38221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79992" y="44714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241280" y="512064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402568" y="57698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76656" y="64190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837944" y="3017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999232" y="9509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160520" y="16002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5321808" y="224942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483096" y="28986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644384" y="35478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805672" y="41970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UP THE LADDER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whole sequence in one shot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548640" y="178308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2A3475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a(n)  ( n = 0 … N )  =  Σ  dₖ · C(N+1, k+1)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548640" y="3017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“hockey-stick” identity: summing shifts every Pascal weight up one level — so the ladder sums itself.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657600"/>
          <a:ext cx="10515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103120"/>
                <a:gridCol w="4206240"/>
                <a:gridCol w="16459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(left edge)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by formula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by hand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1,3,6,10,15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(1,2,1)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1·5+2·10+1·10 = 35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7CFC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35 ✓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1,3,7,14,25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(1,2,2,1)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1·5+2·10+2·10+1·5 = 50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7CFC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 ✓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8" name="Text 75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CF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C(N+1, k+1) with N=4 → C(5,1)=5, C(5,2)=10, C(5,3)=10, C(5,4)=5. Exact, no term-by-term adding.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" y="6492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22576" y="12984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83864" y="19476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45152" y="25968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06440" y="32461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67728" y="389534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29016" y="4544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90304" y="51937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51592" y="58430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12880" y="64922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" y="3749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48256" y="102412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9544" y="16733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32120" y="29718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3621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54696" y="42702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91947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77272" y="55686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38560" y="62179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" y="1005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3936" y="7498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35224" y="13990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96512" y="204825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26974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19088" y="33467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80376" y="39959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741664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902952" y="52943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64240" y="594360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" y="65928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99616" y="4754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60904" y="112471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22192" y="177393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242316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30723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06056" y="37216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67344" y="43708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628632" y="502005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789920" y="56692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" y="63185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225296" y="20116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386584" y="850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547872" y="14996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21488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70448" y="27980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031736" y="34472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93024" y="409651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54312" y="4745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515600" y="539496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676888" y="60441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50976" y="66934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112264" y="5760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273552" y="122529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434840" y="18745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596128" y="25237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57416" y="31729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918704" y="38221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79992" y="44714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241280" y="512064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402568" y="57698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76656" y="64190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837944" y="3017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999232" y="9509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160520" y="16002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5321808" y="224942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483096" y="28986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644384" y="35478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805672" y="41970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 FOR RANDOM NUMBERS?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— the ladder always bottoms out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1554480" y="1627632"/>
            <a:ext cx="1307592" cy="438912"/>
          </a:xfrm>
          <a:prstGeom prst="roundRect">
            <a:avLst>
              <a:gd name="adj" fmla="val 12500"/>
            </a:avLst>
          </a:prstGeom>
          <a:solidFill>
            <a:srgbClr val="2A3475"/>
          </a:solidFill>
          <a:ln w="20320">
            <a:solidFill>
              <a:srgbClr val="FFC8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554480" y="162763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700" dirty="0"/>
          </a:p>
        </p:txBody>
      </p:sp>
      <p:sp>
        <p:nvSpPr>
          <p:cNvPr id="76" name="Shape 74"/>
          <p:cNvSpPr/>
          <p:nvPr/>
        </p:nvSpPr>
        <p:spPr>
          <a:xfrm>
            <a:off x="2971800" y="1627632"/>
            <a:ext cx="1307592" cy="438912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971800" y="162763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700" dirty="0"/>
          </a:p>
        </p:txBody>
      </p:sp>
      <p:sp>
        <p:nvSpPr>
          <p:cNvPr id="78" name="Shape 76"/>
          <p:cNvSpPr/>
          <p:nvPr/>
        </p:nvSpPr>
        <p:spPr>
          <a:xfrm>
            <a:off x="4389120" y="1627632"/>
            <a:ext cx="1307592" cy="438912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89120" y="162763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700" dirty="0"/>
          </a:p>
        </p:txBody>
      </p:sp>
      <p:sp>
        <p:nvSpPr>
          <p:cNvPr id="80" name="Shape 78"/>
          <p:cNvSpPr/>
          <p:nvPr/>
        </p:nvSpPr>
        <p:spPr>
          <a:xfrm>
            <a:off x="5806440" y="1627632"/>
            <a:ext cx="1307592" cy="438912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06440" y="162763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700" dirty="0"/>
          </a:p>
        </p:txBody>
      </p:sp>
      <p:sp>
        <p:nvSpPr>
          <p:cNvPr id="82" name="Shape 80"/>
          <p:cNvSpPr/>
          <p:nvPr/>
        </p:nvSpPr>
        <p:spPr>
          <a:xfrm>
            <a:off x="7223760" y="1627632"/>
            <a:ext cx="1307592" cy="438912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23760" y="162763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700" dirty="0"/>
          </a:p>
        </p:txBody>
      </p:sp>
      <p:sp>
        <p:nvSpPr>
          <p:cNvPr id="84" name="Shape 82"/>
          <p:cNvSpPr/>
          <p:nvPr/>
        </p:nvSpPr>
        <p:spPr>
          <a:xfrm>
            <a:off x="8641080" y="1627632"/>
            <a:ext cx="1307592" cy="438912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641080" y="162763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700" dirty="0"/>
          </a:p>
        </p:txBody>
      </p:sp>
      <p:sp>
        <p:nvSpPr>
          <p:cNvPr id="86" name="Text 84"/>
          <p:cNvSpPr/>
          <p:nvPr/>
        </p:nvSpPr>
        <p:spPr>
          <a:xfrm>
            <a:off x="896112" y="162763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2263140" y="2267712"/>
            <a:ext cx="1307592" cy="438912"/>
          </a:xfrm>
          <a:prstGeom prst="roundRect">
            <a:avLst>
              <a:gd name="adj" fmla="val 12500"/>
            </a:avLst>
          </a:prstGeom>
          <a:solidFill>
            <a:srgbClr val="2A3475"/>
          </a:solidFill>
          <a:ln w="20320">
            <a:solidFill>
              <a:srgbClr val="FFC857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263140" y="226771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700" dirty="0"/>
          </a:p>
        </p:txBody>
      </p:sp>
      <p:sp>
        <p:nvSpPr>
          <p:cNvPr id="89" name="Shape 87"/>
          <p:cNvSpPr/>
          <p:nvPr/>
        </p:nvSpPr>
        <p:spPr>
          <a:xfrm>
            <a:off x="3680460" y="2267712"/>
            <a:ext cx="1307592" cy="438912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680460" y="226771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</a:t>
            </a:r>
            <a:endParaRPr lang="en-US" sz="1700" dirty="0"/>
          </a:p>
        </p:txBody>
      </p:sp>
      <p:sp>
        <p:nvSpPr>
          <p:cNvPr id="91" name="Shape 89"/>
          <p:cNvSpPr/>
          <p:nvPr/>
        </p:nvSpPr>
        <p:spPr>
          <a:xfrm>
            <a:off x="5097780" y="2267712"/>
            <a:ext cx="1307592" cy="438912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097780" y="226771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700" dirty="0"/>
          </a:p>
        </p:txBody>
      </p:sp>
      <p:sp>
        <p:nvSpPr>
          <p:cNvPr id="93" name="Shape 91"/>
          <p:cNvSpPr/>
          <p:nvPr/>
        </p:nvSpPr>
        <p:spPr>
          <a:xfrm>
            <a:off x="6515100" y="2267712"/>
            <a:ext cx="1307592" cy="438912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515100" y="226771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00" dirty="0"/>
          </a:p>
        </p:txBody>
      </p:sp>
      <p:sp>
        <p:nvSpPr>
          <p:cNvPr id="95" name="Shape 93"/>
          <p:cNvSpPr/>
          <p:nvPr/>
        </p:nvSpPr>
        <p:spPr>
          <a:xfrm>
            <a:off x="7932420" y="2267712"/>
            <a:ext cx="1307592" cy="438912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932420" y="226771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</a:t>
            </a:r>
            <a:endParaRPr lang="en-US" sz="1700" dirty="0"/>
          </a:p>
        </p:txBody>
      </p:sp>
      <p:sp>
        <p:nvSpPr>
          <p:cNvPr id="97" name="Text 95"/>
          <p:cNvSpPr/>
          <p:nvPr/>
        </p:nvSpPr>
        <p:spPr>
          <a:xfrm>
            <a:off x="896112" y="226771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2971800" y="2907792"/>
            <a:ext cx="1307592" cy="438912"/>
          </a:xfrm>
          <a:prstGeom prst="roundRect">
            <a:avLst>
              <a:gd name="adj" fmla="val 12500"/>
            </a:avLst>
          </a:prstGeom>
          <a:solidFill>
            <a:srgbClr val="2A3475"/>
          </a:solidFill>
          <a:ln w="20320">
            <a:solidFill>
              <a:srgbClr val="FFC857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971800" y="290779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-23</a:t>
            </a:r>
            <a:endParaRPr lang="en-US" sz="1700" dirty="0"/>
          </a:p>
        </p:txBody>
      </p:sp>
      <p:sp>
        <p:nvSpPr>
          <p:cNvPr id="100" name="Shape 98"/>
          <p:cNvSpPr/>
          <p:nvPr/>
        </p:nvSpPr>
        <p:spPr>
          <a:xfrm>
            <a:off x="4389120" y="2907792"/>
            <a:ext cx="1307592" cy="438912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389120" y="290779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700" dirty="0"/>
          </a:p>
        </p:txBody>
      </p:sp>
      <p:sp>
        <p:nvSpPr>
          <p:cNvPr id="102" name="Shape 100"/>
          <p:cNvSpPr/>
          <p:nvPr/>
        </p:nvSpPr>
        <p:spPr>
          <a:xfrm>
            <a:off x="5806440" y="2907792"/>
            <a:ext cx="1307592" cy="438912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806440" y="290779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-8</a:t>
            </a:r>
            <a:endParaRPr lang="en-US" sz="1700" dirty="0"/>
          </a:p>
        </p:txBody>
      </p:sp>
      <p:sp>
        <p:nvSpPr>
          <p:cNvPr id="104" name="Shape 102"/>
          <p:cNvSpPr/>
          <p:nvPr/>
        </p:nvSpPr>
        <p:spPr>
          <a:xfrm>
            <a:off x="7223760" y="2907792"/>
            <a:ext cx="1307592" cy="438912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223760" y="290779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-7</a:t>
            </a:r>
            <a:endParaRPr lang="en-US" sz="1700" dirty="0"/>
          </a:p>
        </p:txBody>
      </p:sp>
      <p:sp>
        <p:nvSpPr>
          <p:cNvPr id="106" name="Text 104"/>
          <p:cNvSpPr/>
          <p:nvPr/>
        </p:nvSpPr>
        <p:spPr>
          <a:xfrm>
            <a:off x="896112" y="290779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3680460" y="3547872"/>
            <a:ext cx="1307592" cy="438912"/>
          </a:xfrm>
          <a:prstGeom prst="roundRect">
            <a:avLst>
              <a:gd name="adj" fmla="val 12500"/>
            </a:avLst>
          </a:prstGeom>
          <a:solidFill>
            <a:srgbClr val="2A3475"/>
          </a:solidFill>
          <a:ln w="20320">
            <a:solidFill>
              <a:srgbClr val="FFC857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680460" y="354787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700" dirty="0"/>
          </a:p>
        </p:txBody>
      </p:sp>
      <p:sp>
        <p:nvSpPr>
          <p:cNvPr id="109" name="Shape 107"/>
          <p:cNvSpPr/>
          <p:nvPr/>
        </p:nvSpPr>
        <p:spPr>
          <a:xfrm>
            <a:off x="5097780" y="3547872"/>
            <a:ext cx="1307592" cy="438912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097780" y="354787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-28</a:t>
            </a:r>
            <a:endParaRPr lang="en-US" sz="1700" dirty="0"/>
          </a:p>
        </p:txBody>
      </p:sp>
      <p:sp>
        <p:nvSpPr>
          <p:cNvPr id="111" name="Shape 109"/>
          <p:cNvSpPr/>
          <p:nvPr/>
        </p:nvSpPr>
        <p:spPr>
          <a:xfrm>
            <a:off x="6515100" y="3547872"/>
            <a:ext cx="1307592" cy="438912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515100" y="354787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00" dirty="0"/>
          </a:p>
        </p:txBody>
      </p:sp>
      <p:sp>
        <p:nvSpPr>
          <p:cNvPr id="113" name="Text 111"/>
          <p:cNvSpPr/>
          <p:nvPr/>
        </p:nvSpPr>
        <p:spPr>
          <a:xfrm>
            <a:off x="896112" y="354787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>
            <a:off x="4389120" y="4187952"/>
            <a:ext cx="1307592" cy="438912"/>
          </a:xfrm>
          <a:prstGeom prst="roundRect">
            <a:avLst>
              <a:gd name="adj" fmla="val 12500"/>
            </a:avLst>
          </a:prstGeom>
          <a:solidFill>
            <a:srgbClr val="2A3475"/>
          </a:solidFill>
          <a:ln w="20320">
            <a:solidFill>
              <a:srgbClr val="FFC857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389120" y="418795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-71</a:t>
            </a:r>
            <a:endParaRPr lang="en-US" sz="1700" dirty="0"/>
          </a:p>
        </p:txBody>
      </p:sp>
      <p:sp>
        <p:nvSpPr>
          <p:cNvPr id="116" name="Shape 114"/>
          <p:cNvSpPr/>
          <p:nvPr/>
        </p:nvSpPr>
        <p:spPr>
          <a:xfrm>
            <a:off x="5806440" y="4187952"/>
            <a:ext cx="1307592" cy="438912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A347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806440" y="418795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1700" dirty="0"/>
          </a:p>
        </p:txBody>
      </p:sp>
      <p:sp>
        <p:nvSpPr>
          <p:cNvPr id="118" name="Text 116"/>
          <p:cNvSpPr/>
          <p:nvPr/>
        </p:nvSpPr>
        <p:spPr>
          <a:xfrm>
            <a:off x="896112" y="418795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300" dirty="0"/>
          </a:p>
        </p:txBody>
      </p:sp>
      <p:sp>
        <p:nvSpPr>
          <p:cNvPr id="119" name="Shape 117"/>
          <p:cNvSpPr/>
          <p:nvPr/>
        </p:nvSpPr>
        <p:spPr>
          <a:xfrm>
            <a:off x="5097780" y="4828032"/>
            <a:ext cx="1307592" cy="438912"/>
          </a:xfrm>
          <a:prstGeom prst="roundRect">
            <a:avLst>
              <a:gd name="adj" fmla="val 12500"/>
            </a:avLst>
          </a:prstGeom>
          <a:solidFill>
            <a:srgbClr val="2A3475"/>
          </a:solidFill>
          <a:ln w="20320">
            <a:solidFill>
              <a:srgbClr val="FFC857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097780" y="482803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700" dirty="0"/>
          </a:p>
        </p:txBody>
      </p:sp>
      <p:sp>
        <p:nvSpPr>
          <p:cNvPr id="121" name="Text 119"/>
          <p:cNvSpPr/>
          <p:nvPr/>
        </p:nvSpPr>
        <p:spPr>
          <a:xfrm>
            <a:off x="896112" y="482803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300" dirty="0"/>
          </a:p>
        </p:txBody>
      </p:sp>
      <p:sp>
        <p:nvSpPr>
          <p:cNvPr id="122" name="Shape 120"/>
          <p:cNvSpPr/>
          <p:nvPr/>
        </p:nvSpPr>
        <p:spPr>
          <a:xfrm>
            <a:off x="548640" y="55321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 w="16510">
            <a:solidFill>
              <a:srgbClr val="6EC8E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22960" y="55321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list of L numbers reaches a single value by level L. Left edge d=(15,13,−23,43,−71,100) rebuilds all six exactly, and Σ = 144 in closed form.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0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with no real pattern, the fit is high-degree, so predicting FUTURE terms is wild (143, 743…). Reconstruction inside the data is always exact; extrapolation needs real structure.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" y="6492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22576" y="12984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83864" y="19476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45152" y="25968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06440" y="32461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67728" y="389534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29016" y="4544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90304" y="51937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51592" y="58430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12880" y="64922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" y="3749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48256" y="102412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9544" y="16733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32120" y="29718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3621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54696" y="42702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91947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77272" y="55686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38560" y="62179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" y="1005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3936" y="7498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35224" y="13990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96512" y="204825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26974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19088" y="33467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80376" y="39959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741664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902952" y="52943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64240" y="594360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" y="65928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99616" y="4754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60904" y="112471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22192" y="177393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242316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30723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06056" y="37216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67344" y="43708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628632" y="502005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789920" y="56692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" y="63185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225296" y="20116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386584" y="850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547872" y="14996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21488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70448" y="27980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031736" y="34472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93024" y="409651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54312" y="4745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515600" y="539496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676888" y="60441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50976" y="66934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112264" y="5760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273552" y="122529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434840" y="18745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596128" y="25237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57416" y="31729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918704" y="38221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79992" y="44714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241280" y="512064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402568" y="57698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76656" y="64190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837944" y="3017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999232" y="9509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160520" y="16002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5321808" y="224942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483096" y="28986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644384" y="35478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805672" y="41970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CONNECTS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AP sits over the whole framework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548640" y="178308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 w="16510">
            <a:solidFill>
              <a:srgbClr val="FFC8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2960" y="1783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AP</a:t>
            </a:r>
            <a:endParaRPr lang="en-US" sz="1700" dirty="0"/>
          </a:p>
        </p:txBody>
      </p:sp>
      <p:sp>
        <p:nvSpPr>
          <p:cNvPr id="76" name="Text 74"/>
          <p:cNvSpPr/>
          <p:nvPr/>
        </p:nvSpPr>
        <p:spPr>
          <a:xfrm>
            <a:off x="4023360" y="1783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 stops at L2 (constant gaps) — depth 1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8686800" y="1783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a(n) = a₀ + step·n</a:t>
            </a:r>
            <a:endParaRPr lang="en-US" sz="1350" dirty="0"/>
          </a:p>
        </p:txBody>
      </p:sp>
      <p:sp>
        <p:nvSpPr>
          <p:cNvPr id="78" name="Shape 76"/>
          <p:cNvSpPr/>
          <p:nvPr/>
        </p:nvSpPr>
        <p:spPr>
          <a:xfrm>
            <a:off x="548640" y="283464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 w="16510">
            <a:solidFill>
              <a:srgbClr val="6EC8E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2960" y="2834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C8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Triangular / squares</a:t>
            </a:r>
            <a:endParaRPr lang="en-US" sz="1700" dirty="0"/>
          </a:p>
        </p:txBody>
      </p:sp>
      <p:sp>
        <p:nvSpPr>
          <p:cNvPr id="80" name="Text 78"/>
          <p:cNvSpPr/>
          <p:nvPr/>
        </p:nvSpPr>
        <p:spPr>
          <a:xfrm>
            <a:off x="4023360" y="2834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at L2, constant at L3 — depth 2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868680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 a C(n,2) term</a:t>
            </a:r>
            <a:endParaRPr lang="en-US" sz="1350" dirty="0"/>
          </a:p>
        </p:txBody>
      </p:sp>
      <p:sp>
        <p:nvSpPr>
          <p:cNvPr id="82" name="Shape 80"/>
          <p:cNvSpPr/>
          <p:nvPr/>
        </p:nvSpPr>
        <p:spPr>
          <a:xfrm>
            <a:off x="548640" y="388620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 w="16510">
            <a:solidFill>
              <a:srgbClr val="7CFC9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22960" y="3886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F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cubic 1,3,7,14,25</a:t>
            </a:r>
            <a:endParaRPr lang="en-US" sz="1700" dirty="0"/>
          </a:p>
        </p:txBody>
      </p:sp>
      <p:sp>
        <p:nvSpPr>
          <p:cNvPr id="84" name="Text 82"/>
          <p:cNvSpPr/>
          <p:nvPr/>
        </p:nvSpPr>
        <p:spPr>
          <a:xfrm>
            <a:off x="4023360" y="3886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at L3, constant at L4 — depth 3</a:t>
            </a:r>
            <a:endParaRPr lang="en-US" sz="1400" dirty="0"/>
          </a:p>
        </p:txBody>
      </p:sp>
      <p:sp>
        <p:nvSpPr>
          <p:cNvPr id="85" name="Text 83"/>
          <p:cNvSpPr/>
          <p:nvPr/>
        </p:nvSpPr>
        <p:spPr>
          <a:xfrm>
            <a:off x="8686800" y="3886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 a C(n,3) term</a:t>
            </a:r>
            <a:endParaRPr lang="en-US" sz="1350" dirty="0"/>
          </a:p>
        </p:txBody>
      </p:sp>
      <p:sp>
        <p:nvSpPr>
          <p:cNvPr id="86" name="Shape 84"/>
          <p:cNvSpPr/>
          <p:nvPr/>
        </p:nvSpPr>
        <p:spPr>
          <a:xfrm>
            <a:off x="548640" y="493776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22960" y="4937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sequence</a:t>
            </a:r>
            <a:endParaRPr lang="en-US" sz="1700" dirty="0"/>
          </a:p>
        </p:txBody>
      </p:sp>
      <p:sp>
        <p:nvSpPr>
          <p:cNvPr id="88" name="Text 86"/>
          <p:cNvSpPr/>
          <p:nvPr/>
        </p:nvSpPr>
        <p:spPr>
          <a:xfrm>
            <a:off x="4023360" y="4937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AP/constant appears at some level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8686800" y="4937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dₖ C(n,k) — hybrid AP</a:t>
            </a:r>
            <a:endParaRPr lang="en-US" sz="1350" dirty="0"/>
          </a:p>
        </p:txBody>
      </p:sp>
      <p:sp>
        <p:nvSpPr>
          <p:cNvPr id="90" name="Text 88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CF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balance idea as AP/GP/HP: find the level that behaves simply, then sum the ladder back up.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" y="6492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22576" y="12984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83864" y="19476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45152" y="25968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06440" y="32461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67728" y="389534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29016" y="4544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90304" y="51937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51592" y="58430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12880" y="64922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" y="3749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48256" y="102412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9544" y="16733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32120" y="29718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3621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54696" y="42702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91947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77272" y="55686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38560" y="62179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" y="1005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3936" y="7498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35224" y="13990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96512" y="204825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26974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19088" y="33467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80376" y="39959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741664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902952" y="52943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64240" y="594360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" y="65928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99616" y="4754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60904" y="112471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22192" y="177393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242316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30723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06056" y="37216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67344" y="43708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628632" y="502005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789920" y="56692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" y="63185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225296" y="20116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386584" y="850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547872" y="14996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21488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70448" y="27980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031736" y="34472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93024" y="409651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54312" y="4745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515600" y="539496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676888" y="60441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50976" y="66934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112264" y="5760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273552" y="122529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434840" y="18745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596128" y="25237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57416" y="31729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918704" y="38221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79992" y="44714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241280" y="512064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402568" y="57698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76656" y="64190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837944" y="3017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999232" y="9509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160520" y="16002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5321808" y="224942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483096" y="28986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644384" y="35478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805672" y="41970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640080" y="219456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left edge.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 everything.</a:t>
            </a:r>
            <a:endParaRPr lang="en-US" sz="4400" dirty="0"/>
          </a:p>
        </p:txBody>
      </p:sp>
      <p:sp>
        <p:nvSpPr>
          <p:cNvPr id="73" name="Text 71"/>
          <p:cNvSpPr/>
          <p:nvPr/>
        </p:nvSpPr>
        <p:spPr>
          <a:xfrm>
            <a:off x="640080" y="40233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a(n) = Σ dₖ·C(n,k)  ·  Σa(n) = Σ dₖ·C(N+1,k+1)  —  any sequence, any depth, exact.</a:t>
            </a:r>
            <a:endParaRPr lang="en-US" sz="1700" dirty="0"/>
          </a:p>
        </p:txBody>
      </p:sp>
      <p:sp>
        <p:nvSpPr>
          <p:cNvPr id="74" name="Text 72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Hybrid AP · Kumaran Kanniappan</a:t>
            </a:r>
            <a:pPr indent="0" marL="0">
              <a:buNone/>
            </a:pPr>
            <a:r>
              <a:rPr lang="en-US" sz="1300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Newton forward differences · machine-verified ·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2026-07-18T12:26:44Z</dcterms:created>
  <dcterms:modified xsi:type="dcterms:W3CDTF">2026-07-18T12:26:44Z</dcterms:modified>
</cp:coreProperties>
</file>