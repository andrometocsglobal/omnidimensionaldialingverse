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piece that wasn't in the thesis deck. The original master formula assumes consecutive integers — spacing of one. But sequences in the real world are often evenly spaced with a gap: 2,4,6,8 or 5,10,15,20. The claim of this section is that the gap doesn't force a new derivation. Because each term (s·k) raised to power d equals s^d times k^d, the entire spacing factors out as one clean multiplier s^d applied to the spacing-1 answer. The moment blocks and Pascal coefficients never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 by side, the point is that the two are the same engine. On the left, the thesis master formula for consecutive integers. On the right, the identical expression with one factor s^d out front. You don't re-derive anything: you solve the underlying 1-through-X problem exactly as before, then multiply the final answer by the spacing raised to the power. The gap is factored, not baked into the moments.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concrete demonstration. Take 2,4,6,8 up to 18 at power four. Step one: strip the gap and work the underlying 1-to-9 sequence. Step two: the spacing-1 answer from the master formula is 15,333. Step three: multiply by 2 to the fourth, which is 16, giving 245,328. Checking against straight term-by-term addition of the fourth powers gives exactly 245,328 — an exact match. The table shows the same trick holding at powers five and eight: the only thing that changes is the factor s^d out front; the answer is exact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landing. The master formula gains exactly one symbol — s to the d — and now spans every evenly spaced sequence, not just consecutive integers. Three things to stress: first, nothing in the original derivation was rebuilt; the moment library and Pascal coefficients are identical. Second, the guarantees from the thesis — constant time, exact at any scale — survive, because we only added a single multiplication. Third, this is what lets the framework meet real data: grids sampled every second cell, every fifth layer, and so on. The one-line takeaway: spacing is factored, not baked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B1A"/>
        </a:solidFill>
      </p:bgPr>
    </p:bg>
    <p:spTree>
      <p:nvGrpSpPr>
        <p:cNvPr id="1" name=""/>
        <p:cNvGrpSpPr/>
        <p:nvPr/>
      </p:nvGrpSpPr>
      <p:grpSpPr>
        <a:xfrm>
          <a:off x="0" y="0"/>
          <a:ext cx="0" cy="0"/>
          <a:chOff x="0" y="0"/>
          <a:chExt cx="0" cy="0"/>
        </a:xfrm>
      </p:grpSpPr>
      <p:sp>
        <p:nvSpPr>
          <p:cNvPr id="2" name="Shape 0"/>
          <p:cNvSpPr/>
          <p:nvPr/>
        </p:nvSpPr>
        <p:spPr>
          <a:xfrm>
            <a:off x="5978990" y="3845895"/>
            <a:ext cx="14141" cy="14141"/>
          </a:xfrm>
          <a:prstGeom prst="ellipse">
            <a:avLst/>
          </a:prstGeom>
          <a:solidFill>
            <a:srgbClr val="FFFFFF">
              <a:alpha val="36461"/>
            </a:srgbClr>
          </a:solidFill>
          <a:ln/>
        </p:spPr>
      </p:sp>
      <p:sp>
        <p:nvSpPr>
          <p:cNvPr id="3" name="Shape 1"/>
          <p:cNvSpPr/>
          <p:nvPr/>
        </p:nvSpPr>
        <p:spPr>
          <a:xfrm>
            <a:off x="5403480" y="3472774"/>
            <a:ext cx="13128" cy="13128"/>
          </a:xfrm>
          <a:prstGeom prst="ellipse">
            <a:avLst/>
          </a:prstGeom>
          <a:solidFill>
            <a:srgbClr val="FFFFFF">
              <a:alpha val="14240"/>
            </a:srgbClr>
          </a:solidFill>
          <a:ln/>
        </p:spPr>
      </p:sp>
      <p:sp>
        <p:nvSpPr>
          <p:cNvPr id="4" name="Shape 2"/>
          <p:cNvSpPr/>
          <p:nvPr/>
        </p:nvSpPr>
        <p:spPr>
          <a:xfrm>
            <a:off x="7186034" y="2817430"/>
            <a:ext cx="18776" cy="18776"/>
          </a:xfrm>
          <a:prstGeom prst="ellipse">
            <a:avLst/>
          </a:prstGeom>
          <a:solidFill>
            <a:srgbClr val="FFFFFF">
              <a:alpha val="17656"/>
            </a:srgbClr>
          </a:solidFill>
          <a:ln/>
        </p:spPr>
      </p:sp>
      <p:sp>
        <p:nvSpPr>
          <p:cNvPr id="5" name="Shape 3"/>
          <p:cNvSpPr/>
          <p:nvPr/>
        </p:nvSpPr>
        <p:spPr>
          <a:xfrm>
            <a:off x="8015329" y="525198"/>
            <a:ext cx="24649" cy="24649"/>
          </a:xfrm>
          <a:prstGeom prst="ellipse">
            <a:avLst/>
          </a:prstGeom>
          <a:solidFill>
            <a:srgbClr val="FFFFFF">
              <a:alpha val="36772"/>
            </a:srgbClr>
          </a:solidFill>
          <a:ln/>
        </p:spPr>
      </p:sp>
      <p:sp>
        <p:nvSpPr>
          <p:cNvPr id="6" name="Shape 4"/>
          <p:cNvSpPr/>
          <p:nvPr/>
        </p:nvSpPr>
        <p:spPr>
          <a:xfrm>
            <a:off x="8192393" y="1083410"/>
            <a:ext cx="26346" cy="26346"/>
          </a:xfrm>
          <a:prstGeom prst="ellipse">
            <a:avLst/>
          </a:prstGeom>
          <a:solidFill>
            <a:srgbClr val="FFFFFF">
              <a:alpha val="27946"/>
            </a:srgbClr>
          </a:solidFill>
          <a:ln/>
        </p:spPr>
      </p:sp>
      <p:sp>
        <p:nvSpPr>
          <p:cNvPr id="7" name="Shape 5"/>
          <p:cNvSpPr/>
          <p:nvPr/>
        </p:nvSpPr>
        <p:spPr>
          <a:xfrm>
            <a:off x="2148180" y="343400"/>
            <a:ext cx="36735" cy="36735"/>
          </a:xfrm>
          <a:prstGeom prst="ellipse">
            <a:avLst/>
          </a:prstGeom>
          <a:solidFill>
            <a:srgbClr val="FFFFFF">
              <a:alpha val="11054"/>
            </a:srgbClr>
          </a:solidFill>
          <a:ln/>
        </p:spPr>
      </p:sp>
      <p:sp>
        <p:nvSpPr>
          <p:cNvPr id="8" name="Shape 6"/>
          <p:cNvSpPr/>
          <p:nvPr/>
        </p:nvSpPr>
        <p:spPr>
          <a:xfrm>
            <a:off x="1472327" y="3046501"/>
            <a:ext cx="37190" cy="37190"/>
          </a:xfrm>
          <a:prstGeom prst="ellipse">
            <a:avLst/>
          </a:prstGeom>
          <a:solidFill>
            <a:srgbClr val="FFFFFF">
              <a:alpha val="38380"/>
            </a:srgbClr>
          </a:solidFill>
          <a:ln/>
        </p:spPr>
      </p:sp>
      <p:sp>
        <p:nvSpPr>
          <p:cNvPr id="9" name="Shape 7"/>
          <p:cNvSpPr/>
          <p:nvPr/>
        </p:nvSpPr>
        <p:spPr>
          <a:xfrm>
            <a:off x="5111230" y="3774046"/>
            <a:ext cx="29404" cy="29404"/>
          </a:xfrm>
          <a:prstGeom prst="ellipse">
            <a:avLst/>
          </a:prstGeom>
          <a:solidFill>
            <a:srgbClr val="FFFFFF">
              <a:alpha val="35171"/>
            </a:srgbClr>
          </a:solidFill>
          <a:ln/>
        </p:spPr>
      </p:sp>
      <p:sp>
        <p:nvSpPr>
          <p:cNvPr id="10" name="Shape 8"/>
          <p:cNvSpPr/>
          <p:nvPr/>
        </p:nvSpPr>
        <p:spPr>
          <a:xfrm>
            <a:off x="2077313" y="6759369"/>
            <a:ext cx="23198" cy="23198"/>
          </a:xfrm>
          <a:prstGeom prst="ellipse">
            <a:avLst/>
          </a:prstGeom>
          <a:solidFill>
            <a:srgbClr val="FFFFFF">
              <a:alpha val="36859"/>
            </a:srgbClr>
          </a:solidFill>
          <a:ln/>
        </p:spPr>
      </p:sp>
      <p:sp>
        <p:nvSpPr>
          <p:cNvPr id="11" name="Shape 9"/>
          <p:cNvSpPr/>
          <p:nvPr/>
        </p:nvSpPr>
        <p:spPr>
          <a:xfrm>
            <a:off x="6669476" y="2265803"/>
            <a:ext cx="15186" cy="15186"/>
          </a:xfrm>
          <a:prstGeom prst="ellipse">
            <a:avLst/>
          </a:prstGeom>
          <a:solidFill>
            <a:srgbClr val="FFFFFF">
              <a:alpha val="17951"/>
            </a:srgbClr>
          </a:solidFill>
          <a:ln/>
        </p:spPr>
      </p:sp>
      <p:sp>
        <p:nvSpPr>
          <p:cNvPr id="12" name="Shape 10"/>
          <p:cNvSpPr/>
          <p:nvPr/>
        </p:nvSpPr>
        <p:spPr>
          <a:xfrm>
            <a:off x="4287789" y="2400682"/>
            <a:ext cx="13157" cy="13157"/>
          </a:xfrm>
          <a:prstGeom prst="ellipse">
            <a:avLst/>
          </a:prstGeom>
          <a:solidFill>
            <a:srgbClr val="FFFFFF">
              <a:alpha val="12581"/>
            </a:srgbClr>
          </a:solidFill>
          <a:ln/>
        </p:spPr>
      </p:sp>
      <p:sp>
        <p:nvSpPr>
          <p:cNvPr id="13" name="Shape 11"/>
          <p:cNvSpPr/>
          <p:nvPr/>
        </p:nvSpPr>
        <p:spPr>
          <a:xfrm>
            <a:off x="2909534" y="6063339"/>
            <a:ext cx="23885" cy="23885"/>
          </a:xfrm>
          <a:prstGeom prst="ellipse">
            <a:avLst/>
          </a:prstGeom>
          <a:solidFill>
            <a:srgbClr val="FFFFFF">
              <a:alpha val="36739"/>
            </a:srgbClr>
          </a:solidFill>
          <a:ln/>
        </p:spPr>
      </p:sp>
      <p:sp>
        <p:nvSpPr>
          <p:cNvPr id="14" name="Shape 12"/>
          <p:cNvSpPr/>
          <p:nvPr/>
        </p:nvSpPr>
        <p:spPr>
          <a:xfrm>
            <a:off x="7351182" y="2755106"/>
            <a:ext cx="31791" cy="31791"/>
          </a:xfrm>
          <a:prstGeom prst="ellipse">
            <a:avLst/>
          </a:prstGeom>
          <a:solidFill>
            <a:srgbClr val="FFFFFF">
              <a:alpha val="22151"/>
            </a:srgbClr>
          </a:solidFill>
          <a:ln/>
        </p:spPr>
      </p:sp>
      <p:sp>
        <p:nvSpPr>
          <p:cNvPr id="15" name="Shape 13"/>
          <p:cNvSpPr/>
          <p:nvPr/>
        </p:nvSpPr>
        <p:spPr>
          <a:xfrm>
            <a:off x="1658171" y="1535318"/>
            <a:ext cx="23327" cy="23327"/>
          </a:xfrm>
          <a:prstGeom prst="ellipse">
            <a:avLst/>
          </a:prstGeom>
          <a:solidFill>
            <a:srgbClr val="FFFFFF">
              <a:alpha val="41843"/>
            </a:srgbClr>
          </a:solidFill>
          <a:ln/>
        </p:spPr>
      </p:sp>
      <p:sp>
        <p:nvSpPr>
          <p:cNvPr id="16" name="Shape 14"/>
          <p:cNvSpPr/>
          <p:nvPr/>
        </p:nvSpPr>
        <p:spPr>
          <a:xfrm>
            <a:off x="580945" y="2827308"/>
            <a:ext cx="29652" cy="29652"/>
          </a:xfrm>
          <a:prstGeom prst="ellipse">
            <a:avLst/>
          </a:prstGeom>
          <a:solidFill>
            <a:srgbClr val="FFFFFF">
              <a:alpha val="22359"/>
            </a:srgbClr>
          </a:solidFill>
          <a:ln/>
        </p:spPr>
      </p:sp>
      <p:sp>
        <p:nvSpPr>
          <p:cNvPr id="17" name="Shape 15"/>
          <p:cNvSpPr/>
          <p:nvPr/>
        </p:nvSpPr>
        <p:spPr>
          <a:xfrm>
            <a:off x="11645243" y="2228409"/>
            <a:ext cx="22995" cy="22995"/>
          </a:xfrm>
          <a:prstGeom prst="ellipse">
            <a:avLst/>
          </a:prstGeom>
          <a:solidFill>
            <a:srgbClr val="FFFFFF">
              <a:alpha val="27648"/>
            </a:srgbClr>
          </a:solidFill>
          <a:ln/>
        </p:spPr>
      </p:sp>
      <p:sp>
        <p:nvSpPr>
          <p:cNvPr id="18" name="Shape 16"/>
          <p:cNvSpPr/>
          <p:nvPr/>
        </p:nvSpPr>
        <p:spPr>
          <a:xfrm>
            <a:off x="5350172" y="5749954"/>
            <a:ext cx="23337" cy="23337"/>
          </a:xfrm>
          <a:prstGeom prst="ellipse">
            <a:avLst/>
          </a:prstGeom>
          <a:solidFill>
            <a:srgbClr val="FFFFFF">
              <a:alpha val="29624"/>
            </a:srgbClr>
          </a:solidFill>
          <a:ln/>
        </p:spPr>
      </p:sp>
      <p:sp>
        <p:nvSpPr>
          <p:cNvPr id="19" name="Shape 17"/>
          <p:cNvSpPr/>
          <p:nvPr/>
        </p:nvSpPr>
        <p:spPr>
          <a:xfrm>
            <a:off x="3219343" y="1623278"/>
            <a:ext cx="31356" cy="31356"/>
          </a:xfrm>
          <a:prstGeom prst="ellipse">
            <a:avLst/>
          </a:prstGeom>
          <a:solidFill>
            <a:srgbClr val="FFFFFF">
              <a:alpha val="40386"/>
            </a:srgbClr>
          </a:solidFill>
          <a:ln/>
        </p:spPr>
      </p:sp>
      <p:sp>
        <p:nvSpPr>
          <p:cNvPr id="20" name="Shape 18"/>
          <p:cNvSpPr/>
          <p:nvPr/>
        </p:nvSpPr>
        <p:spPr>
          <a:xfrm>
            <a:off x="3296064" y="5257712"/>
            <a:ext cx="34520" cy="34520"/>
          </a:xfrm>
          <a:prstGeom prst="ellipse">
            <a:avLst/>
          </a:prstGeom>
          <a:solidFill>
            <a:srgbClr val="FFFFFF">
              <a:alpha val="11107"/>
            </a:srgbClr>
          </a:solidFill>
          <a:ln/>
        </p:spPr>
      </p:sp>
      <p:sp>
        <p:nvSpPr>
          <p:cNvPr id="21" name="Shape 19"/>
          <p:cNvSpPr/>
          <p:nvPr/>
        </p:nvSpPr>
        <p:spPr>
          <a:xfrm>
            <a:off x="11299895" y="5900591"/>
            <a:ext cx="31475" cy="31475"/>
          </a:xfrm>
          <a:prstGeom prst="ellipse">
            <a:avLst/>
          </a:prstGeom>
          <a:solidFill>
            <a:srgbClr val="FFFFFF">
              <a:alpha val="22590"/>
            </a:srgbClr>
          </a:solidFill>
          <a:ln/>
        </p:spPr>
      </p:sp>
      <p:sp>
        <p:nvSpPr>
          <p:cNvPr id="22" name="Shape 20"/>
          <p:cNvSpPr/>
          <p:nvPr/>
        </p:nvSpPr>
        <p:spPr>
          <a:xfrm>
            <a:off x="6760830" y="165247"/>
            <a:ext cx="19851" cy="19851"/>
          </a:xfrm>
          <a:prstGeom prst="ellipse">
            <a:avLst/>
          </a:prstGeom>
          <a:solidFill>
            <a:srgbClr val="FFFFFF">
              <a:alpha val="32488"/>
            </a:srgbClr>
          </a:solidFill>
          <a:ln/>
        </p:spPr>
      </p:sp>
      <p:sp>
        <p:nvSpPr>
          <p:cNvPr id="23" name="Shape 21"/>
          <p:cNvSpPr/>
          <p:nvPr/>
        </p:nvSpPr>
        <p:spPr>
          <a:xfrm>
            <a:off x="2623138" y="2699015"/>
            <a:ext cx="29788" cy="29788"/>
          </a:xfrm>
          <a:prstGeom prst="ellipse">
            <a:avLst/>
          </a:prstGeom>
          <a:solidFill>
            <a:srgbClr val="FFFFFF">
              <a:alpha val="19197"/>
            </a:srgbClr>
          </a:solidFill>
          <a:ln/>
        </p:spPr>
      </p:sp>
      <p:sp>
        <p:nvSpPr>
          <p:cNvPr id="24" name="Shape 22"/>
          <p:cNvSpPr/>
          <p:nvPr/>
        </p:nvSpPr>
        <p:spPr>
          <a:xfrm>
            <a:off x="3251746" y="6559227"/>
            <a:ext cx="11165" cy="11165"/>
          </a:xfrm>
          <a:prstGeom prst="ellipse">
            <a:avLst/>
          </a:prstGeom>
          <a:solidFill>
            <a:srgbClr val="FFFFFF">
              <a:alpha val="32407"/>
            </a:srgbClr>
          </a:solidFill>
          <a:ln/>
        </p:spPr>
      </p:sp>
      <p:sp>
        <p:nvSpPr>
          <p:cNvPr id="25" name="Shape 23"/>
          <p:cNvSpPr/>
          <p:nvPr/>
        </p:nvSpPr>
        <p:spPr>
          <a:xfrm>
            <a:off x="7141507" y="3025216"/>
            <a:ext cx="13426" cy="13426"/>
          </a:xfrm>
          <a:prstGeom prst="ellipse">
            <a:avLst/>
          </a:prstGeom>
          <a:solidFill>
            <a:srgbClr val="FFFFFF">
              <a:alpha val="10330"/>
            </a:srgbClr>
          </a:solidFill>
          <a:ln/>
        </p:spPr>
      </p:sp>
      <p:sp>
        <p:nvSpPr>
          <p:cNvPr id="26" name="Shape 24"/>
          <p:cNvSpPr/>
          <p:nvPr/>
        </p:nvSpPr>
        <p:spPr>
          <a:xfrm>
            <a:off x="5562565" y="5982317"/>
            <a:ext cx="27089" cy="27089"/>
          </a:xfrm>
          <a:prstGeom prst="ellipse">
            <a:avLst/>
          </a:prstGeom>
          <a:solidFill>
            <a:srgbClr val="FFFFFF">
              <a:alpha val="28582"/>
            </a:srgbClr>
          </a:solidFill>
          <a:ln/>
        </p:spPr>
      </p:sp>
      <p:sp>
        <p:nvSpPr>
          <p:cNvPr id="27" name="Shape 25"/>
          <p:cNvSpPr/>
          <p:nvPr/>
        </p:nvSpPr>
        <p:spPr>
          <a:xfrm>
            <a:off x="1525216" y="5439863"/>
            <a:ext cx="35559" cy="35559"/>
          </a:xfrm>
          <a:prstGeom prst="ellipse">
            <a:avLst/>
          </a:prstGeom>
          <a:solidFill>
            <a:srgbClr val="FFFFFF">
              <a:alpha val="35744"/>
            </a:srgbClr>
          </a:solidFill>
          <a:ln/>
        </p:spPr>
      </p:sp>
      <p:sp>
        <p:nvSpPr>
          <p:cNvPr id="28" name="Shape 26"/>
          <p:cNvSpPr/>
          <p:nvPr/>
        </p:nvSpPr>
        <p:spPr>
          <a:xfrm>
            <a:off x="297476" y="1059186"/>
            <a:ext cx="30369" cy="30369"/>
          </a:xfrm>
          <a:prstGeom prst="ellipse">
            <a:avLst/>
          </a:prstGeom>
          <a:solidFill>
            <a:srgbClr val="FFFFFF">
              <a:alpha val="20580"/>
            </a:srgbClr>
          </a:solidFill>
          <a:ln/>
        </p:spPr>
      </p:sp>
      <p:sp>
        <p:nvSpPr>
          <p:cNvPr id="29" name="Shape 27"/>
          <p:cNvSpPr/>
          <p:nvPr/>
        </p:nvSpPr>
        <p:spPr>
          <a:xfrm>
            <a:off x="8050449" y="5963620"/>
            <a:ext cx="17277" cy="17277"/>
          </a:xfrm>
          <a:prstGeom prst="ellipse">
            <a:avLst/>
          </a:prstGeom>
          <a:solidFill>
            <a:srgbClr val="FFFFFF">
              <a:alpha val="15931"/>
            </a:srgbClr>
          </a:solidFill>
          <a:ln/>
        </p:spPr>
      </p:sp>
      <p:sp>
        <p:nvSpPr>
          <p:cNvPr id="30" name="Shape 28"/>
          <p:cNvSpPr/>
          <p:nvPr/>
        </p:nvSpPr>
        <p:spPr>
          <a:xfrm>
            <a:off x="2056408" y="256499"/>
            <a:ext cx="13217" cy="13217"/>
          </a:xfrm>
          <a:prstGeom prst="ellipse">
            <a:avLst/>
          </a:prstGeom>
          <a:solidFill>
            <a:srgbClr val="FFFFFF">
              <a:alpha val="44265"/>
            </a:srgbClr>
          </a:solidFill>
          <a:ln/>
        </p:spPr>
      </p:sp>
      <p:sp>
        <p:nvSpPr>
          <p:cNvPr id="31" name="Shape 29"/>
          <p:cNvSpPr/>
          <p:nvPr/>
        </p:nvSpPr>
        <p:spPr>
          <a:xfrm>
            <a:off x="6548228" y="5697155"/>
            <a:ext cx="34104" cy="34104"/>
          </a:xfrm>
          <a:prstGeom prst="ellipse">
            <a:avLst/>
          </a:prstGeom>
          <a:solidFill>
            <a:srgbClr val="FFFFFF">
              <a:alpha val="39904"/>
            </a:srgbClr>
          </a:solidFill>
          <a:ln/>
        </p:spPr>
      </p:sp>
      <p:sp>
        <p:nvSpPr>
          <p:cNvPr id="32" name="Shape 30"/>
          <p:cNvSpPr/>
          <p:nvPr/>
        </p:nvSpPr>
        <p:spPr>
          <a:xfrm>
            <a:off x="6022890" y="356923"/>
            <a:ext cx="18642" cy="18642"/>
          </a:xfrm>
          <a:prstGeom prst="ellipse">
            <a:avLst/>
          </a:prstGeom>
          <a:solidFill>
            <a:srgbClr val="FFFFFF">
              <a:alpha val="27909"/>
            </a:srgbClr>
          </a:solidFill>
          <a:ln/>
        </p:spPr>
      </p:sp>
      <p:sp>
        <p:nvSpPr>
          <p:cNvPr id="33" name="Shape 31"/>
          <p:cNvSpPr/>
          <p:nvPr/>
        </p:nvSpPr>
        <p:spPr>
          <a:xfrm>
            <a:off x="781422" y="2439135"/>
            <a:ext cx="17291" cy="17291"/>
          </a:xfrm>
          <a:prstGeom prst="ellipse">
            <a:avLst/>
          </a:prstGeom>
          <a:solidFill>
            <a:srgbClr val="FFFFFF">
              <a:alpha val="34638"/>
            </a:srgbClr>
          </a:solidFill>
          <a:ln/>
        </p:spPr>
      </p:sp>
      <p:sp>
        <p:nvSpPr>
          <p:cNvPr id="34" name="Shape 32"/>
          <p:cNvSpPr/>
          <p:nvPr/>
        </p:nvSpPr>
        <p:spPr>
          <a:xfrm>
            <a:off x="9638171" y="937125"/>
            <a:ext cx="15488" cy="15488"/>
          </a:xfrm>
          <a:prstGeom prst="ellipse">
            <a:avLst/>
          </a:prstGeom>
          <a:solidFill>
            <a:srgbClr val="FFFFFF">
              <a:alpha val="44968"/>
            </a:srgbClr>
          </a:solidFill>
          <a:ln/>
        </p:spPr>
      </p:sp>
      <p:sp>
        <p:nvSpPr>
          <p:cNvPr id="35" name="Shape 33"/>
          <p:cNvSpPr/>
          <p:nvPr/>
        </p:nvSpPr>
        <p:spPr>
          <a:xfrm>
            <a:off x="7607685" y="592226"/>
            <a:ext cx="22038" cy="22038"/>
          </a:xfrm>
          <a:prstGeom prst="ellipse">
            <a:avLst/>
          </a:prstGeom>
          <a:solidFill>
            <a:srgbClr val="FFFFFF">
              <a:alpha val="41183"/>
            </a:srgbClr>
          </a:solidFill>
          <a:ln/>
        </p:spPr>
      </p:sp>
      <p:sp>
        <p:nvSpPr>
          <p:cNvPr id="36" name="Shape 34"/>
          <p:cNvSpPr/>
          <p:nvPr/>
        </p:nvSpPr>
        <p:spPr>
          <a:xfrm>
            <a:off x="5828057" y="2843771"/>
            <a:ext cx="11204" cy="11204"/>
          </a:xfrm>
          <a:prstGeom prst="ellipse">
            <a:avLst/>
          </a:prstGeom>
          <a:solidFill>
            <a:srgbClr val="FFFFFF">
              <a:alpha val="18530"/>
            </a:srgbClr>
          </a:solidFill>
          <a:ln/>
        </p:spPr>
      </p:sp>
      <p:sp>
        <p:nvSpPr>
          <p:cNvPr id="37" name="Shape 35"/>
          <p:cNvSpPr/>
          <p:nvPr/>
        </p:nvSpPr>
        <p:spPr>
          <a:xfrm>
            <a:off x="5503405" y="5067094"/>
            <a:ext cx="20239" cy="20239"/>
          </a:xfrm>
          <a:prstGeom prst="ellipse">
            <a:avLst/>
          </a:prstGeom>
          <a:solidFill>
            <a:srgbClr val="FFFFFF">
              <a:alpha val="12440"/>
            </a:srgbClr>
          </a:solidFill>
          <a:ln/>
        </p:spPr>
      </p:sp>
      <p:sp>
        <p:nvSpPr>
          <p:cNvPr id="38" name="Shape 36"/>
          <p:cNvSpPr/>
          <p:nvPr/>
        </p:nvSpPr>
        <p:spPr>
          <a:xfrm>
            <a:off x="8740935" y="4383528"/>
            <a:ext cx="18323" cy="18323"/>
          </a:xfrm>
          <a:prstGeom prst="ellipse">
            <a:avLst/>
          </a:prstGeom>
          <a:solidFill>
            <a:srgbClr val="FFFFFF">
              <a:alpha val="32421"/>
            </a:srgbClr>
          </a:solidFill>
          <a:ln/>
        </p:spPr>
      </p:sp>
      <p:sp>
        <p:nvSpPr>
          <p:cNvPr id="39" name="Shape 37"/>
          <p:cNvSpPr/>
          <p:nvPr/>
        </p:nvSpPr>
        <p:spPr>
          <a:xfrm>
            <a:off x="940717" y="6042407"/>
            <a:ext cx="13246" cy="13246"/>
          </a:xfrm>
          <a:prstGeom prst="ellipse">
            <a:avLst/>
          </a:prstGeom>
          <a:solidFill>
            <a:srgbClr val="FFFFFF">
              <a:alpha val="42607"/>
            </a:srgbClr>
          </a:solidFill>
          <a:ln/>
        </p:spPr>
      </p:sp>
      <p:sp>
        <p:nvSpPr>
          <p:cNvPr id="40" name="Shape 38"/>
          <p:cNvSpPr/>
          <p:nvPr/>
        </p:nvSpPr>
        <p:spPr>
          <a:xfrm>
            <a:off x="2271728" y="2085064"/>
            <a:ext cx="11782" cy="11782"/>
          </a:xfrm>
          <a:prstGeom prst="ellipse">
            <a:avLst/>
          </a:prstGeom>
          <a:solidFill>
            <a:srgbClr val="FFFFFF">
              <a:alpha val="23986"/>
            </a:srgbClr>
          </a:solidFill>
          <a:ln/>
        </p:spPr>
      </p:sp>
      <p:sp>
        <p:nvSpPr>
          <p:cNvPr id="41" name="Shape 39"/>
          <p:cNvSpPr/>
          <p:nvPr/>
        </p:nvSpPr>
        <p:spPr>
          <a:xfrm>
            <a:off x="5358743" y="2586831"/>
            <a:ext cx="25784" cy="25784"/>
          </a:xfrm>
          <a:prstGeom prst="ellipse">
            <a:avLst/>
          </a:prstGeom>
          <a:solidFill>
            <a:srgbClr val="FFFFFF">
              <a:alpha val="13288"/>
            </a:srgbClr>
          </a:solidFill>
          <a:ln/>
        </p:spPr>
      </p:sp>
      <p:sp>
        <p:nvSpPr>
          <p:cNvPr id="42" name="Shape 40"/>
          <p:cNvSpPr/>
          <p:nvPr/>
        </p:nvSpPr>
        <p:spPr>
          <a:xfrm>
            <a:off x="6438896" y="2891043"/>
            <a:ext cx="14272" cy="14272"/>
          </a:xfrm>
          <a:prstGeom prst="ellipse">
            <a:avLst/>
          </a:prstGeom>
          <a:solidFill>
            <a:srgbClr val="FFFFFF">
              <a:alpha val="13536"/>
            </a:srgbClr>
          </a:solidFill>
          <a:ln/>
        </p:spPr>
      </p:sp>
      <p:sp>
        <p:nvSpPr>
          <p:cNvPr id="43" name="Shape 41"/>
          <p:cNvSpPr/>
          <p:nvPr/>
        </p:nvSpPr>
        <p:spPr>
          <a:xfrm>
            <a:off x="8070936" y="3421033"/>
            <a:ext cx="35837" cy="35837"/>
          </a:xfrm>
          <a:prstGeom prst="ellipse">
            <a:avLst/>
          </a:prstGeom>
          <a:solidFill>
            <a:srgbClr val="FFFFFF">
              <a:alpha val="21273"/>
            </a:srgbClr>
          </a:solidFill>
          <a:ln/>
        </p:spPr>
      </p:sp>
      <p:sp>
        <p:nvSpPr>
          <p:cNvPr id="44" name="Shape 42"/>
          <p:cNvSpPr/>
          <p:nvPr/>
        </p:nvSpPr>
        <p:spPr>
          <a:xfrm>
            <a:off x="5588906" y="6632134"/>
            <a:ext cx="35276" cy="35276"/>
          </a:xfrm>
          <a:prstGeom prst="ellipse">
            <a:avLst/>
          </a:prstGeom>
          <a:solidFill>
            <a:srgbClr val="FFFFFF">
              <a:alpha val="30451"/>
            </a:srgbClr>
          </a:solidFill>
          <a:ln/>
        </p:spPr>
      </p:sp>
      <p:sp>
        <p:nvSpPr>
          <p:cNvPr id="45" name="Shape 43"/>
          <p:cNvSpPr/>
          <p:nvPr/>
        </p:nvSpPr>
        <p:spPr>
          <a:xfrm>
            <a:off x="6066999" y="4819679"/>
            <a:ext cx="32570" cy="32570"/>
          </a:xfrm>
          <a:prstGeom prst="ellipse">
            <a:avLst/>
          </a:prstGeom>
          <a:solidFill>
            <a:srgbClr val="FFFFFF">
              <a:alpha val="12983"/>
            </a:srgbClr>
          </a:solidFill>
          <a:ln/>
        </p:spPr>
      </p:sp>
      <p:sp>
        <p:nvSpPr>
          <p:cNvPr id="46" name="Shape 44"/>
          <p:cNvSpPr/>
          <p:nvPr/>
        </p:nvSpPr>
        <p:spPr>
          <a:xfrm>
            <a:off x="6645436" y="6789003"/>
            <a:ext cx="28396" cy="28396"/>
          </a:xfrm>
          <a:prstGeom prst="ellipse">
            <a:avLst/>
          </a:prstGeom>
          <a:solidFill>
            <a:srgbClr val="FFFFFF">
              <a:alpha val="15967"/>
            </a:srgbClr>
          </a:solidFill>
          <a:ln/>
        </p:spPr>
      </p:sp>
      <p:sp>
        <p:nvSpPr>
          <p:cNvPr id="47" name="Shape 45"/>
          <p:cNvSpPr/>
          <p:nvPr/>
        </p:nvSpPr>
        <p:spPr>
          <a:xfrm>
            <a:off x="5367523" y="517437"/>
            <a:ext cx="37657" cy="37657"/>
          </a:xfrm>
          <a:prstGeom prst="ellipse">
            <a:avLst/>
          </a:prstGeom>
          <a:solidFill>
            <a:srgbClr val="FFFFFF">
              <a:alpha val="25577"/>
            </a:srgbClr>
          </a:solidFill>
          <a:ln/>
        </p:spPr>
      </p:sp>
      <p:sp>
        <p:nvSpPr>
          <p:cNvPr id="48" name="Shape 46"/>
          <p:cNvSpPr/>
          <p:nvPr/>
        </p:nvSpPr>
        <p:spPr>
          <a:xfrm>
            <a:off x="7952823" y="2684316"/>
            <a:ext cx="31564" cy="31564"/>
          </a:xfrm>
          <a:prstGeom prst="ellipse">
            <a:avLst/>
          </a:prstGeom>
          <a:solidFill>
            <a:srgbClr val="FFFFFF">
              <a:alpha val="17615"/>
            </a:srgbClr>
          </a:solidFill>
          <a:ln/>
        </p:spPr>
      </p:sp>
      <p:sp>
        <p:nvSpPr>
          <p:cNvPr id="49" name="Shape 47"/>
          <p:cNvSpPr/>
          <p:nvPr/>
        </p:nvSpPr>
        <p:spPr>
          <a:xfrm>
            <a:off x="6123024" y="3044972"/>
            <a:ext cx="35180" cy="35180"/>
          </a:xfrm>
          <a:prstGeom prst="ellipse">
            <a:avLst/>
          </a:prstGeom>
          <a:solidFill>
            <a:srgbClr val="FFFFFF">
              <a:alpha val="19736"/>
            </a:srgbClr>
          </a:solidFill>
          <a:ln/>
        </p:spPr>
      </p:sp>
      <p:sp>
        <p:nvSpPr>
          <p:cNvPr id="50" name="Shape 48"/>
          <p:cNvSpPr/>
          <p:nvPr/>
        </p:nvSpPr>
        <p:spPr>
          <a:xfrm>
            <a:off x="630699" y="2530740"/>
            <a:ext cx="23781" cy="23781"/>
          </a:xfrm>
          <a:prstGeom prst="ellipse">
            <a:avLst/>
          </a:prstGeom>
          <a:solidFill>
            <a:srgbClr val="FFFFFF">
              <a:alpha val="10333"/>
            </a:srgbClr>
          </a:solidFill>
          <a:ln/>
        </p:spPr>
      </p:sp>
      <p:sp>
        <p:nvSpPr>
          <p:cNvPr id="51" name="Shape 49"/>
          <p:cNvSpPr/>
          <p:nvPr/>
        </p:nvSpPr>
        <p:spPr>
          <a:xfrm>
            <a:off x="8032471" y="1056952"/>
            <a:ext cx="29542" cy="29542"/>
          </a:xfrm>
          <a:prstGeom prst="ellipse">
            <a:avLst/>
          </a:prstGeom>
          <a:solidFill>
            <a:srgbClr val="FFFFFF">
              <a:alpha val="39100"/>
            </a:srgbClr>
          </a:solidFill>
          <a:ln/>
        </p:spPr>
      </p:sp>
      <p:sp>
        <p:nvSpPr>
          <p:cNvPr id="52" name="Shape 50"/>
          <p:cNvSpPr/>
          <p:nvPr/>
        </p:nvSpPr>
        <p:spPr>
          <a:xfrm>
            <a:off x="2439802" y="3618941"/>
            <a:ext cx="19611" cy="19611"/>
          </a:xfrm>
          <a:prstGeom prst="ellipse">
            <a:avLst/>
          </a:prstGeom>
          <a:solidFill>
            <a:srgbClr val="FFFFFF">
              <a:alpha val="44245"/>
            </a:srgbClr>
          </a:solidFill>
          <a:ln/>
        </p:spPr>
      </p:sp>
      <p:sp>
        <p:nvSpPr>
          <p:cNvPr id="53" name="Shape 51"/>
          <p:cNvSpPr/>
          <p:nvPr/>
        </p:nvSpPr>
        <p:spPr>
          <a:xfrm>
            <a:off x="11697923" y="3528042"/>
            <a:ext cx="11938" cy="11938"/>
          </a:xfrm>
          <a:prstGeom prst="ellipse">
            <a:avLst/>
          </a:prstGeom>
          <a:solidFill>
            <a:srgbClr val="FFFFFF">
              <a:alpha val="31385"/>
            </a:srgbClr>
          </a:solidFill>
          <a:ln/>
        </p:spPr>
      </p:sp>
      <p:sp>
        <p:nvSpPr>
          <p:cNvPr id="54" name="Shape 52"/>
          <p:cNvSpPr/>
          <p:nvPr/>
        </p:nvSpPr>
        <p:spPr>
          <a:xfrm>
            <a:off x="2242043" y="4509588"/>
            <a:ext cx="17360" cy="17360"/>
          </a:xfrm>
          <a:prstGeom prst="ellipse">
            <a:avLst/>
          </a:prstGeom>
          <a:solidFill>
            <a:srgbClr val="FFFFFF">
              <a:alpha val="19102"/>
            </a:srgbClr>
          </a:solidFill>
          <a:ln/>
        </p:spPr>
      </p:sp>
      <p:sp>
        <p:nvSpPr>
          <p:cNvPr id="55" name="Shape 53"/>
          <p:cNvSpPr/>
          <p:nvPr/>
        </p:nvSpPr>
        <p:spPr>
          <a:xfrm>
            <a:off x="3723568" y="6224911"/>
            <a:ext cx="27410" cy="27410"/>
          </a:xfrm>
          <a:prstGeom prst="ellipse">
            <a:avLst/>
          </a:prstGeom>
          <a:solidFill>
            <a:srgbClr val="FFFFFF">
              <a:alpha val="31161"/>
            </a:srgbClr>
          </a:solidFill>
          <a:ln/>
        </p:spPr>
      </p:sp>
      <p:sp>
        <p:nvSpPr>
          <p:cNvPr id="56" name="Shape 54"/>
          <p:cNvSpPr/>
          <p:nvPr/>
        </p:nvSpPr>
        <p:spPr>
          <a:xfrm>
            <a:off x="10121908" y="1223345"/>
            <a:ext cx="20414" cy="20414"/>
          </a:xfrm>
          <a:prstGeom prst="ellipse">
            <a:avLst/>
          </a:prstGeom>
          <a:solidFill>
            <a:srgbClr val="FFFFFF">
              <a:alpha val="30401"/>
            </a:srgbClr>
          </a:solidFill>
          <a:ln/>
        </p:spPr>
      </p:sp>
      <p:sp>
        <p:nvSpPr>
          <p:cNvPr id="57" name="Shape 55"/>
          <p:cNvSpPr/>
          <p:nvPr/>
        </p:nvSpPr>
        <p:spPr>
          <a:xfrm>
            <a:off x="10901031" y="3898224"/>
            <a:ext cx="13306" cy="13306"/>
          </a:xfrm>
          <a:prstGeom prst="ellipse">
            <a:avLst/>
          </a:prstGeom>
          <a:solidFill>
            <a:srgbClr val="FFFFFF">
              <a:alpha val="39290"/>
            </a:srgbClr>
          </a:solidFill>
          <a:ln/>
        </p:spPr>
      </p:sp>
      <p:sp>
        <p:nvSpPr>
          <p:cNvPr id="58" name="Shape 56"/>
          <p:cNvSpPr/>
          <p:nvPr/>
        </p:nvSpPr>
        <p:spPr>
          <a:xfrm>
            <a:off x="5910422" y="1718880"/>
            <a:ext cx="22001" cy="22001"/>
          </a:xfrm>
          <a:prstGeom prst="ellipse">
            <a:avLst/>
          </a:prstGeom>
          <a:solidFill>
            <a:srgbClr val="FFFFFF">
              <a:alpha val="27151"/>
            </a:srgbClr>
          </a:solidFill>
          <a:ln/>
        </p:spPr>
      </p:sp>
      <p:sp>
        <p:nvSpPr>
          <p:cNvPr id="59" name="Shape 57"/>
          <p:cNvSpPr/>
          <p:nvPr/>
        </p:nvSpPr>
        <p:spPr>
          <a:xfrm>
            <a:off x="4030451" y="188648"/>
            <a:ext cx="12635" cy="12635"/>
          </a:xfrm>
          <a:prstGeom prst="ellipse">
            <a:avLst/>
          </a:prstGeom>
          <a:solidFill>
            <a:srgbClr val="FFFFFF">
              <a:alpha val="19045"/>
            </a:srgbClr>
          </a:solidFill>
          <a:ln/>
        </p:spPr>
      </p:sp>
      <p:sp>
        <p:nvSpPr>
          <p:cNvPr id="60" name="Shape 58"/>
          <p:cNvSpPr/>
          <p:nvPr/>
        </p:nvSpPr>
        <p:spPr>
          <a:xfrm>
            <a:off x="5562147" y="3794860"/>
            <a:ext cx="35667" cy="35667"/>
          </a:xfrm>
          <a:prstGeom prst="ellipse">
            <a:avLst/>
          </a:prstGeom>
          <a:solidFill>
            <a:srgbClr val="FFFFFF">
              <a:alpha val="41330"/>
            </a:srgbClr>
          </a:solidFill>
          <a:ln/>
        </p:spPr>
      </p:sp>
      <p:sp>
        <p:nvSpPr>
          <p:cNvPr id="61" name="Shape 59"/>
          <p:cNvSpPr/>
          <p:nvPr/>
        </p:nvSpPr>
        <p:spPr>
          <a:xfrm>
            <a:off x="4936466" y="1530850"/>
            <a:ext cx="21673" cy="21673"/>
          </a:xfrm>
          <a:prstGeom prst="ellipse">
            <a:avLst/>
          </a:prstGeom>
          <a:solidFill>
            <a:srgbClr val="FFFFFF">
              <a:alpha val="43883"/>
            </a:srgbClr>
          </a:solidFill>
          <a:ln/>
        </p:spPr>
      </p:sp>
      <p:sp>
        <p:nvSpPr>
          <p:cNvPr id="62" name="Shape 60"/>
          <p:cNvSpPr/>
          <p:nvPr/>
        </p:nvSpPr>
        <p:spPr>
          <a:xfrm>
            <a:off x="1551347" y="4995951"/>
            <a:ext cx="34319" cy="34319"/>
          </a:xfrm>
          <a:prstGeom prst="ellipse">
            <a:avLst/>
          </a:prstGeom>
          <a:solidFill>
            <a:srgbClr val="FFFFFF">
              <a:alpha val="43987"/>
            </a:srgbClr>
          </a:solidFill>
          <a:ln/>
        </p:spPr>
      </p:sp>
      <p:sp>
        <p:nvSpPr>
          <p:cNvPr id="63" name="Shape 61"/>
          <p:cNvSpPr/>
          <p:nvPr/>
        </p:nvSpPr>
        <p:spPr>
          <a:xfrm>
            <a:off x="6544883" y="1913496"/>
            <a:ext cx="20437" cy="20437"/>
          </a:xfrm>
          <a:prstGeom prst="ellipse">
            <a:avLst/>
          </a:prstGeom>
          <a:solidFill>
            <a:srgbClr val="FFFFFF">
              <a:alpha val="36889"/>
            </a:srgbClr>
          </a:solidFill>
          <a:ln/>
        </p:spPr>
      </p:sp>
      <p:sp>
        <p:nvSpPr>
          <p:cNvPr id="64" name="Shape 62"/>
          <p:cNvSpPr/>
          <p:nvPr/>
        </p:nvSpPr>
        <p:spPr>
          <a:xfrm>
            <a:off x="8929497" y="3374819"/>
            <a:ext cx="17280" cy="17280"/>
          </a:xfrm>
          <a:prstGeom prst="ellipse">
            <a:avLst/>
          </a:prstGeom>
          <a:solidFill>
            <a:srgbClr val="FFFFFF">
              <a:alpha val="23021"/>
            </a:srgbClr>
          </a:solidFill>
          <a:ln/>
        </p:spPr>
      </p:sp>
      <p:sp>
        <p:nvSpPr>
          <p:cNvPr id="65" name="Shape 63"/>
          <p:cNvSpPr/>
          <p:nvPr/>
        </p:nvSpPr>
        <p:spPr>
          <a:xfrm>
            <a:off x="10812395" y="6501253"/>
            <a:ext cx="21460" cy="21460"/>
          </a:xfrm>
          <a:prstGeom prst="ellipse">
            <a:avLst/>
          </a:prstGeom>
          <a:solidFill>
            <a:srgbClr val="FFFFFF">
              <a:alpha val="11891"/>
            </a:srgbClr>
          </a:solidFill>
          <a:ln/>
        </p:spPr>
      </p:sp>
      <p:sp>
        <p:nvSpPr>
          <p:cNvPr id="66" name="Shape 64"/>
          <p:cNvSpPr/>
          <p:nvPr/>
        </p:nvSpPr>
        <p:spPr>
          <a:xfrm>
            <a:off x="9785341" y="2826132"/>
            <a:ext cx="13335" cy="13335"/>
          </a:xfrm>
          <a:prstGeom prst="ellipse">
            <a:avLst/>
          </a:prstGeom>
          <a:solidFill>
            <a:srgbClr val="FFFFFF">
              <a:alpha val="37632"/>
            </a:srgbClr>
          </a:solidFill>
          <a:ln/>
        </p:spPr>
      </p:sp>
      <p:sp>
        <p:nvSpPr>
          <p:cNvPr id="67" name="Shape 65"/>
          <p:cNvSpPr/>
          <p:nvPr/>
        </p:nvSpPr>
        <p:spPr>
          <a:xfrm>
            <a:off x="1633921" y="4964789"/>
            <a:ext cx="27111" cy="27111"/>
          </a:xfrm>
          <a:prstGeom prst="ellipse">
            <a:avLst/>
          </a:prstGeom>
          <a:solidFill>
            <a:srgbClr val="FFFFFF">
              <a:alpha val="11234"/>
            </a:srgbClr>
          </a:solidFill>
          <a:ln/>
        </p:spPr>
      </p:sp>
      <p:sp>
        <p:nvSpPr>
          <p:cNvPr id="68" name="Shape 66"/>
          <p:cNvSpPr/>
          <p:nvPr/>
        </p:nvSpPr>
        <p:spPr>
          <a:xfrm>
            <a:off x="3366304" y="2418556"/>
            <a:ext cx="19776" cy="19776"/>
          </a:xfrm>
          <a:prstGeom prst="ellipse">
            <a:avLst/>
          </a:prstGeom>
          <a:solidFill>
            <a:srgbClr val="FFFFFF">
              <a:alpha val="39424"/>
            </a:srgbClr>
          </a:solidFill>
          <a:ln/>
        </p:spPr>
      </p:sp>
      <p:sp>
        <p:nvSpPr>
          <p:cNvPr id="69" name="Shape 67"/>
          <p:cNvSpPr/>
          <p:nvPr/>
        </p:nvSpPr>
        <p:spPr>
          <a:xfrm>
            <a:off x="11219621" y="4246768"/>
            <a:ext cx="32649" cy="32649"/>
          </a:xfrm>
          <a:prstGeom prst="ellipse">
            <a:avLst/>
          </a:prstGeom>
          <a:solidFill>
            <a:srgbClr val="FFFFFF">
              <a:alpha val="20228"/>
            </a:srgbClr>
          </a:solidFill>
          <a:ln/>
        </p:spPr>
      </p:sp>
      <p:sp>
        <p:nvSpPr>
          <p:cNvPr id="70" name="Shape 68"/>
          <p:cNvSpPr/>
          <p:nvPr/>
        </p:nvSpPr>
        <p:spPr>
          <a:xfrm>
            <a:off x="3369231" y="4014758"/>
            <a:ext cx="14590" cy="14590"/>
          </a:xfrm>
          <a:prstGeom prst="ellipse">
            <a:avLst/>
          </a:prstGeom>
          <a:solidFill>
            <a:srgbClr val="FFFFFF">
              <a:alpha val="20187"/>
            </a:srgbClr>
          </a:solidFill>
          <a:ln/>
        </p:spPr>
      </p:sp>
      <p:sp>
        <p:nvSpPr>
          <p:cNvPr id="71" name="Shape 69"/>
          <p:cNvSpPr/>
          <p:nvPr/>
        </p:nvSpPr>
        <p:spPr>
          <a:xfrm>
            <a:off x="11724263" y="4177859"/>
            <a:ext cx="20125" cy="20125"/>
          </a:xfrm>
          <a:prstGeom prst="ellipse">
            <a:avLst/>
          </a:prstGeom>
          <a:solidFill>
            <a:srgbClr val="FFFFFF">
              <a:alpha val="33254"/>
            </a:srgbClr>
          </a:solidFill>
          <a:ln/>
        </p:spPr>
      </p:sp>
      <p:sp>
        <p:nvSpPr>
          <p:cNvPr id="72" name="Text 70"/>
          <p:cNvSpPr/>
          <p:nvPr/>
        </p:nvSpPr>
        <p:spPr>
          <a:xfrm>
            <a:off x="640080" y="457200"/>
            <a:ext cx="10972800" cy="320040"/>
          </a:xfrm>
          <a:prstGeom prst="rect">
            <a:avLst/>
          </a:prstGeom>
          <a:noFill/>
          <a:ln/>
        </p:spPr>
        <p:txBody>
          <a:bodyPr wrap="square" lIns="0" tIns="0" rIns="0" bIns="0" rtlCol="0" anchor="ctr"/>
          <a:lstStyle/>
          <a:p>
            <a:pPr indent="0" marL="0">
              <a:buNone/>
            </a:pPr>
            <a:r>
              <a:rPr lang="en-US" sz="1250" b="1" spc="300" kern="0" dirty="0">
                <a:solidFill>
                  <a:srgbClr val="E8B54D"/>
                </a:solidFill>
                <a:latin typeface="Calibri" pitchFamily="34" charset="0"/>
                <a:ea typeface="Calibri" pitchFamily="34" charset="-122"/>
                <a:cs typeface="Calibri" pitchFamily="34" charset="-120"/>
              </a:rPr>
              <a:t>THE MISSING PIECE · ADDED TO THE THESIS</a:t>
            </a:r>
            <a:endParaRPr lang="en-US" sz="1250" dirty="0"/>
          </a:p>
        </p:txBody>
      </p:sp>
      <p:sp>
        <p:nvSpPr>
          <p:cNvPr id="73" name="Text 71"/>
          <p:cNvSpPr/>
          <p:nvPr/>
        </p:nvSpPr>
        <p:spPr>
          <a:xfrm>
            <a:off x="640080" y="1828800"/>
            <a:ext cx="10972800" cy="914400"/>
          </a:xfrm>
          <a:prstGeom prst="rect">
            <a:avLst/>
          </a:prstGeom>
          <a:noFill/>
          <a:ln/>
        </p:spPr>
        <p:txBody>
          <a:bodyPr wrap="square" lIns="0" tIns="0" rIns="0" bIns="0" rtlCol="0" anchor="ctr"/>
          <a:lstStyle/>
          <a:p>
            <a:pPr indent="0" marL="0">
              <a:buNone/>
            </a:pPr>
            <a:r>
              <a:rPr lang="en-US" sz="4400" b="1" dirty="0">
                <a:solidFill>
                  <a:srgbClr val="F5F7FF"/>
                </a:solidFill>
                <a:latin typeface="Cambria" pitchFamily="34" charset="0"/>
                <a:ea typeface="Cambria" pitchFamily="34" charset="-122"/>
                <a:cs typeface="Cambria" pitchFamily="34" charset="-120"/>
              </a:rPr>
              <a:t>The Space Difference Factor</a:t>
            </a:r>
            <a:endParaRPr lang="en-US" sz="4400" dirty="0"/>
          </a:p>
        </p:txBody>
      </p:sp>
      <p:sp>
        <p:nvSpPr>
          <p:cNvPr id="74" name="Text 72"/>
          <p:cNvSpPr/>
          <p:nvPr/>
        </p:nvSpPr>
        <p:spPr>
          <a:xfrm>
            <a:off x="640080" y="2788920"/>
            <a:ext cx="10515600" cy="548640"/>
          </a:xfrm>
          <a:prstGeom prst="rect">
            <a:avLst/>
          </a:prstGeom>
          <a:noFill/>
          <a:ln/>
        </p:spPr>
        <p:txBody>
          <a:bodyPr wrap="square" lIns="0" tIns="0" rIns="0" bIns="0" rtlCol="0" anchor="ctr"/>
          <a:lstStyle/>
          <a:p>
            <a:pPr indent="0" marL="0">
              <a:buNone/>
            </a:pPr>
            <a:r>
              <a:rPr lang="en-US" sz="1700" dirty="0">
                <a:solidFill>
                  <a:srgbClr val="9AA4C7"/>
                </a:solidFill>
                <a:latin typeface="Calibri" pitchFamily="34" charset="0"/>
                <a:ea typeface="Calibri" pitchFamily="34" charset="-122"/>
                <a:cs typeface="Calibri" pitchFamily="34" charset="-120"/>
              </a:rPr>
              <a:t>What happens when the numbers aren’t consecutive — 2, 4, 6, 8 instead of 1, 2, 3, 4?</a:t>
            </a:r>
            <a:endParaRPr lang="en-US" sz="1700" dirty="0"/>
          </a:p>
        </p:txBody>
      </p:sp>
      <p:sp>
        <p:nvSpPr>
          <p:cNvPr id="75" name="Shape 73"/>
          <p:cNvSpPr/>
          <p:nvPr/>
        </p:nvSpPr>
        <p:spPr>
          <a:xfrm>
            <a:off x="640080" y="3611880"/>
            <a:ext cx="10881360" cy="1600200"/>
          </a:xfrm>
          <a:prstGeom prst="roundRect">
            <a:avLst>
              <a:gd name="adj" fmla="val 5143"/>
            </a:avLst>
          </a:prstGeom>
          <a:solidFill>
            <a:srgbClr val="141A33"/>
          </a:solidFill>
          <a:ln w="12700">
            <a:solidFill>
              <a:srgbClr val="2A3358"/>
            </a:solidFill>
            <a:prstDash val="solid"/>
          </a:ln>
          <a:effectLst>
            <a:outerShdw sx="100000" sy="100000" kx="0" ky="0" algn="bl" rotWithShape="0" blurRad="114300" dist="38100" dir="5400000">
              <a:srgbClr val="000000">
                <a:alpha val="35000"/>
              </a:srgbClr>
            </a:outerShdw>
          </a:effectLst>
        </p:spPr>
      </p:sp>
      <p:sp>
        <p:nvSpPr>
          <p:cNvPr id="76" name="Text 74"/>
          <p:cNvSpPr/>
          <p:nvPr/>
        </p:nvSpPr>
        <p:spPr>
          <a:xfrm>
            <a:off x="1005840" y="3794760"/>
            <a:ext cx="10149840" cy="457200"/>
          </a:xfrm>
          <a:prstGeom prst="rect">
            <a:avLst/>
          </a:prstGeom>
          <a:noFill/>
          <a:ln/>
        </p:spPr>
        <p:txBody>
          <a:bodyPr wrap="square" lIns="0" tIns="0" rIns="0" bIns="0" rtlCol="0" anchor="ctr"/>
          <a:lstStyle/>
          <a:p>
            <a:pPr indent="0" marL="0">
              <a:buNone/>
            </a:pPr>
            <a:r>
              <a:rPr lang="en-US" sz="1400" i="1" dirty="0">
                <a:solidFill>
                  <a:srgbClr val="4FD1E0"/>
                </a:solidFill>
                <a:latin typeface="Calibri" pitchFamily="34" charset="0"/>
                <a:ea typeface="Calibri" pitchFamily="34" charset="-122"/>
                <a:cs typeface="Calibri" pitchFamily="34" charset="-120"/>
              </a:rPr>
              <a:t>The whole framework survives — the gap enters as a single multiplier</a:t>
            </a:r>
            <a:endParaRPr lang="en-US" sz="1400" dirty="0"/>
          </a:p>
        </p:txBody>
      </p:sp>
      <p:sp>
        <p:nvSpPr>
          <p:cNvPr id="77" name="Text 75"/>
          <p:cNvSpPr/>
          <p:nvPr/>
        </p:nvSpPr>
        <p:spPr>
          <a:xfrm>
            <a:off x="1005840" y="4251960"/>
            <a:ext cx="10149840" cy="777240"/>
          </a:xfrm>
          <a:prstGeom prst="rect">
            <a:avLst/>
          </a:prstGeom>
          <a:noFill/>
          <a:ln/>
        </p:spPr>
        <p:txBody>
          <a:bodyPr wrap="square" lIns="0" tIns="0" rIns="0" bIns="0" rtlCol="0" anchor="ctr"/>
          <a:lstStyle/>
          <a:p>
            <a:pPr algn="ctr" indent="0" marL="0">
              <a:buNone/>
            </a:pPr>
            <a:r>
              <a:rPr lang="en-US" sz="3000" b="1" dirty="0">
                <a:solidFill>
                  <a:srgbClr val="E8B54D"/>
                </a:solidFill>
                <a:latin typeface="Cambria" pitchFamily="34" charset="0"/>
                <a:ea typeface="Cambria" pitchFamily="34" charset="-122"/>
                <a:cs typeface="Cambria" pitchFamily="34" charset="-120"/>
              </a:rPr>
              <a:t>Dᵈ</a:t>
            </a:r>
            <a:pPr algn="ctr" indent="0" marL="0">
              <a:buNone/>
            </a:pPr>
            <a:r>
              <a:rPr lang="en-US" sz="3000" b="1" dirty="0">
                <a:solidFill>
                  <a:srgbClr val="F5F7FF"/>
                </a:solidFill>
                <a:latin typeface="Cambria" pitchFamily="34" charset="0"/>
                <a:ea typeface="Cambria" pitchFamily="34" charset="-122"/>
                <a:cs typeface="Cambria" pitchFamily="34" charset="-120"/>
              </a:rPr>
              <a:t>(spacing s)  =  </a:t>
            </a:r>
            <a:pPr algn="ctr" indent="0" marL="0">
              <a:buNone/>
            </a:pPr>
            <a:r>
              <a:rPr lang="en-US" sz="3000" b="1" dirty="0">
                <a:solidFill>
                  <a:srgbClr val="4FD1E0"/>
                </a:solidFill>
                <a:latin typeface="Cambria" pitchFamily="34" charset="0"/>
                <a:ea typeface="Cambria" pitchFamily="34" charset="-122"/>
                <a:cs typeface="Cambria" pitchFamily="34" charset="-120"/>
              </a:rPr>
              <a:t>sᵈ</a:t>
            </a:r>
            <a:pPr algn="ctr" indent="0" marL="0">
              <a:buNone/>
            </a:pPr>
            <a:r>
              <a:rPr lang="en-US" sz="3000" b="1" dirty="0">
                <a:solidFill>
                  <a:srgbClr val="9AA4C7"/>
                </a:solidFill>
                <a:latin typeface="Cambria" pitchFamily="34" charset="0"/>
                <a:ea typeface="Cambria" pitchFamily="34" charset="-122"/>
                <a:cs typeface="Cambria" pitchFamily="34" charset="-120"/>
              </a:rPr>
              <a:t>  ×  </a:t>
            </a:r>
            <a:pPr algn="ctr" indent="0" marL="0">
              <a:buNone/>
            </a:pPr>
            <a:r>
              <a:rPr lang="en-US" sz="3000" b="1" dirty="0">
                <a:solidFill>
                  <a:srgbClr val="E8B54D"/>
                </a:solidFill>
                <a:latin typeface="Cambria" pitchFamily="34" charset="0"/>
                <a:ea typeface="Cambria" pitchFamily="34" charset="-122"/>
                <a:cs typeface="Cambria" pitchFamily="34" charset="-120"/>
              </a:rPr>
              <a:t>Dᵈ</a:t>
            </a:r>
            <a:pPr algn="ctr" indent="0" marL="0">
              <a:buNone/>
            </a:pPr>
            <a:r>
              <a:rPr lang="en-US" sz="3000" b="1" dirty="0">
                <a:solidFill>
                  <a:srgbClr val="F5F7FF"/>
                </a:solidFill>
                <a:latin typeface="Cambria" pitchFamily="34" charset="0"/>
                <a:ea typeface="Cambria" pitchFamily="34" charset="-122"/>
                <a:cs typeface="Cambria" pitchFamily="34" charset="-120"/>
              </a:rPr>
              <a:t>(spacing 1)</a:t>
            </a:r>
            <a:endParaRPr lang="en-US" sz="3000" dirty="0"/>
          </a:p>
        </p:txBody>
      </p:sp>
      <p:sp>
        <p:nvSpPr>
          <p:cNvPr id="78" name="Text 76"/>
          <p:cNvSpPr/>
          <p:nvPr/>
        </p:nvSpPr>
        <p:spPr>
          <a:xfrm>
            <a:off x="11475720" y="6355080"/>
            <a:ext cx="502920" cy="320040"/>
          </a:xfrm>
          <a:prstGeom prst="rect">
            <a:avLst/>
          </a:prstGeom>
          <a:noFill/>
          <a:ln/>
        </p:spPr>
        <p:txBody>
          <a:bodyPr wrap="square" lIns="0" tIns="0" rIns="0" bIns="0" rtlCol="0" anchor="ctr"/>
          <a:lstStyle/>
          <a:p>
            <a:pPr algn="r" indent="0" marL="0">
              <a:buNone/>
            </a:pPr>
            <a:r>
              <a:rPr lang="en-US" sz="1100" dirty="0">
                <a:solidFill>
                  <a:srgbClr val="9AA4C7"/>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B1A"/>
        </a:solidFill>
      </p:bgPr>
    </p:bg>
    <p:spTree>
      <p:nvGrpSpPr>
        <p:cNvPr id="1" name=""/>
        <p:cNvGrpSpPr/>
        <p:nvPr/>
      </p:nvGrpSpPr>
      <p:grpSpPr>
        <a:xfrm>
          <a:off x="0" y="0"/>
          <a:ext cx="0" cy="0"/>
          <a:chOff x="0" y="0"/>
          <a:chExt cx="0" cy="0"/>
        </a:xfrm>
      </p:grpSpPr>
      <p:sp>
        <p:nvSpPr>
          <p:cNvPr id="2" name="Shape 0"/>
          <p:cNvSpPr/>
          <p:nvPr/>
        </p:nvSpPr>
        <p:spPr>
          <a:xfrm>
            <a:off x="5978990" y="3845895"/>
            <a:ext cx="14141" cy="14141"/>
          </a:xfrm>
          <a:prstGeom prst="ellipse">
            <a:avLst/>
          </a:prstGeom>
          <a:solidFill>
            <a:srgbClr val="FFFFFF">
              <a:alpha val="36461"/>
            </a:srgbClr>
          </a:solidFill>
          <a:ln/>
        </p:spPr>
      </p:sp>
      <p:sp>
        <p:nvSpPr>
          <p:cNvPr id="3" name="Shape 1"/>
          <p:cNvSpPr/>
          <p:nvPr/>
        </p:nvSpPr>
        <p:spPr>
          <a:xfrm>
            <a:off x="5403480" y="3472774"/>
            <a:ext cx="13128" cy="13128"/>
          </a:xfrm>
          <a:prstGeom prst="ellipse">
            <a:avLst/>
          </a:prstGeom>
          <a:solidFill>
            <a:srgbClr val="FFFFFF">
              <a:alpha val="14240"/>
            </a:srgbClr>
          </a:solidFill>
          <a:ln/>
        </p:spPr>
      </p:sp>
      <p:sp>
        <p:nvSpPr>
          <p:cNvPr id="4" name="Shape 2"/>
          <p:cNvSpPr/>
          <p:nvPr/>
        </p:nvSpPr>
        <p:spPr>
          <a:xfrm>
            <a:off x="7186034" y="2817430"/>
            <a:ext cx="18776" cy="18776"/>
          </a:xfrm>
          <a:prstGeom prst="ellipse">
            <a:avLst/>
          </a:prstGeom>
          <a:solidFill>
            <a:srgbClr val="FFFFFF">
              <a:alpha val="17656"/>
            </a:srgbClr>
          </a:solidFill>
          <a:ln/>
        </p:spPr>
      </p:sp>
      <p:sp>
        <p:nvSpPr>
          <p:cNvPr id="5" name="Shape 3"/>
          <p:cNvSpPr/>
          <p:nvPr/>
        </p:nvSpPr>
        <p:spPr>
          <a:xfrm>
            <a:off x="8015329" y="525198"/>
            <a:ext cx="24649" cy="24649"/>
          </a:xfrm>
          <a:prstGeom prst="ellipse">
            <a:avLst/>
          </a:prstGeom>
          <a:solidFill>
            <a:srgbClr val="FFFFFF">
              <a:alpha val="36772"/>
            </a:srgbClr>
          </a:solidFill>
          <a:ln/>
        </p:spPr>
      </p:sp>
      <p:sp>
        <p:nvSpPr>
          <p:cNvPr id="6" name="Shape 4"/>
          <p:cNvSpPr/>
          <p:nvPr/>
        </p:nvSpPr>
        <p:spPr>
          <a:xfrm>
            <a:off x="8192393" y="1083410"/>
            <a:ext cx="26346" cy="26346"/>
          </a:xfrm>
          <a:prstGeom prst="ellipse">
            <a:avLst/>
          </a:prstGeom>
          <a:solidFill>
            <a:srgbClr val="FFFFFF">
              <a:alpha val="27946"/>
            </a:srgbClr>
          </a:solidFill>
          <a:ln/>
        </p:spPr>
      </p:sp>
      <p:sp>
        <p:nvSpPr>
          <p:cNvPr id="7" name="Shape 5"/>
          <p:cNvSpPr/>
          <p:nvPr/>
        </p:nvSpPr>
        <p:spPr>
          <a:xfrm>
            <a:off x="2148180" y="343400"/>
            <a:ext cx="36735" cy="36735"/>
          </a:xfrm>
          <a:prstGeom prst="ellipse">
            <a:avLst/>
          </a:prstGeom>
          <a:solidFill>
            <a:srgbClr val="FFFFFF">
              <a:alpha val="11054"/>
            </a:srgbClr>
          </a:solidFill>
          <a:ln/>
        </p:spPr>
      </p:sp>
      <p:sp>
        <p:nvSpPr>
          <p:cNvPr id="8" name="Shape 6"/>
          <p:cNvSpPr/>
          <p:nvPr/>
        </p:nvSpPr>
        <p:spPr>
          <a:xfrm>
            <a:off x="1472327" y="3046501"/>
            <a:ext cx="37190" cy="37190"/>
          </a:xfrm>
          <a:prstGeom prst="ellipse">
            <a:avLst/>
          </a:prstGeom>
          <a:solidFill>
            <a:srgbClr val="FFFFFF">
              <a:alpha val="38380"/>
            </a:srgbClr>
          </a:solidFill>
          <a:ln/>
        </p:spPr>
      </p:sp>
      <p:sp>
        <p:nvSpPr>
          <p:cNvPr id="9" name="Shape 7"/>
          <p:cNvSpPr/>
          <p:nvPr/>
        </p:nvSpPr>
        <p:spPr>
          <a:xfrm>
            <a:off x="5111230" y="3774046"/>
            <a:ext cx="29404" cy="29404"/>
          </a:xfrm>
          <a:prstGeom prst="ellipse">
            <a:avLst/>
          </a:prstGeom>
          <a:solidFill>
            <a:srgbClr val="FFFFFF">
              <a:alpha val="35171"/>
            </a:srgbClr>
          </a:solidFill>
          <a:ln/>
        </p:spPr>
      </p:sp>
      <p:sp>
        <p:nvSpPr>
          <p:cNvPr id="10" name="Shape 8"/>
          <p:cNvSpPr/>
          <p:nvPr/>
        </p:nvSpPr>
        <p:spPr>
          <a:xfrm>
            <a:off x="2077313" y="6759369"/>
            <a:ext cx="23198" cy="23198"/>
          </a:xfrm>
          <a:prstGeom prst="ellipse">
            <a:avLst/>
          </a:prstGeom>
          <a:solidFill>
            <a:srgbClr val="FFFFFF">
              <a:alpha val="36859"/>
            </a:srgbClr>
          </a:solidFill>
          <a:ln/>
        </p:spPr>
      </p:sp>
      <p:sp>
        <p:nvSpPr>
          <p:cNvPr id="11" name="Shape 9"/>
          <p:cNvSpPr/>
          <p:nvPr/>
        </p:nvSpPr>
        <p:spPr>
          <a:xfrm>
            <a:off x="6669476" y="2265803"/>
            <a:ext cx="15186" cy="15186"/>
          </a:xfrm>
          <a:prstGeom prst="ellipse">
            <a:avLst/>
          </a:prstGeom>
          <a:solidFill>
            <a:srgbClr val="FFFFFF">
              <a:alpha val="17951"/>
            </a:srgbClr>
          </a:solidFill>
          <a:ln/>
        </p:spPr>
      </p:sp>
      <p:sp>
        <p:nvSpPr>
          <p:cNvPr id="12" name="Shape 10"/>
          <p:cNvSpPr/>
          <p:nvPr/>
        </p:nvSpPr>
        <p:spPr>
          <a:xfrm>
            <a:off x="4287789" y="2400682"/>
            <a:ext cx="13157" cy="13157"/>
          </a:xfrm>
          <a:prstGeom prst="ellipse">
            <a:avLst/>
          </a:prstGeom>
          <a:solidFill>
            <a:srgbClr val="FFFFFF">
              <a:alpha val="12581"/>
            </a:srgbClr>
          </a:solidFill>
          <a:ln/>
        </p:spPr>
      </p:sp>
      <p:sp>
        <p:nvSpPr>
          <p:cNvPr id="13" name="Shape 11"/>
          <p:cNvSpPr/>
          <p:nvPr/>
        </p:nvSpPr>
        <p:spPr>
          <a:xfrm>
            <a:off x="2909534" y="6063339"/>
            <a:ext cx="23885" cy="23885"/>
          </a:xfrm>
          <a:prstGeom prst="ellipse">
            <a:avLst/>
          </a:prstGeom>
          <a:solidFill>
            <a:srgbClr val="FFFFFF">
              <a:alpha val="36739"/>
            </a:srgbClr>
          </a:solidFill>
          <a:ln/>
        </p:spPr>
      </p:sp>
      <p:sp>
        <p:nvSpPr>
          <p:cNvPr id="14" name="Shape 12"/>
          <p:cNvSpPr/>
          <p:nvPr/>
        </p:nvSpPr>
        <p:spPr>
          <a:xfrm>
            <a:off x="7351182" y="2755106"/>
            <a:ext cx="31791" cy="31791"/>
          </a:xfrm>
          <a:prstGeom prst="ellipse">
            <a:avLst/>
          </a:prstGeom>
          <a:solidFill>
            <a:srgbClr val="FFFFFF">
              <a:alpha val="22151"/>
            </a:srgbClr>
          </a:solidFill>
          <a:ln/>
        </p:spPr>
      </p:sp>
      <p:sp>
        <p:nvSpPr>
          <p:cNvPr id="15" name="Shape 13"/>
          <p:cNvSpPr/>
          <p:nvPr/>
        </p:nvSpPr>
        <p:spPr>
          <a:xfrm>
            <a:off x="1658171" y="1535318"/>
            <a:ext cx="23327" cy="23327"/>
          </a:xfrm>
          <a:prstGeom prst="ellipse">
            <a:avLst/>
          </a:prstGeom>
          <a:solidFill>
            <a:srgbClr val="FFFFFF">
              <a:alpha val="41843"/>
            </a:srgbClr>
          </a:solidFill>
          <a:ln/>
        </p:spPr>
      </p:sp>
      <p:sp>
        <p:nvSpPr>
          <p:cNvPr id="16" name="Shape 14"/>
          <p:cNvSpPr/>
          <p:nvPr/>
        </p:nvSpPr>
        <p:spPr>
          <a:xfrm>
            <a:off x="580945" y="2827308"/>
            <a:ext cx="29652" cy="29652"/>
          </a:xfrm>
          <a:prstGeom prst="ellipse">
            <a:avLst/>
          </a:prstGeom>
          <a:solidFill>
            <a:srgbClr val="FFFFFF">
              <a:alpha val="22359"/>
            </a:srgbClr>
          </a:solidFill>
          <a:ln/>
        </p:spPr>
      </p:sp>
      <p:sp>
        <p:nvSpPr>
          <p:cNvPr id="17" name="Shape 15"/>
          <p:cNvSpPr/>
          <p:nvPr/>
        </p:nvSpPr>
        <p:spPr>
          <a:xfrm>
            <a:off x="11645243" y="2228409"/>
            <a:ext cx="22995" cy="22995"/>
          </a:xfrm>
          <a:prstGeom prst="ellipse">
            <a:avLst/>
          </a:prstGeom>
          <a:solidFill>
            <a:srgbClr val="FFFFFF">
              <a:alpha val="27648"/>
            </a:srgbClr>
          </a:solidFill>
          <a:ln/>
        </p:spPr>
      </p:sp>
      <p:sp>
        <p:nvSpPr>
          <p:cNvPr id="18" name="Shape 16"/>
          <p:cNvSpPr/>
          <p:nvPr/>
        </p:nvSpPr>
        <p:spPr>
          <a:xfrm>
            <a:off x="5350172" y="5749954"/>
            <a:ext cx="23337" cy="23337"/>
          </a:xfrm>
          <a:prstGeom prst="ellipse">
            <a:avLst/>
          </a:prstGeom>
          <a:solidFill>
            <a:srgbClr val="FFFFFF">
              <a:alpha val="29624"/>
            </a:srgbClr>
          </a:solidFill>
          <a:ln/>
        </p:spPr>
      </p:sp>
      <p:sp>
        <p:nvSpPr>
          <p:cNvPr id="19" name="Shape 17"/>
          <p:cNvSpPr/>
          <p:nvPr/>
        </p:nvSpPr>
        <p:spPr>
          <a:xfrm>
            <a:off x="3219343" y="1623278"/>
            <a:ext cx="31356" cy="31356"/>
          </a:xfrm>
          <a:prstGeom prst="ellipse">
            <a:avLst/>
          </a:prstGeom>
          <a:solidFill>
            <a:srgbClr val="FFFFFF">
              <a:alpha val="40386"/>
            </a:srgbClr>
          </a:solidFill>
          <a:ln/>
        </p:spPr>
      </p:sp>
      <p:sp>
        <p:nvSpPr>
          <p:cNvPr id="20" name="Shape 18"/>
          <p:cNvSpPr/>
          <p:nvPr/>
        </p:nvSpPr>
        <p:spPr>
          <a:xfrm>
            <a:off x="3296064" y="5257712"/>
            <a:ext cx="34520" cy="34520"/>
          </a:xfrm>
          <a:prstGeom prst="ellipse">
            <a:avLst/>
          </a:prstGeom>
          <a:solidFill>
            <a:srgbClr val="FFFFFF">
              <a:alpha val="11107"/>
            </a:srgbClr>
          </a:solidFill>
          <a:ln/>
        </p:spPr>
      </p:sp>
      <p:sp>
        <p:nvSpPr>
          <p:cNvPr id="21" name="Shape 19"/>
          <p:cNvSpPr/>
          <p:nvPr/>
        </p:nvSpPr>
        <p:spPr>
          <a:xfrm>
            <a:off x="11299895" y="5900591"/>
            <a:ext cx="31475" cy="31475"/>
          </a:xfrm>
          <a:prstGeom prst="ellipse">
            <a:avLst/>
          </a:prstGeom>
          <a:solidFill>
            <a:srgbClr val="FFFFFF">
              <a:alpha val="22590"/>
            </a:srgbClr>
          </a:solidFill>
          <a:ln/>
        </p:spPr>
      </p:sp>
      <p:sp>
        <p:nvSpPr>
          <p:cNvPr id="22" name="Shape 20"/>
          <p:cNvSpPr/>
          <p:nvPr/>
        </p:nvSpPr>
        <p:spPr>
          <a:xfrm>
            <a:off x="6760830" y="165247"/>
            <a:ext cx="19851" cy="19851"/>
          </a:xfrm>
          <a:prstGeom prst="ellipse">
            <a:avLst/>
          </a:prstGeom>
          <a:solidFill>
            <a:srgbClr val="FFFFFF">
              <a:alpha val="32488"/>
            </a:srgbClr>
          </a:solidFill>
          <a:ln/>
        </p:spPr>
      </p:sp>
      <p:sp>
        <p:nvSpPr>
          <p:cNvPr id="23" name="Shape 21"/>
          <p:cNvSpPr/>
          <p:nvPr/>
        </p:nvSpPr>
        <p:spPr>
          <a:xfrm>
            <a:off x="2623138" y="2699015"/>
            <a:ext cx="29788" cy="29788"/>
          </a:xfrm>
          <a:prstGeom prst="ellipse">
            <a:avLst/>
          </a:prstGeom>
          <a:solidFill>
            <a:srgbClr val="FFFFFF">
              <a:alpha val="19197"/>
            </a:srgbClr>
          </a:solidFill>
          <a:ln/>
        </p:spPr>
      </p:sp>
      <p:sp>
        <p:nvSpPr>
          <p:cNvPr id="24" name="Shape 22"/>
          <p:cNvSpPr/>
          <p:nvPr/>
        </p:nvSpPr>
        <p:spPr>
          <a:xfrm>
            <a:off x="3251746" y="6559227"/>
            <a:ext cx="11165" cy="11165"/>
          </a:xfrm>
          <a:prstGeom prst="ellipse">
            <a:avLst/>
          </a:prstGeom>
          <a:solidFill>
            <a:srgbClr val="FFFFFF">
              <a:alpha val="32407"/>
            </a:srgbClr>
          </a:solidFill>
          <a:ln/>
        </p:spPr>
      </p:sp>
      <p:sp>
        <p:nvSpPr>
          <p:cNvPr id="25" name="Shape 23"/>
          <p:cNvSpPr/>
          <p:nvPr/>
        </p:nvSpPr>
        <p:spPr>
          <a:xfrm>
            <a:off x="7141507" y="3025216"/>
            <a:ext cx="13426" cy="13426"/>
          </a:xfrm>
          <a:prstGeom prst="ellipse">
            <a:avLst/>
          </a:prstGeom>
          <a:solidFill>
            <a:srgbClr val="FFFFFF">
              <a:alpha val="10330"/>
            </a:srgbClr>
          </a:solidFill>
          <a:ln/>
        </p:spPr>
      </p:sp>
      <p:sp>
        <p:nvSpPr>
          <p:cNvPr id="26" name="Shape 24"/>
          <p:cNvSpPr/>
          <p:nvPr/>
        </p:nvSpPr>
        <p:spPr>
          <a:xfrm>
            <a:off x="5562565" y="5982317"/>
            <a:ext cx="27089" cy="27089"/>
          </a:xfrm>
          <a:prstGeom prst="ellipse">
            <a:avLst/>
          </a:prstGeom>
          <a:solidFill>
            <a:srgbClr val="FFFFFF">
              <a:alpha val="28582"/>
            </a:srgbClr>
          </a:solidFill>
          <a:ln/>
        </p:spPr>
      </p:sp>
      <p:sp>
        <p:nvSpPr>
          <p:cNvPr id="27" name="Shape 25"/>
          <p:cNvSpPr/>
          <p:nvPr/>
        </p:nvSpPr>
        <p:spPr>
          <a:xfrm>
            <a:off x="1525216" y="5439863"/>
            <a:ext cx="35559" cy="35559"/>
          </a:xfrm>
          <a:prstGeom prst="ellipse">
            <a:avLst/>
          </a:prstGeom>
          <a:solidFill>
            <a:srgbClr val="FFFFFF">
              <a:alpha val="35744"/>
            </a:srgbClr>
          </a:solidFill>
          <a:ln/>
        </p:spPr>
      </p:sp>
      <p:sp>
        <p:nvSpPr>
          <p:cNvPr id="28" name="Shape 26"/>
          <p:cNvSpPr/>
          <p:nvPr/>
        </p:nvSpPr>
        <p:spPr>
          <a:xfrm>
            <a:off x="297476" y="1059186"/>
            <a:ext cx="30369" cy="30369"/>
          </a:xfrm>
          <a:prstGeom prst="ellipse">
            <a:avLst/>
          </a:prstGeom>
          <a:solidFill>
            <a:srgbClr val="FFFFFF">
              <a:alpha val="20580"/>
            </a:srgbClr>
          </a:solidFill>
          <a:ln/>
        </p:spPr>
      </p:sp>
      <p:sp>
        <p:nvSpPr>
          <p:cNvPr id="29" name="Shape 27"/>
          <p:cNvSpPr/>
          <p:nvPr/>
        </p:nvSpPr>
        <p:spPr>
          <a:xfrm>
            <a:off x="8050449" y="5963620"/>
            <a:ext cx="17277" cy="17277"/>
          </a:xfrm>
          <a:prstGeom prst="ellipse">
            <a:avLst/>
          </a:prstGeom>
          <a:solidFill>
            <a:srgbClr val="FFFFFF">
              <a:alpha val="15931"/>
            </a:srgbClr>
          </a:solidFill>
          <a:ln/>
        </p:spPr>
      </p:sp>
      <p:sp>
        <p:nvSpPr>
          <p:cNvPr id="30" name="Shape 28"/>
          <p:cNvSpPr/>
          <p:nvPr/>
        </p:nvSpPr>
        <p:spPr>
          <a:xfrm>
            <a:off x="2056408" y="256499"/>
            <a:ext cx="13217" cy="13217"/>
          </a:xfrm>
          <a:prstGeom prst="ellipse">
            <a:avLst/>
          </a:prstGeom>
          <a:solidFill>
            <a:srgbClr val="FFFFFF">
              <a:alpha val="44265"/>
            </a:srgbClr>
          </a:solidFill>
          <a:ln/>
        </p:spPr>
      </p:sp>
      <p:sp>
        <p:nvSpPr>
          <p:cNvPr id="31" name="Shape 29"/>
          <p:cNvSpPr/>
          <p:nvPr/>
        </p:nvSpPr>
        <p:spPr>
          <a:xfrm>
            <a:off x="6548228" y="5697155"/>
            <a:ext cx="34104" cy="34104"/>
          </a:xfrm>
          <a:prstGeom prst="ellipse">
            <a:avLst/>
          </a:prstGeom>
          <a:solidFill>
            <a:srgbClr val="FFFFFF">
              <a:alpha val="39904"/>
            </a:srgbClr>
          </a:solidFill>
          <a:ln/>
        </p:spPr>
      </p:sp>
      <p:sp>
        <p:nvSpPr>
          <p:cNvPr id="32" name="Shape 30"/>
          <p:cNvSpPr/>
          <p:nvPr/>
        </p:nvSpPr>
        <p:spPr>
          <a:xfrm>
            <a:off x="6022890" y="356923"/>
            <a:ext cx="18642" cy="18642"/>
          </a:xfrm>
          <a:prstGeom prst="ellipse">
            <a:avLst/>
          </a:prstGeom>
          <a:solidFill>
            <a:srgbClr val="FFFFFF">
              <a:alpha val="27909"/>
            </a:srgbClr>
          </a:solidFill>
          <a:ln/>
        </p:spPr>
      </p:sp>
      <p:sp>
        <p:nvSpPr>
          <p:cNvPr id="33" name="Shape 31"/>
          <p:cNvSpPr/>
          <p:nvPr/>
        </p:nvSpPr>
        <p:spPr>
          <a:xfrm>
            <a:off x="781422" y="2439135"/>
            <a:ext cx="17291" cy="17291"/>
          </a:xfrm>
          <a:prstGeom prst="ellipse">
            <a:avLst/>
          </a:prstGeom>
          <a:solidFill>
            <a:srgbClr val="FFFFFF">
              <a:alpha val="34638"/>
            </a:srgbClr>
          </a:solidFill>
          <a:ln/>
        </p:spPr>
      </p:sp>
      <p:sp>
        <p:nvSpPr>
          <p:cNvPr id="34" name="Shape 32"/>
          <p:cNvSpPr/>
          <p:nvPr/>
        </p:nvSpPr>
        <p:spPr>
          <a:xfrm>
            <a:off x="9638171" y="937125"/>
            <a:ext cx="15488" cy="15488"/>
          </a:xfrm>
          <a:prstGeom prst="ellipse">
            <a:avLst/>
          </a:prstGeom>
          <a:solidFill>
            <a:srgbClr val="FFFFFF">
              <a:alpha val="44968"/>
            </a:srgbClr>
          </a:solidFill>
          <a:ln/>
        </p:spPr>
      </p:sp>
      <p:sp>
        <p:nvSpPr>
          <p:cNvPr id="35" name="Shape 33"/>
          <p:cNvSpPr/>
          <p:nvPr/>
        </p:nvSpPr>
        <p:spPr>
          <a:xfrm>
            <a:off x="7607685" y="592226"/>
            <a:ext cx="22038" cy="22038"/>
          </a:xfrm>
          <a:prstGeom prst="ellipse">
            <a:avLst/>
          </a:prstGeom>
          <a:solidFill>
            <a:srgbClr val="FFFFFF">
              <a:alpha val="41183"/>
            </a:srgbClr>
          </a:solidFill>
          <a:ln/>
        </p:spPr>
      </p:sp>
      <p:sp>
        <p:nvSpPr>
          <p:cNvPr id="36" name="Shape 34"/>
          <p:cNvSpPr/>
          <p:nvPr/>
        </p:nvSpPr>
        <p:spPr>
          <a:xfrm>
            <a:off x="5828057" y="2843771"/>
            <a:ext cx="11204" cy="11204"/>
          </a:xfrm>
          <a:prstGeom prst="ellipse">
            <a:avLst/>
          </a:prstGeom>
          <a:solidFill>
            <a:srgbClr val="FFFFFF">
              <a:alpha val="18530"/>
            </a:srgbClr>
          </a:solidFill>
          <a:ln/>
        </p:spPr>
      </p:sp>
      <p:sp>
        <p:nvSpPr>
          <p:cNvPr id="37" name="Shape 35"/>
          <p:cNvSpPr/>
          <p:nvPr/>
        </p:nvSpPr>
        <p:spPr>
          <a:xfrm>
            <a:off x="5503405" y="5067094"/>
            <a:ext cx="20239" cy="20239"/>
          </a:xfrm>
          <a:prstGeom prst="ellipse">
            <a:avLst/>
          </a:prstGeom>
          <a:solidFill>
            <a:srgbClr val="FFFFFF">
              <a:alpha val="12440"/>
            </a:srgbClr>
          </a:solidFill>
          <a:ln/>
        </p:spPr>
      </p:sp>
      <p:sp>
        <p:nvSpPr>
          <p:cNvPr id="38" name="Shape 36"/>
          <p:cNvSpPr/>
          <p:nvPr/>
        </p:nvSpPr>
        <p:spPr>
          <a:xfrm>
            <a:off x="8740935" y="4383528"/>
            <a:ext cx="18323" cy="18323"/>
          </a:xfrm>
          <a:prstGeom prst="ellipse">
            <a:avLst/>
          </a:prstGeom>
          <a:solidFill>
            <a:srgbClr val="FFFFFF">
              <a:alpha val="32421"/>
            </a:srgbClr>
          </a:solidFill>
          <a:ln/>
        </p:spPr>
      </p:sp>
      <p:sp>
        <p:nvSpPr>
          <p:cNvPr id="39" name="Shape 37"/>
          <p:cNvSpPr/>
          <p:nvPr/>
        </p:nvSpPr>
        <p:spPr>
          <a:xfrm>
            <a:off x="940717" y="6042407"/>
            <a:ext cx="13246" cy="13246"/>
          </a:xfrm>
          <a:prstGeom prst="ellipse">
            <a:avLst/>
          </a:prstGeom>
          <a:solidFill>
            <a:srgbClr val="FFFFFF">
              <a:alpha val="42607"/>
            </a:srgbClr>
          </a:solidFill>
          <a:ln/>
        </p:spPr>
      </p:sp>
      <p:sp>
        <p:nvSpPr>
          <p:cNvPr id="40" name="Shape 38"/>
          <p:cNvSpPr/>
          <p:nvPr/>
        </p:nvSpPr>
        <p:spPr>
          <a:xfrm>
            <a:off x="2271728" y="2085064"/>
            <a:ext cx="11782" cy="11782"/>
          </a:xfrm>
          <a:prstGeom prst="ellipse">
            <a:avLst/>
          </a:prstGeom>
          <a:solidFill>
            <a:srgbClr val="FFFFFF">
              <a:alpha val="23986"/>
            </a:srgbClr>
          </a:solidFill>
          <a:ln/>
        </p:spPr>
      </p:sp>
      <p:sp>
        <p:nvSpPr>
          <p:cNvPr id="41" name="Shape 39"/>
          <p:cNvSpPr/>
          <p:nvPr/>
        </p:nvSpPr>
        <p:spPr>
          <a:xfrm>
            <a:off x="5358743" y="2586831"/>
            <a:ext cx="25784" cy="25784"/>
          </a:xfrm>
          <a:prstGeom prst="ellipse">
            <a:avLst/>
          </a:prstGeom>
          <a:solidFill>
            <a:srgbClr val="FFFFFF">
              <a:alpha val="13288"/>
            </a:srgbClr>
          </a:solidFill>
          <a:ln/>
        </p:spPr>
      </p:sp>
      <p:sp>
        <p:nvSpPr>
          <p:cNvPr id="42" name="Shape 40"/>
          <p:cNvSpPr/>
          <p:nvPr/>
        </p:nvSpPr>
        <p:spPr>
          <a:xfrm>
            <a:off x="6438896" y="2891043"/>
            <a:ext cx="14272" cy="14272"/>
          </a:xfrm>
          <a:prstGeom prst="ellipse">
            <a:avLst/>
          </a:prstGeom>
          <a:solidFill>
            <a:srgbClr val="FFFFFF">
              <a:alpha val="13536"/>
            </a:srgbClr>
          </a:solidFill>
          <a:ln/>
        </p:spPr>
      </p:sp>
      <p:sp>
        <p:nvSpPr>
          <p:cNvPr id="43" name="Shape 41"/>
          <p:cNvSpPr/>
          <p:nvPr/>
        </p:nvSpPr>
        <p:spPr>
          <a:xfrm>
            <a:off x="8070936" y="3421033"/>
            <a:ext cx="35837" cy="35837"/>
          </a:xfrm>
          <a:prstGeom prst="ellipse">
            <a:avLst/>
          </a:prstGeom>
          <a:solidFill>
            <a:srgbClr val="FFFFFF">
              <a:alpha val="21273"/>
            </a:srgbClr>
          </a:solidFill>
          <a:ln/>
        </p:spPr>
      </p:sp>
      <p:sp>
        <p:nvSpPr>
          <p:cNvPr id="44" name="Shape 42"/>
          <p:cNvSpPr/>
          <p:nvPr/>
        </p:nvSpPr>
        <p:spPr>
          <a:xfrm>
            <a:off x="5588906" y="6632134"/>
            <a:ext cx="35276" cy="35276"/>
          </a:xfrm>
          <a:prstGeom prst="ellipse">
            <a:avLst/>
          </a:prstGeom>
          <a:solidFill>
            <a:srgbClr val="FFFFFF">
              <a:alpha val="30451"/>
            </a:srgbClr>
          </a:solidFill>
          <a:ln/>
        </p:spPr>
      </p:sp>
      <p:sp>
        <p:nvSpPr>
          <p:cNvPr id="45" name="Shape 43"/>
          <p:cNvSpPr/>
          <p:nvPr/>
        </p:nvSpPr>
        <p:spPr>
          <a:xfrm>
            <a:off x="6066999" y="4819679"/>
            <a:ext cx="32570" cy="32570"/>
          </a:xfrm>
          <a:prstGeom prst="ellipse">
            <a:avLst/>
          </a:prstGeom>
          <a:solidFill>
            <a:srgbClr val="FFFFFF">
              <a:alpha val="12983"/>
            </a:srgbClr>
          </a:solidFill>
          <a:ln/>
        </p:spPr>
      </p:sp>
      <p:sp>
        <p:nvSpPr>
          <p:cNvPr id="46" name="Shape 44"/>
          <p:cNvSpPr/>
          <p:nvPr/>
        </p:nvSpPr>
        <p:spPr>
          <a:xfrm>
            <a:off x="6645436" y="6789003"/>
            <a:ext cx="28396" cy="28396"/>
          </a:xfrm>
          <a:prstGeom prst="ellipse">
            <a:avLst/>
          </a:prstGeom>
          <a:solidFill>
            <a:srgbClr val="FFFFFF">
              <a:alpha val="15967"/>
            </a:srgbClr>
          </a:solidFill>
          <a:ln/>
        </p:spPr>
      </p:sp>
      <p:sp>
        <p:nvSpPr>
          <p:cNvPr id="47" name="Shape 45"/>
          <p:cNvSpPr/>
          <p:nvPr/>
        </p:nvSpPr>
        <p:spPr>
          <a:xfrm>
            <a:off x="5367523" y="517437"/>
            <a:ext cx="37657" cy="37657"/>
          </a:xfrm>
          <a:prstGeom prst="ellipse">
            <a:avLst/>
          </a:prstGeom>
          <a:solidFill>
            <a:srgbClr val="FFFFFF">
              <a:alpha val="25577"/>
            </a:srgbClr>
          </a:solidFill>
          <a:ln/>
        </p:spPr>
      </p:sp>
      <p:sp>
        <p:nvSpPr>
          <p:cNvPr id="48" name="Shape 46"/>
          <p:cNvSpPr/>
          <p:nvPr/>
        </p:nvSpPr>
        <p:spPr>
          <a:xfrm>
            <a:off x="7952823" y="2684316"/>
            <a:ext cx="31564" cy="31564"/>
          </a:xfrm>
          <a:prstGeom prst="ellipse">
            <a:avLst/>
          </a:prstGeom>
          <a:solidFill>
            <a:srgbClr val="FFFFFF">
              <a:alpha val="17615"/>
            </a:srgbClr>
          </a:solidFill>
          <a:ln/>
        </p:spPr>
      </p:sp>
      <p:sp>
        <p:nvSpPr>
          <p:cNvPr id="49" name="Shape 47"/>
          <p:cNvSpPr/>
          <p:nvPr/>
        </p:nvSpPr>
        <p:spPr>
          <a:xfrm>
            <a:off x="6123024" y="3044972"/>
            <a:ext cx="35180" cy="35180"/>
          </a:xfrm>
          <a:prstGeom prst="ellipse">
            <a:avLst/>
          </a:prstGeom>
          <a:solidFill>
            <a:srgbClr val="FFFFFF">
              <a:alpha val="19736"/>
            </a:srgbClr>
          </a:solidFill>
          <a:ln/>
        </p:spPr>
      </p:sp>
      <p:sp>
        <p:nvSpPr>
          <p:cNvPr id="50" name="Shape 48"/>
          <p:cNvSpPr/>
          <p:nvPr/>
        </p:nvSpPr>
        <p:spPr>
          <a:xfrm>
            <a:off x="630699" y="2530740"/>
            <a:ext cx="23781" cy="23781"/>
          </a:xfrm>
          <a:prstGeom prst="ellipse">
            <a:avLst/>
          </a:prstGeom>
          <a:solidFill>
            <a:srgbClr val="FFFFFF">
              <a:alpha val="10333"/>
            </a:srgbClr>
          </a:solidFill>
          <a:ln/>
        </p:spPr>
      </p:sp>
      <p:sp>
        <p:nvSpPr>
          <p:cNvPr id="51" name="Shape 49"/>
          <p:cNvSpPr/>
          <p:nvPr/>
        </p:nvSpPr>
        <p:spPr>
          <a:xfrm>
            <a:off x="8032471" y="1056952"/>
            <a:ext cx="29542" cy="29542"/>
          </a:xfrm>
          <a:prstGeom prst="ellipse">
            <a:avLst/>
          </a:prstGeom>
          <a:solidFill>
            <a:srgbClr val="FFFFFF">
              <a:alpha val="39100"/>
            </a:srgbClr>
          </a:solidFill>
          <a:ln/>
        </p:spPr>
      </p:sp>
      <p:sp>
        <p:nvSpPr>
          <p:cNvPr id="52" name="Shape 50"/>
          <p:cNvSpPr/>
          <p:nvPr/>
        </p:nvSpPr>
        <p:spPr>
          <a:xfrm>
            <a:off x="2439802" y="3618941"/>
            <a:ext cx="19611" cy="19611"/>
          </a:xfrm>
          <a:prstGeom prst="ellipse">
            <a:avLst/>
          </a:prstGeom>
          <a:solidFill>
            <a:srgbClr val="FFFFFF">
              <a:alpha val="44245"/>
            </a:srgbClr>
          </a:solidFill>
          <a:ln/>
        </p:spPr>
      </p:sp>
      <p:sp>
        <p:nvSpPr>
          <p:cNvPr id="53" name="Shape 51"/>
          <p:cNvSpPr/>
          <p:nvPr/>
        </p:nvSpPr>
        <p:spPr>
          <a:xfrm>
            <a:off x="11697923" y="3528042"/>
            <a:ext cx="11938" cy="11938"/>
          </a:xfrm>
          <a:prstGeom prst="ellipse">
            <a:avLst/>
          </a:prstGeom>
          <a:solidFill>
            <a:srgbClr val="FFFFFF">
              <a:alpha val="31385"/>
            </a:srgbClr>
          </a:solidFill>
          <a:ln/>
        </p:spPr>
      </p:sp>
      <p:sp>
        <p:nvSpPr>
          <p:cNvPr id="54" name="Shape 52"/>
          <p:cNvSpPr/>
          <p:nvPr/>
        </p:nvSpPr>
        <p:spPr>
          <a:xfrm>
            <a:off x="2242043" y="4509588"/>
            <a:ext cx="17360" cy="17360"/>
          </a:xfrm>
          <a:prstGeom prst="ellipse">
            <a:avLst/>
          </a:prstGeom>
          <a:solidFill>
            <a:srgbClr val="FFFFFF">
              <a:alpha val="19102"/>
            </a:srgbClr>
          </a:solidFill>
          <a:ln/>
        </p:spPr>
      </p:sp>
      <p:sp>
        <p:nvSpPr>
          <p:cNvPr id="55" name="Shape 53"/>
          <p:cNvSpPr/>
          <p:nvPr/>
        </p:nvSpPr>
        <p:spPr>
          <a:xfrm>
            <a:off x="3723568" y="6224911"/>
            <a:ext cx="27410" cy="27410"/>
          </a:xfrm>
          <a:prstGeom prst="ellipse">
            <a:avLst/>
          </a:prstGeom>
          <a:solidFill>
            <a:srgbClr val="FFFFFF">
              <a:alpha val="31161"/>
            </a:srgbClr>
          </a:solidFill>
          <a:ln/>
        </p:spPr>
      </p:sp>
      <p:sp>
        <p:nvSpPr>
          <p:cNvPr id="56" name="Shape 54"/>
          <p:cNvSpPr/>
          <p:nvPr/>
        </p:nvSpPr>
        <p:spPr>
          <a:xfrm>
            <a:off x="10121908" y="1223345"/>
            <a:ext cx="20414" cy="20414"/>
          </a:xfrm>
          <a:prstGeom prst="ellipse">
            <a:avLst/>
          </a:prstGeom>
          <a:solidFill>
            <a:srgbClr val="FFFFFF">
              <a:alpha val="30401"/>
            </a:srgbClr>
          </a:solidFill>
          <a:ln/>
        </p:spPr>
      </p:sp>
      <p:sp>
        <p:nvSpPr>
          <p:cNvPr id="57" name="Shape 55"/>
          <p:cNvSpPr/>
          <p:nvPr/>
        </p:nvSpPr>
        <p:spPr>
          <a:xfrm>
            <a:off x="10901031" y="3898224"/>
            <a:ext cx="13306" cy="13306"/>
          </a:xfrm>
          <a:prstGeom prst="ellipse">
            <a:avLst/>
          </a:prstGeom>
          <a:solidFill>
            <a:srgbClr val="FFFFFF">
              <a:alpha val="39290"/>
            </a:srgbClr>
          </a:solidFill>
          <a:ln/>
        </p:spPr>
      </p:sp>
      <p:sp>
        <p:nvSpPr>
          <p:cNvPr id="58" name="Shape 56"/>
          <p:cNvSpPr/>
          <p:nvPr/>
        </p:nvSpPr>
        <p:spPr>
          <a:xfrm>
            <a:off x="5910422" y="1718880"/>
            <a:ext cx="22001" cy="22001"/>
          </a:xfrm>
          <a:prstGeom prst="ellipse">
            <a:avLst/>
          </a:prstGeom>
          <a:solidFill>
            <a:srgbClr val="FFFFFF">
              <a:alpha val="27151"/>
            </a:srgbClr>
          </a:solidFill>
          <a:ln/>
        </p:spPr>
      </p:sp>
      <p:sp>
        <p:nvSpPr>
          <p:cNvPr id="59" name="Shape 57"/>
          <p:cNvSpPr/>
          <p:nvPr/>
        </p:nvSpPr>
        <p:spPr>
          <a:xfrm>
            <a:off x="4030451" y="188648"/>
            <a:ext cx="12635" cy="12635"/>
          </a:xfrm>
          <a:prstGeom prst="ellipse">
            <a:avLst/>
          </a:prstGeom>
          <a:solidFill>
            <a:srgbClr val="FFFFFF">
              <a:alpha val="19045"/>
            </a:srgbClr>
          </a:solidFill>
          <a:ln/>
        </p:spPr>
      </p:sp>
      <p:sp>
        <p:nvSpPr>
          <p:cNvPr id="60" name="Shape 58"/>
          <p:cNvSpPr/>
          <p:nvPr/>
        </p:nvSpPr>
        <p:spPr>
          <a:xfrm>
            <a:off x="5562147" y="3794860"/>
            <a:ext cx="35667" cy="35667"/>
          </a:xfrm>
          <a:prstGeom prst="ellipse">
            <a:avLst/>
          </a:prstGeom>
          <a:solidFill>
            <a:srgbClr val="FFFFFF">
              <a:alpha val="41330"/>
            </a:srgbClr>
          </a:solidFill>
          <a:ln/>
        </p:spPr>
      </p:sp>
      <p:sp>
        <p:nvSpPr>
          <p:cNvPr id="61" name="Shape 59"/>
          <p:cNvSpPr/>
          <p:nvPr/>
        </p:nvSpPr>
        <p:spPr>
          <a:xfrm>
            <a:off x="4936466" y="1530850"/>
            <a:ext cx="21673" cy="21673"/>
          </a:xfrm>
          <a:prstGeom prst="ellipse">
            <a:avLst/>
          </a:prstGeom>
          <a:solidFill>
            <a:srgbClr val="FFFFFF">
              <a:alpha val="43883"/>
            </a:srgbClr>
          </a:solidFill>
          <a:ln/>
        </p:spPr>
      </p:sp>
      <p:sp>
        <p:nvSpPr>
          <p:cNvPr id="62" name="Shape 60"/>
          <p:cNvSpPr/>
          <p:nvPr/>
        </p:nvSpPr>
        <p:spPr>
          <a:xfrm>
            <a:off x="1551347" y="4995951"/>
            <a:ext cx="34319" cy="34319"/>
          </a:xfrm>
          <a:prstGeom prst="ellipse">
            <a:avLst/>
          </a:prstGeom>
          <a:solidFill>
            <a:srgbClr val="FFFFFF">
              <a:alpha val="43987"/>
            </a:srgbClr>
          </a:solidFill>
          <a:ln/>
        </p:spPr>
      </p:sp>
      <p:sp>
        <p:nvSpPr>
          <p:cNvPr id="63" name="Shape 61"/>
          <p:cNvSpPr/>
          <p:nvPr/>
        </p:nvSpPr>
        <p:spPr>
          <a:xfrm>
            <a:off x="6544883" y="1913496"/>
            <a:ext cx="20437" cy="20437"/>
          </a:xfrm>
          <a:prstGeom prst="ellipse">
            <a:avLst/>
          </a:prstGeom>
          <a:solidFill>
            <a:srgbClr val="FFFFFF">
              <a:alpha val="36889"/>
            </a:srgbClr>
          </a:solidFill>
          <a:ln/>
        </p:spPr>
      </p:sp>
      <p:sp>
        <p:nvSpPr>
          <p:cNvPr id="64" name="Shape 62"/>
          <p:cNvSpPr/>
          <p:nvPr/>
        </p:nvSpPr>
        <p:spPr>
          <a:xfrm>
            <a:off x="8929497" y="3374819"/>
            <a:ext cx="17280" cy="17280"/>
          </a:xfrm>
          <a:prstGeom prst="ellipse">
            <a:avLst/>
          </a:prstGeom>
          <a:solidFill>
            <a:srgbClr val="FFFFFF">
              <a:alpha val="23021"/>
            </a:srgbClr>
          </a:solidFill>
          <a:ln/>
        </p:spPr>
      </p:sp>
      <p:sp>
        <p:nvSpPr>
          <p:cNvPr id="65" name="Shape 63"/>
          <p:cNvSpPr/>
          <p:nvPr/>
        </p:nvSpPr>
        <p:spPr>
          <a:xfrm>
            <a:off x="10812395" y="6501253"/>
            <a:ext cx="21460" cy="21460"/>
          </a:xfrm>
          <a:prstGeom prst="ellipse">
            <a:avLst/>
          </a:prstGeom>
          <a:solidFill>
            <a:srgbClr val="FFFFFF">
              <a:alpha val="11891"/>
            </a:srgbClr>
          </a:solidFill>
          <a:ln/>
        </p:spPr>
      </p:sp>
      <p:sp>
        <p:nvSpPr>
          <p:cNvPr id="66" name="Shape 64"/>
          <p:cNvSpPr/>
          <p:nvPr/>
        </p:nvSpPr>
        <p:spPr>
          <a:xfrm>
            <a:off x="9785341" y="2826132"/>
            <a:ext cx="13335" cy="13335"/>
          </a:xfrm>
          <a:prstGeom prst="ellipse">
            <a:avLst/>
          </a:prstGeom>
          <a:solidFill>
            <a:srgbClr val="FFFFFF">
              <a:alpha val="37632"/>
            </a:srgbClr>
          </a:solidFill>
          <a:ln/>
        </p:spPr>
      </p:sp>
      <p:sp>
        <p:nvSpPr>
          <p:cNvPr id="67" name="Shape 65"/>
          <p:cNvSpPr/>
          <p:nvPr/>
        </p:nvSpPr>
        <p:spPr>
          <a:xfrm>
            <a:off x="1633921" y="4964789"/>
            <a:ext cx="27111" cy="27111"/>
          </a:xfrm>
          <a:prstGeom prst="ellipse">
            <a:avLst/>
          </a:prstGeom>
          <a:solidFill>
            <a:srgbClr val="FFFFFF">
              <a:alpha val="11234"/>
            </a:srgbClr>
          </a:solidFill>
          <a:ln/>
        </p:spPr>
      </p:sp>
      <p:sp>
        <p:nvSpPr>
          <p:cNvPr id="68" name="Shape 66"/>
          <p:cNvSpPr/>
          <p:nvPr/>
        </p:nvSpPr>
        <p:spPr>
          <a:xfrm>
            <a:off x="3366304" y="2418556"/>
            <a:ext cx="19776" cy="19776"/>
          </a:xfrm>
          <a:prstGeom prst="ellipse">
            <a:avLst/>
          </a:prstGeom>
          <a:solidFill>
            <a:srgbClr val="FFFFFF">
              <a:alpha val="39424"/>
            </a:srgbClr>
          </a:solidFill>
          <a:ln/>
        </p:spPr>
      </p:sp>
      <p:sp>
        <p:nvSpPr>
          <p:cNvPr id="69" name="Shape 67"/>
          <p:cNvSpPr/>
          <p:nvPr/>
        </p:nvSpPr>
        <p:spPr>
          <a:xfrm>
            <a:off x="11219621" y="4246768"/>
            <a:ext cx="32649" cy="32649"/>
          </a:xfrm>
          <a:prstGeom prst="ellipse">
            <a:avLst/>
          </a:prstGeom>
          <a:solidFill>
            <a:srgbClr val="FFFFFF">
              <a:alpha val="20228"/>
            </a:srgbClr>
          </a:solidFill>
          <a:ln/>
        </p:spPr>
      </p:sp>
      <p:sp>
        <p:nvSpPr>
          <p:cNvPr id="70" name="Shape 68"/>
          <p:cNvSpPr/>
          <p:nvPr/>
        </p:nvSpPr>
        <p:spPr>
          <a:xfrm>
            <a:off x="3369231" y="4014758"/>
            <a:ext cx="14590" cy="14590"/>
          </a:xfrm>
          <a:prstGeom prst="ellipse">
            <a:avLst/>
          </a:prstGeom>
          <a:solidFill>
            <a:srgbClr val="FFFFFF">
              <a:alpha val="20187"/>
            </a:srgbClr>
          </a:solidFill>
          <a:ln/>
        </p:spPr>
      </p:sp>
      <p:sp>
        <p:nvSpPr>
          <p:cNvPr id="71" name="Shape 69"/>
          <p:cNvSpPr/>
          <p:nvPr/>
        </p:nvSpPr>
        <p:spPr>
          <a:xfrm>
            <a:off x="11724263" y="4177859"/>
            <a:ext cx="20125" cy="20125"/>
          </a:xfrm>
          <a:prstGeom prst="ellipse">
            <a:avLst/>
          </a:prstGeom>
          <a:solidFill>
            <a:srgbClr val="FFFFFF">
              <a:alpha val="33254"/>
            </a:srgbClr>
          </a:solidFill>
          <a:ln/>
        </p:spPr>
      </p:sp>
      <p:sp>
        <p:nvSpPr>
          <p:cNvPr id="72" name="Text 70"/>
          <p:cNvSpPr/>
          <p:nvPr/>
        </p:nvSpPr>
        <p:spPr>
          <a:xfrm>
            <a:off x="640080" y="457200"/>
            <a:ext cx="10972800" cy="320040"/>
          </a:xfrm>
          <a:prstGeom prst="rect">
            <a:avLst/>
          </a:prstGeom>
          <a:noFill/>
          <a:ln/>
        </p:spPr>
        <p:txBody>
          <a:bodyPr wrap="square" lIns="0" tIns="0" rIns="0" bIns="0" rtlCol="0" anchor="ctr"/>
          <a:lstStyle/>
          <a:p>
            <a:pPr indent="0" marL="0">
              <a:buNone/>
            </a:pPr>
            <a:r>
              <a:rPr lang="en-US" sz="1250" b="1" spc="300" kern="0" dirty="0">
                <a:solidFill>
                  <a:srgbClr val="6C7CE0"/>
                </a:solidFill>
                <a:latin typeface="Calibri" pitchFamily="34" charset="0"/>
                <a:ea typeface="Calibri" pitchFamily="34" charset="-122"/>
                <a:cs typeface="Calibri" pitchFamily="34" charset="-120"/>
              </a:rPr>
              <a:t>NORMAL  VS  SPACE DIFFERENCE</a:t>
            </a:r>
            <a:endParaRPr lang="en-US" sz="1250" dirty="0"/>
          </a:p>
        </p:txBody>
      </p:sp>
      <p:sp>
        <p:nvSpPr>
          <p:cNvPr id="73" name="Text 71"/>
          <p:cNvSpPr/>
          <p:nvPr/>
        </p:nvSpPr>
        <p:spPr>
          <a:xfrm>
            <a:off x="640080" y="777240"/>
            <a:ext cx="10972800" cy="822960"/>
          </a:xfrm>
          <a:prstGeom prst="rect">
            <a:avLst/>
          </a:prstGeom>
          <a:noFill/>
          <a:ln/>
        </p:spPr>
        <p:txBody>
          <a:bodyPr wrap="square" lIns="0" tIns="0" rIns="0" bIns="0" rtlCol="0" anchor="ctr"/>
          <a:lstStyle/>
          <a:p>
            <a:pPr indent="0" marL="0">
              <a:buNone/>
            </a:pPr>
            <a:r>
              <a:rPr lang="en-US" sz="3400" b="1" dirty="0">
                <a:solidFill>
                  <a:srgbClr val="F5F7FF"/>
                </a:solidFill>
                <a:latin typeface="Cambria" pitchFamily="34" charset="0"/>
                <a:ea typeface="Cambria" pitchFamily="34" charset="-122"/>
                <a:cs typeface="Cambria" pitchFamily="34" charset="-120"/>
              </a:rPr>
              <a:t>Same machine — one extra multiplier</a:t>
            </a:r>
            <a:endParaRPr lang="en-US" sz="3400" dirty="0"/>
          </a:p>
        </p:txBody>
      </p:sp>
      <p:sp>
        <p:nvSpPr>
          <p:cNvPr id="74" name="Shape 72"/>
          <p:cNvSpPr/>
          <p:nvPr/>
        </p:nvSpPr>
        <p:spPr>
          <a:xfrm>
            <a:off x="640080" y="1783080"/>
            <a:ext cx="5257800" cy="4160520"/>
          </a:xfrm>
          <a:prstGeom prst="roundRect">
            <a:avLst>
              <a:gd name="adj" fmla="val 1978"/>
            </a:avLst>
          </a:prstGeom>
          <a:solidFill>
            <a:srgbClr val="141A33"/>
          </a:solidFill>
          <a:ln w="12700">
            <a:solidFill>
              <a:srgbClr val="2A3358"/>
            </a:solidFill>
            <a:prstDash val="solid"/>
          </a:ln>
          <a:effectLst>
            <a:outerShdw sx="100000" sy="100000" kx="0" ky="0" algn="bl" rotWithShape="0" blurRad="114300" dist="38100" dir="5400000">
              <a:srgbClr val="000000">
                <a:alpha val="35000"/>
              </a:srgbClr>
            </a:outerShdw>
          </a:effectLst>
        </p:spPr>
      </p:sp>
      <p:sp>
        <p:nvSpPr>
          <p:cNvPr id="75" name="Text 73"/>
          <p:cNvSpPr/>
          <p:nvPr/>
        </p:nvSpPr>
        <p:spPr>
          <a:xfrm>
            <a:off x="914400" y="2011680"/>
            <a:ext cx="4709160" cy="365760"/>
          </a:xfrm>
          <a:prstGeom prst="rect">
            <a:avLst/>
          </a:prstGeom>
          <a:noFill/>
          <a:ln/>
        </p:spPr>
        <p:txBody>
          <a:bodyPr wrap="square" lIns="0" tIns="0" rIns="0" bIns="0" rtlCol="0" anchor="ctr"/>
          <a:lstStyle/>
          <a:p>
            <a:pPr indent="0" marL="0">
              <a:buNone/>
            </a:pPr>
            <a:r>
              <a:rPr lang="en-US" sz="1300" b="1" spc="200" kern="0" dirty="0">
                <a:solidFill>
                  <a:srgbClr val="E8B54D"/>
                </a:solidFill>
                <a:latin typeface="Calibri" pitchFamily="34" charset="0"/>
                <a:ea typeface="Calibri" pitchFamily="34" charset="-122"/>
                <a:cs typeface="Calibri" pitchFamily="34" charset="-120"/>
              </a:rPr>
              <a:t>NORMAL</a:t>
            </a:r>
            <a:endParaRPr lang="en-US" sz="1300" dirty="0"/>
          </a:p>
        </p:txBody>
      </p:sp>
      <p:sp>
        <p:nvSpPr>
          <p:cNvPr id="76" name="Text 74"/>
          <p:cNvSpPr/>
          <p:nvPr/>
        </p:nvSpPr>
        <p:spPr>
          <a:xfrm>
            <a:off x="914400" y="2350008"/>
            <a:ext cx="4709160" cy="320040"/>
          </a:xfrm>
          <a:prstGeom prst="rect">
            <a:avLst/>
          </a:prstGeom>
          <a:noFill/>
          <a:ln/>
        </p:spPr>
        <p:txBody>
          <a:bodyPr wrap="square" lIns="0" tIns="0" rIns="0" bIns="0" rtlCol="0" anchor="ctr"/>
          <a:lstStyle/>
          <a:p>
            <a:pPr indent="0" marL="0">
              <a:buNone/>
            </a:pPr>
            <a:r>
              <a:rPr lang="en-US" sz="1250" dirty="0">
                <a:solidFill>
                  <a:srgbClr val="9AA4C7"/>
                </a:solidFill>
                <a:latin typeface="Calibri" pitchFamily="34" charset="0"/>
                <a:ea typeface="Calibri" pitchFamily="34" charset="-122"/>
                <a:cs typeface="Calibri" pitchFamily="34" charset="-120"/>
              </a:rPr>
              <a:t>Consecutive integers · spacing 1</a:t>
            </a:r>
            <a:endParaRPr lang="en-US" sz="1250" dirty="0"/>
          </a:p>
        </p:txBody>
      </p:sp>
      <p:sp>
        <p:nvSpPr>
          <p:cNvPr id="77" name="Text 75"/>
          <p:cNvSpPr/>
          <p:nvPr/>
        </p:nvSpPr>
        <p:spPr>
          <a:xfrm>
            <a:off x="914400" y="2743200"/>
            <a:ext cx="4709160" cy="457200"/>
          </a:xfrm>
          <a:prstGeom prst="rect">
            <a:avLst/>
          </a:prstGeom>
          <a:noFill/>
          <a:ln/>
        </p:spPr>
        <p:txBody>
          <a:bodyPr wrap="square" lIns="0" tIns="0" rIns="0" bIns="0" rtlCol="0" anchor="ctr"/>
          <a:lstStyle/>
          <a:p>
            <a:pPr indent="0" marL="0">
              <a:buNone/>
            </a:pPr>
            <a:r>
              <a:rPr lang="en-US" sz="1900" b="1" dirty="0">
                <a:solidFill>
                  <a:srgbClr val="F5F7FF"/>
                </a:solidFill>
                <a:latin typeface="Cambria" pitchFamily="34" charset="0"/>
                <a:ea typeface="Cambria" pitchFamily="34" charset="-122"/>
                <a:cs typeface="Cambria" pitchFamily="34" charset="-120"/>
              </a:rPr>
              <a:t>1, 2, 3, 4, 5, 6, 7, 8, 9</a:t>
            </a:r>
            <a:endParaRPr lang="en-US" sz="1900" dirty="0"/>
          </a:p>
        </p:txBody>
      </p:sp>
      <p:sp>
        <p:nvSpPr>
          <p:cNvPr id="78" name="Shape 76"/>
          <p:cNvSpPr/>
          <p:nvPr/>
        </p:nvSpPr>
        <p:spPr>
          <a:xfrm>
            <a:off x="914400" y="3355848"/>
            <a:ext cx="4069080" cy="0"/>
          </a:xfrm>
          <a:prstGeom prst="line">
            <a:avLst/>
          </a:prstGeom>
          <a:noFill/>
          <a:ln w="12700">
            <a:solidFill>
              <a:srgbClr val="2A3358"/>
            </a:solidFill>
            <a:prstDash val="solid"/>
          </a:ln>
        </p:spPr>
      </p:sp>
      <p:sp>
        <p:nvSpPr>
          <p:cNvPr id="79" name="Text 77"/>
          <p:cNvSpPr/>
          <p:nvPr/>
        </p:nvSpPr>
        <p:spPr>
          <a:xfrm>
            <a:off x="914400" y="3520440"/>
            <a:ext cx="4709160" cy="685800"/>
          </a:xfrm>
          <a:prstGeom prst="rect">
            <a:avLst/>
          </a:prstGeom>
          <a:noFill/>
          <a:ln/>
        </p:spPr>
        <p:txBody>
          <a:bodyPr wrap="square" lIns="0" tIns="0" rIns="0" bIns="0" rtlCol="0" anchor="t"/>
          <a:lstStyle/>
          <a:p>
            <a:pPr indent="0" marL="0">
              <a:buNone/>
            </a:pPr>
            <a:r>
              <a:rPr lang="en-US" sz="1450" b="1" dirty="0">
                <a:solidFill>
                  <a:srgbClr val="F5F7FF"/>
                </a:solidFill>
                <a:latin typeface="Cambria" pitchFamily="34" charset="0"/>
                <a:ea typeface="Cambria" pitchFamily="34" charset="-122"/>
                <a:cs typeface="Cambria" pitchFamily="34" charset="-120"/>
              </a:rPr>
              <a:t>Dᵈ  =  X · Σ C(d,2m) · M^(d−2m) · μ₂ₘ(X)</a:t>
            </a:r>
            <a:endParaRPr lang="en-US" sz="1450" dirty="0"/>
          </a:p>
        </p:txBody>
      </p:sp>
      <p:sp>
        <p:nvSpPr>
          <p:cNvPr id="80" name="Text 78"/>
          <p:cNvSpPr/>
          <p:nvPr/>
        </p:nvSpPr>
        <p:spPr>
          <a:xfrm>
            <a:off x="914400" y="4297680"/>
            <a:ext cx="4709160" cy="1097280"/>
          </a:xfrm>
          <a:prstGeom prst="rect">
            <a:avLst/>
          </a:prstGeom>
          <a:noFill/>
          <a:ln/>
        </p:spPr>
        <p:txBody>
          <a:bodyPr wrap="square" lIns="0" tIns="0" rIns="0" bIns="0" rtlCol="0" anchor="ctr"/>
          <a:lstStyle/>
          <a:p>
            <a:pPr indent="0" marL="0">
              <a:lnSpc>
                <a:spcPts val="1700"/>
              </a:lnSpc>
              <a:buNone/>
            </a:pPr>
            <a:r>
              <a:rPr lang="en-US" sz="1250" dirty="0">
                <a:solidFill>
                  <a:srgbClr val="9AA4C7"/>
                </a:solidFill>
                <a:latin typeface="Calibri" pitchFamily="34" charset="0"/>
                <a:ea typeface="Calibri" pitchFamily="34" charset="-122"/>
                <a:cs typeface="Calibri" pitchFamily="34" charset="-120"/>
              </a:rPr>
              <a:t>The master formula exactly as in the thesis. Balance every term around the midpoint M; the moment blocks μ carry the arrangement.</a:t>
            </a:r>
            <a:endParaRPr lang="en-US" sz="1250" dirty="0"/>
          </a:p>
        </p:txBody>
      </p:sp>
      <p:sp>
        <p:nvSpPr>
          <p:cNvPr id="81" name="Shape 79"/>
          <p:cNvSpPr/>
          <p:nvPr/>
        </p:nvSpPr>
        <p:spPr>
          <a:xfrm>
            <a:off x="6263640" y="1783080"/>
            <a:ext cx="5257800" cy="4160520"/>
          </a:xfrm>
          <a:prstGeom prst="roundRect">
            <a:avLst>
              <a:gd name="adj" fmla="val 1978"/>
            </a:avLst>
          </a:prstGeom>
          <a:solidFill>
            <a:srgbClr val="141A33"/>
          </a:solidFill>
          <a:ln w="12700">
            <a:solidFill>
              <a:srgbClr val="2A3358"/>
            </a:solidFill>
            <a:prstDash val="solid"/>
          </a:ln>
          <a:effectLst>
            <a:outerShdw sx="100000" sy="100000" kx="0" ky="0" algn="bl" rotWithShape="0" blurRad="114300" dist="38100" dir="5400000">
              <a:srgbClr val="000000">
                <a:alpha val="35000"/>
              </a:srgbClr>
            </a:outerShdw>
          </a:effectLst>
        </p:spPr>
      </p:sp>
      <p:sp>
        <p:nvSpPr>
          <p:cNvPr id="82" name="Text 80"/>
          <p:cNvSpPr/>
          <p:nvPr/>
        </p:nvSpPr>
        <p:spPr>
          <a:xfrm>
            <a:off x="6537960" y="2011680"/>
            <a:ext cx="4709160" cy="365760"/>
          </a:xfrm>
          <a:prstGeom prst="rect">
            <a:avLst/>
          </a:prstGeom>
          <a:noFill/>
          <a:ln/>
        </p:spPr>
        <p:txBody>
          <a:bodyPr wrap="square" lIns="0" tIns="0" rIns="0" bIns="0" rtlCol="0" anchor="ctr"/>
          <a:lstStyle/>
          <a:p>
            <a:pPr indent="0" marL="0">
              <a:buNone/>
            </a:pPr>
            <a:r>
              <a:rPr lang="en-US" sz="1300" b="1" spc="200" kern="0" dirty="0">
                <a:solidFill>
                  <a:srgbClr val="4FD1E0"/>
                </a:solidFill>
                <a:latin typeface="Calibri" pitchFamily="34" charset="0"/>
                <a:ea typeface="Calibri" pitchFamily="34" charset="-122"/>
                <a:cs typeface="Calibri" pitchFamily="34" charset="-120"/>
              </a:rPr>
              <a:t>SPACE DIFFERENCE</a:t>
            </a:r>
            <a:endParaRPr lang="en-US" sz="1300" dirty="0"/>
          </a:p>
        </p:txBody>
      </p:sp>
      <p:sp>
        <p:nvSpPr>
          <p:cNvPr id="83" name="Text 81"/>
          <p:cNvSpPr/>
          <p:nvPr/>
        </p:nvSpPr>
        <p:spPr>
          <a:xfrm>
            <a:off x="6537960" y="2350008"/>
            <a:ext cx="4709160" cy="320040"/>
          </a:xfrm>
          <a:prstGeom prst="rect">
            <a:avLst/>
          </a:prstGeom>
          <a:noFill/>
          <a:ln/>
        </p:spPr>
        <p:txBody>
          <a:bodyPr wrap="square" lIns="0" tIns="0" rIns="0" bIns="0" rtlCol="0" anchor="ctr"/>
          <a:lstStyle/>
          <a:p>
            <a:pPr indent="0" marL="0">
              <a:buNone/>
            </a:pPr>
            <a:r>
              <a:rPr lang="en-US" sz="1250" dirty="0">
                <a:solidFill>
                  <a:srgbClr val="9AA4C7"/>
                </a:solidFill>
                <a:latin typeface="Calibri" pitchFamily="34" charset="0"/>
                <a:ea typeface="Calibri" pitchFamily="34" charset="-122"/>
                <a:cs typeface="Calibri" pitchFamily="34" charset="-120"/>
              </a:rPr>
              <a:t>Even gap s between terms</a:t>
            </a:r>
            <a:endParaRPr lang="en-US" sz="1250" dirty="0"/>
          </a:p>
        </p:txBody>
      </p:sp>
      <p:sp>
        <p:nvSpPr>
          <p:cNvPr id="84" name="Text 82"/>
          <p:cNvSpPr/>
          <p:nvPr/>
        </p:nvSpPr>
        <p:spPr>
          <a:xfrm>
            <a:off x="6537960" y="2743200"/>
            <a:ext cx="4709160" cy="457200"/>
          </a:xfrm>
          <a:prstGeom prst="rect">
            <a:avLst/>
          </a:prstGeom>
          <a:noFill/>
          <a:ln/>
        </p:spPr>
        <p:txBody>
          <a:bodyPr wrap="square" lIns="0" tIns="0" rIns="0" bIns="0" rtlCol="0" anchor="ctr"/>
          <a:lstStyle/>
          <a:p>
            <a:pPr indent="0" marL="0">
              <a:buNone/>
            </a:pPr>
            <a:r>
              <a:rPr lang="en-US" sz="1700" b="1" dirty="0">
                <a:solidFill>
                  <a:srgbClr val="F5F7FF"/>
                </a:solidFill>
                <a:latin typeface="Cambria" pitchFamily="34" charset="0"/>
                <a:ea typeface="Cambria" pitchFamily="34" charset="-122"/>
                <a:cs typeface="Cambria" pitchFamily="34" charset="-120"/>
              </a:rPr>
              <a:t>2, 4, 6, 8, 10, 12, 14, 16, 18   (s = 2)</a:t>
            </a:r>
            <a:endParaRPr lang="en-US" sz="1700" dirty="0"/>
          </a:p>
        </p:txBody>
      </p:sp>
      <p:sp>
        <p:nvSpPr>
          <p:cNvPr id="85" name="Shape 83"/>
          <p:cNvSpPr/>
          <p:nvPr/>
        </p:nvSpPr>
        <p:spPr>
          <a:xfrm>
            <a:off x="6537960" y="3355848"/>
            <a:ext cx="4069080" cy="0"/>
          </a:xfrm>
          <a:prstGeom prst="line">
            <a:avLst/>
          </a:prstGeom>
          <a:noFill/>
          <a:ln w="12700">
            <a:solidFill>
              <a:srgbClr val="2A3358"/>
            </a:solidFill>
            <a:prstDash val="solid"/>
          </a:ln>
        </p:spPr>
      </p:sp>
      <p:sp>
        <p:nvSpPr>
          <p:cNvPr id="86" name="Text 84"/>
          <p:cNvSpPr/>
          <p:nvPr/>
        </p:nvSpPr>
        <p:spPr>
          <a:xfrm>
            <a:off x="6537960" y="3520440"/>
            <a:ext cx="4709160" cy="685800"/>
          </a:xfrm>
          <a:prstGeom prst="rect">
            <a:avLst/>
          </a:prstGeom>
          <a:noFill/>
          <a:ln/>
        </p:spPr>
        <p:txBody>
          <a:bodyPr wrap="square" lIns="0" tIns="0" rIns="0" bIns="0" rtlCol="0" anchor="t"/>
          <a:lstStyle/>
          <a:p>
            <a:pPr indent="0" marL="0">
              <a:buNone/>
            </a:pPr>
            <a:r>
              <a:rPr lang="en-US" sz="1450" b="1" dirty="0">
                <a:solidFill>
                  <a:srgbClr val="F5F7FF"/>
                </a:solidFill>
                <a:latin typeface="Cambria" pitchFamily="34" charset="0"/>
                <a:ea typeface="Cambria" pitchFamily="34" charset="-122"/>
                <a:cs typeface="Cambria" pitchFamily="34" charset="-120"/>
              </a:rPr>
              <a:t>Dᵈ  =  </a:t>
            </a:r>
            <a:pPr indent="0" marL="0">
              <a:buNone/>
            </a:pPr>
            <a:r>
              <a:rPr lang="en-US" sz="1450" b="1" dirty="0">
                <a:solidFill>
                  <a:srgbClr val="4FD1E0"/>
                </a:solidFill>
                <a:latin typeface="Cambria" pitchFamily="34" charset="0"/>
                <a:ea typeface="Cambria" pitchFamily="34" charset="-122"/>
                <a:cs typeface="Cambria" pitchFamily="34" charset="-120"/>
              </a:rPr>
              <a:t>sᵈ</a:t>
            </a:r>
            <a:pPr indent="0" marL="0">
              <a:buNone/>
            </a:pPr>
            <a:r>
              <a:rPr lang="en-US" sz="1450" b="1" dirty="0">
                <a:solidFill>
                  <a:srgbClr val="F5F7FF"/>
                </a:solidFill>
                <a:latin typeface="Cambria" pitchFamily="34" charset="0"/>
                <a:ea typeface="Cambria" pitchFamily="34" charset="-122"/>
                <a:cs typeface="Cambria" pitchFamily="34" charset="-120"/>
              </a:rPr>
              <a:t> · X · Σ C(d,2m) · M^(d−2m) · μ₂ₘ(X)</a:t>
            </a:r>
            <a:endParaRPr lang="en-US" sz="1450" dirty="0"/>
          </a:p>
        </p:txBody>
      </p:sp>
      <p:sp>
        <p:nvSpPr>
          <p:cNvPr id="87" name="Text 85"/>
          <p:cNvSpPr/>
          <p:nvPr/>
        </p:nvSpPr>
        <p:spPr>
          <a:xfrm>
            <a:off x="6537960" y="4297680"/>
            <a:ext cx="4709160" cy="1097280"/>
          </a:xfrm>
          <a:prstGeom prst="rect">
            <a:avLst/>
          </a:prstGeom>
          <a:noFill/>
          <a:ln/>
        </p:spPr>
        <p:txBody>
          <a:bodyPr wrap="square" lIns="0" tIns="0" rIns="0" bIns="0" rtlCol="0" anchor="ctr"/>
          <a:lstStyle/>
          <a:p>
            <a:pPr indent="0" marL="0">
              <a:lnSpc>
                <a:spcPts val="1700"/>
              </a:lnSpc>
              <a:buNone/>
            </a:pPr>
            <a:r>
              <a:rPr lang="en-US" sz="1250" dirty="0">
                <a:solidFill>
                  <a:srgbClr val="9AA4C7"/>
                </a:solidFill>
                <a:latin typeface="Calibri" pitchFamily="34" charset="0"/>
                <a:ea typeface="Calibri" pitchFamily="34" charset="-122"/>
                <a:cs typeface="Calibri" pitchFamily="34" charset="-120"/>
              </a:rPr>
              <a:t>Identical machine. Work the underlying 1…X sequence, then multiply once by sᵈ. Nothing inside the bracket moves.</a:t>
            </a:r>
            <a:endParaRPr lang="en-US" sz="1250" dirty="0"/>
          </a:p>
        </p:txBody>
      </p:sp>
      <p:sp>
        <p:nvSpPr>
          <p:cNvPr id="88" name="Shape 86"/>
          <p:cNvSpPr/>
          <p:nvPr/>
        </p:nvSpPr>
        <p:spPr>
          <a:xfrm>
            <a:off x="5879592" y="3675888"/>
            <a:ext cx="502920" cy="502920"/>
          </a:xfrm>
          <a:prstGeom prst="ellipse">
            <a:avLst/>
          </a:prstGeom>
          <a:solidFill>
            <a:srgbClr val="080B1A"/>
          </a:solidFill>
          <a:ln w="19050">
            <a:solidFill>
              <a:srgbClr val="4FD1E0"/>
            </a:solidFill>
            <a:prstDash val="solid"/>
          </a:ln>
        </p:spPr>
      </p:sp>
      <p:sp>
        <p:nvSpPr>
          <p:cNvPr id="89" name="Text 87"/>
          <p:cNvSpPr/>
          <p:nvPr/>
        </p:nvSpPr>
        <p:spPr>
          <a:xfrm>
            <a:off x="5742432" y="3703320"/>
            <a:ext cx="777240" cy="457200"/>
          </a:xfrm>
          <a:prstGeom prst="rect">
            <a:avLst/>
          </a:prstGeom>
          <a:noFill/>
          <a:ln/>
        </p:spPr>
        <p:txBody>
          <a:bodyPr wrap="square" lIns="0" tIns="0" rIns="0" bIns="0" rtlCol="0" anchor="ctr"/>
          <a:lstStyle/>
          <a:p>
            <a:pPr algn="ctr" indent="0" marL="0">
              <a:buNone/>
            </a:pPr>
            <a:r>
              <a:rPr lang="en-US" sz="1250" b="1" dirty="0">
                <a:solidFill>
                  <a:srgbClr val="4FD1E0"/>
                </a:solidFill>
                <a:latin typeface="Cambria" pitchFamily="34" charset="0"/>
                <a:ea typeface="Cambria" pitchFamily="34" charset="-122"/>
                <a:cs typeface="Cambria" pitchFamily="34" charset="-120"/>
              </a:rPr>
              <a:t>×sᵈ</a:t>
            </a:r>
            <a:endParaRPr lang="en-US" sz="1250" dirty="0"/>
          </a:p>
        </p:txBody>
      </p:sp>
      <p:sp>
        <p:nvSpPr>
          <p:cNvPr id="90" name="Text 88"/>
          <p:cNvSpPr/>
          <p:nvPr/>
        </p:nvSpPr>
        <p:spPr>
          <a:xfrm>
            <a:off x="11475720" y="6355080"/>
            <a:ext cx="502920" cy="320040"/>
          </a:xfrm>
          <a:prstGeom prst="rect">
            <a:avLst/>
          </a:prstGeom>
          <a:noFill/>
          <a:ln/>
        </p:spPr>
        <p:txBody>
          <a:bodyPr wrap="square" lIns="0" tIns="0" rIns="0" bIns="0" rtlCol="0" anchor="ctr"/>
          <a:lstStyle/>
          <a:p>
            <a:pPr algn="r" indent="0" marL="0">
              <a:buNone/>
            </a:pPr>
            <a:r>
              <a:rPr lang="en-US" sz="1100" dirty="0">
                <a:solidFill>
                  <a:srgbClr val="9AA4C7"/>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B1A"/>
        </a:solidFill>
      </p:bgPr>
    </p:bg>
    <p:spTree>
      <p:nvGrpSpPr>
        <p:cNvPr id="1" name=""/>
        <p:cNvGrpSpPr/>
        <p:nvPr/>
      </p:nvGrpSpPr>
      <p:grpSpPr>
        <a:xfrm>
          <a:off x="0" y="0"/>
          <a:ext cx="0" cy="0"/>
          <a:chOff x="0" y="0"/>
          <a:chExt cx="0" cy="0"/>
        </a:xfrm>
      </p:grpSpPr>
      <p:sp>
        <p:nvSpPr>
          <p:cNvPr id="2" name="Shape 0"/>
          <p:cNvSpPr/>
          <p:nvPr/>
        </p:nvSpPr>
        <p:spPr>
          <a:xfrm>
            <a:off x="5978990" y="3845895"/>
            <a:ext cx="14141" cy="14141"/>
          </a:xfrm>
          <a:prstGeom prst="ellipse">
            <a:avLst/>
          </a:prstGeom>
          <a:solidFill>
            <a:srgbClr val="FFFFFF">
              <a:alpha val="36461"/>
            </a:srgbClr>
          </a:solidFill>
          <a:ln/>
        </p:spPr>
      </p:sp>
      <p:sp>
        <p:nvSpPr>
          <p:cNvPr id="3" name="Shape 1"/>
          <p:cNvSpPr/>
          <p:nvPr/>
        </p:nvSpPr>
        <p:spPr>
          <a:xfrm>
            <a:off x="5403480" y="3472774"/>
            <a:ext cx="13128" cy="13128"/>
          </a:xfrm>
          <a:prstGeom prst="ellipse">
            <a:avLst/>
          </a:prstGeom>
          <a:solidFill>
            <a:srgbClr val="FFFFFF">
              <a:alpha val="14240"/>
            </a:srgbClr>
          </a:solidFill>
          <a:ln/>
        </p:spPr>
      </p:sp>
      <p:sp>
        <p:nvSpPr>
          <p:cNvPr id="4" name="Shape 2"/>
          <p:cNvSpPr/>
          <p:nvPr/>
        </p:nvSpPr>
        <p:spPr>
          <a:xfrm>
            <a:off x="7186034" y="2817430"/>
            <a:ext cx="18776" cy="18776"/>
          </a:xfrm>
          <a:prstGeom prst="ellipse">
            <a:avLst/>
          </a:prstGeom>
          <a:solidFill>
            <a:srgbClr val="FFFFFF">
              <a:alpha val="17656"/>
            </a:srgbClr>
          </a:solidFill>
          <a:ln/>
        </p:spPr>
      </p:sp>
      <p:sp>
        <p:nvSpPr>
          <p:cNvPr id="5" name="Shape 3"/>
          <p:cNvSpPr/>
          <p:nvPr/>
        </p:nvSpPr>
        <p:spPr>
          <a:xfrm>
            <a:off x="8015329" y="525198"/>
            <a:ext cx="24649" cy="24649"/>
          </a:xfrm>
          <a:prstGeom prst="ellipse">
            <a:avLst/>
          </a:prstGeom>
          <a:solidFill>
            <a:srgbClr val="FFFFFF">
              <a:alpha val="36772"/>
            </a:srgbClr>
          </a:solidFill>
          <a:ln/>
        </p:spPr>
      </p:sp>
      <p:sp>
        <p:nvSpPr>
          <p:cNvPr id="6" name="Shape 4"/>
          <p:cNvSpPr/>
          <p:nvPr/>
        </p:nvSpPr>
        <p:spPr>
          <a:xfrm>
            <a:off x="8192393" y="1083410"/>
            <a:ext cx="26346" cy="26346"/>
          </a:xfrm>
          <a:prstGeom prst="ellipse">
            <a:avLst/>
          </a:prstGeom>
          <a:solidFill>
            <a:srgbClr val="FFFFFF">
              <a:alpha val="27946"/>
            </a:srgbClr>
          </a:solidFill>
          <a:ln/>
        </p:spPr>
      </p:sp>
      <p:sp>
        <p:nvSpPr>
          <p:cNvPr id="7" name="Shape 5"/>
          <p:cNvSpPr/>
          <p:nvPr/>
        </p:nvSpPr>
        <p:spPr>
          <a:xfrm>
            <a:off x="2148180" y="343400"/>
            <a:ext cx="36735" cy="36735"/>
          </a:xfrm>
          <a:prstGeom prst="ellipse">
            <a:avLst/>
          </a:prstGeom>
          <a:solidFill>
            <a:srgbClr val="FFFFFF">
              <a:alpha val="11054"/>
            </a:srgbClr>
          </a:solidFill>
          <a:ln/>
        </p:spPr>
      </p:sp>
      <p:sp>
        <p:nvSpPr>
          <p:cNvPr id="8" name="Shape 6"/>
          <p:cNvSpPr/>
          <p:nvPr/>
        </p:nvSpPr>
        <p:spPr>
          <a:xfrm>
            <a:off x="1472327" y="3046501"/>
            <a:ext cx="37190" cy="37190"/>
          </a:xfrm>
          <a:prstGeom prst="ellipse">
            <a:avLst/>
          </a:prstGeom>
          <a:solidFill>
            <a:srgbClr val="FFFFFF">
              <a:alpha val="38380"/>
            </a:srgbClr>
          </a:solidFill>
          <a:ln/>
        </p:spPr>
      </p:sp>
      <p:sp>
        <p:nvSpPr>
          <p:cNvPr id="9" name="Shape 7"/>
          <p:cNvSpPr/>
          <p:nvPr/>
        </p:nvSpPr>
        <p:spPr>
          <a:xfrm>
            <a:off x="5111230" y="3774046"/>
            <a:ext cx="29404" cy="29404"/>
          </a:xfrm>
          <a:prstGeom prst="ellipse">
            <a:avLst/>
          </a:prstGeom>
          <a:solidFill>
            <a:srgbClr val="FFFFFF">
              <a:alpha val="35171"/>
            </a:srgbClr>
          </a:solidFill>
          <a:ln/>
        </p:spPr>
      </p:sp>
      <p:sp>
        <p:nvSpPr>
          <p:cNvPr id="10" name="Shape 8"/>
          <p:cNvSpPr/>
          <p:nvPr/>
        </p:nvSpPr>
        <p:spPr>
          <a:xfrm>
            <a:off x="2077313" y="6759369"/>
            <a:ext cx="23198" cy="23198"/>
          </a:xfrm>
          <a:prstGeom prst="ellipse">
            <a:avLst/>
          </a:prstGeom>
          <a:solidFill>
            <a:srgbClr val="FFFFFF">
              <a:alpha val="36859"/>
            </a:srgbClr>
          </a:solidFill>
          <a:ln/>
        </p:spPr>
      </p:sp>
      <p:sp>
        <p:nvSpPr>
          <p:cNvPr id="11" name="Shape 9"/>
          <p:cNvSpPr/>
          <p:nvPr/>
        </p:nvSpPr>
        <p:spPr>
          <a:xfrm>
            <a:off x="6669476" y="2265803"/>
            <a:ext cx="15186" cy="15186"/>
          </a:xfrm>
          <a:prstGeom prst="ellipse">
            <a:avLst/>
          </a:prstGeom>
          <a:solidFill>
            <a:srgbClr val="FFFFFF">
              <a:alpha val="17951"/>
            </a:srgbClr>
          </a:solidFill>
          <a:ln/>
        </p:spPr>
      </p:sp>
      <p:sp>
        <p:nvSpPr>
          <p:cNvPr id="12" name="Shape 10"/>
          <p:cNvSpPr/>
          <p:nvPr/>
        </p:nvSpPr>
        <p:spPr>
          <a:xfrm>
            <a:off x="4287789" y="2400682"/>
            <a:ext cx="13157" cy="13157"/>
          </a:xfrm>
          <a:prstGeom prst="ellipse">
            <a:avLst/>
          </a:prstGeom>
          <a:solidFill>
            <a:srgbClr val="FFFFFF">
              <a:alpha val="12581"/>
            </a:srgbClr>
          </a:solidFill>
          <a:ln/>
        </p:spPr>
      </p:sp>
      <p:sp>
        <p:nvSpPr>
          <p:cNvPr id="13" name="Shape 11"/>
          <p:cNvSpPr/>
          <p:nvPr/>
        </p:nvSpPr>
        <p:spPr>
          <a:xfrm>
            <a:off x="2909534" y="6063339"/>
            <a:ext cx="23885" cy="23885"/>
          </a:xfrm>
          <a:prstGeom prst="ellipse">
            <a:avLst/>
          </a:prstGeom>
          <a:solidFill>
            <a:srgbClr val="FFFFFF">
              <a:alpha val="36739"/>
            </a:srgbClr>
          </a:solidFill>
          <a:ln/>
        </p:spPr>
      </p:sp>
      <p:sp>
        <p:nvSpPr>
          <p:cNvPr id="14" name="Shape 12"/>
          <p:cNvSpPr/>
          <p:nvPr/>
        </p:nvSpPr>
        <p:spPr>
          <a:xfrm>
            <a:off x="7351182" y="2755106"/>
            <a:ext cx="31791" cy="31791"/>
          </a:xfrm>
          <a:prstGeom prst="ellipse">
            <a:avLst/>
          </a:prstGeom>
          <a:solidFill>
            <a:srgbClr val="FFFFFF">
              <a:alpha val="22151"/>
            </a:srgbClr>
          </a:solidFill>
          <a:ln/>
        </p:spPr>
      </p:sp>
      <p:sp>
        <p:nvSpPr>
          <p:cNvPr id="15" name="Shape 13"/>
          <p:cNvSpPr/>
          <p:nvPr/>
        </p:nvSpPr>
        <p:spPr>
          <a:xfrm>
            <a:off x="1658171" y="1535318"/>
            <a:ext cx="23327" cy="23327"/>
          </a:xfrm>
          <a:prstGeom prst="ellipse">
            <a:avLst/>
          </a:prstGeom>
          <a:solidFill>
            <a:srgbClr val="FFFFFF">
              <a:alpha val="41843"/>
            </a:srgbClr>
          </a:solidFill>
          <a:ln/>
        </p:spPr>
      </p:sp>
      <p:sp>
        <p:nvSpPr>
          <p:cNvPr id="16" name="Shape 14"/>
          <p:cNvSpPr/>
          <p:nvPr/>
        </p:nvSpPr>
        <p:spPr>
          <a:xfrm>
            <a:off x="580945" y="2827308"/>
            <a:ext cx="29652" cy="29652"/>
          </a:xfrm>
          <a:prstGeom prst="ellipse">
            <a:avLst/>
          </a:prstGeom>
          <a:solidFill>
            <a:srgbClr val="FFFFFF">
              <a:alpha val="22359"/>
            </a:srgbClr>
          </a:solidFill>
          <a:ln/>
        </p:spPr>
      </p:sp>
      <p:sp>
        <p:nvSpPr>
          <p:cNvPr id="17" name="Shape 15"/>
          <p:cNvSpPr/>
          <p:nvPr/>
        </p:nvSpPr>
        <p:spPr>
          <a:xfrm>
            <a:off x="11645243" y="2228409"/>
            <a:ext cx="22995" cy="22995"/>
          </a:xfrm>
          <a:prstGeom prst="ellipse">
            <a:avLst/>
          </a:prstGeom>
          <a:solidFill>
            <a:srgbClr val="FFFFFF">
              <a:alpha val="27648"/>
            </a:srgbClr>
          </a:solidFill>
          <a:ln/>
        </p:spPr>
      </p:sp>
      <p:sp>
        <p:nvSpPr>
          <p:cNvPr id="18" name="Shape 16"/>
          <p:cNvSpPr/>
          <p:nvPr/>
        </p:nvSpPr>
        <p:spPr>
          <a:xfrm>
            <a:off x="5350172" y="5749954"/>
            <a:ext cx="23337" cy="23337"/>
          </a:xfrm>
          <a:prstGeom prst="ellipse">
            <a:avLst/>
          </a:prstGeom>
          <a:solidFill>
            <a:srgbClr val="FFFFFF">
              <a:alpha val="29624"/>
            </a:srgbClr>
          </a:solidFill>
          <a:ln/>
        </p:spPr>
      </p:sp>
      <p:sp>
        <p:nvSpPr>
          <p:cNvPr id="19" name="Shape 17"/>
          <p:cNvSpPr/>
          <p:nvPr/>
        </p:nvSpPr>
        <p:spPr>
          <a:xfrm>
            <a:off x="3219343" y="1623278"/>
            <a:ext cx="31356" cy="31356"/>
          </a:xfrm>
          <a:prstGeom prst="ellipse">
            <a:avLst/>
          </a:prstGeom>
          <a:solidFill>
            <a:srgbClr val="FFFFFF">
              <a:alpha val="40386"/>
            </a:srgbClr>
          </a:solidFill>
          <a:ln/>
        </p:spPr>
      </p:sp>
      <p:sp>
        <p:nvSpPr>
          <p:cNvPr id="20" name="Shape 18"/>
          <p:cNvSpPr/>
          <p:nvPr/>
        </p:nvSpPr>
        <p:spPr>
          <a:xfrm>
            <a:off x="3296064" y="5257712"/>
            <a:ext cx="34520" cy="34520"/>
          </a:xfrm>
          <a:prstGeom prst="ellipse">
            <a:avLst/>
          </a:prstGeom>
          <a:solidFill>
            <a:srgbClr val="FFFFFF">
              <a:alpha val="11107"/>
            </a:srgbClr>
          </a:solidFill>
          <a:ln/>
        </p:spPr>
      </p:sp>
      <p:sp>
        <p:nvSpPr>
          <p:cNvPr id="21" name="Shape 19"/>
          <p:cNvSpPr/>
          <p:nvPr/>
        </p:nvSpPr>
        <p:spPr>
          <a:xfrm>
            <a:off x="11299895" y="5900591"/>
            <a:ext cx="31475" cy="31475"/>
          </a:xfrm>
          <a:prstGeom prst="ellipse">
            <a:avLst/>
          </a:prstGeom>
          <a:solidFill>
            <a:srgbClr val="FFFFFF">
              <a:alpha val="22590"/>
            </a:srgbClr>
          </a:solidFill>
          <a:ln/>
        </p:spPr>
      </p:sp>
      <p:sp>
        <p:nvSpPr>
          <p:cNvPr id="22" name="Shape 20"/>
          <p:cNvSpPr/>
          <p:nvPr/>
        </p:nvSpPr>
        <p:spPr>
          <a:xfrm>
            <a:off x="6760830" y="165247"/>
            <a:ext cx="19851" cy="19851"/>
          </a:xfrm>
          <a:prstGeom prst="ellipse">
            <a:avLst/>
          </a:prstGeom>
          <a:solidFill>
            <a:srgbClr val="FFFFFF">
              <a:alpha val="32488"/>
            </a:srgbClr>
          </a:solidFill>
          <a:ln/>
        </p:spPr>
      </p:sp>
      <p:sp>
        <p:nvSpPr>
          <p:cNvPr id="23" name="Shape 21"/>
          <p:cNvSpPr/>
          <p:nvPr/>
        </p:nvSpPr>
        <p:spPr>
          <a:xfrm>
            <a:off x="2623138" y="2699015"/>
            <a:ext cx="29788" cy="29788"/>
          </a:xfrm>
          <a:prstGeom prst="ellipse">
            <a:avLst/>
          </a:prstGeom>
          <a:solidFill>
            <a:srgbClr val="FFFFFF">
              <a:alpha val="19197"/>
            </a:srgbClr>
          </a:solidFill>
          <a:ln/>
        </p:spPr>
      </p:sp>
      <p:sp>
        <p:nvSpPr>
          <p:cNvPr id="24" name="Shape 22"/>
          <p:cNvSpPr/>
          <p:nvPr/>
        </p:nvSpPr>
        <p:spPr>
          <a:xfrm>
            <a:off x="3251746" y="6559227"/>
            <a:ext cx="11165" cy="11165"/>
          </a:xfrm>
          <a:prstGeom prst="ellipse">
            <a:avLst/>
          </a:prstGeom>
          <a:solidFill>
            <a:srgbClr val="FFFFFF">
              <a:alpha val="32407"/>
            </a:srgbClr>
          </a:solidFill>
          <a:ln/>
        </p:spPr>
      </p:sp>
      <p:sp>
        <p:nvSpPr>
          <p:cNvPr id="25" name="Shape 23"/>
          <p:cNvSpPr/>
          <p:nvPr/>
        </p:nvSpPr>
        <p:spPr>
          <a:xfrm>
            <a:off x="7141507" y="3025216"/>
            <a:ext cx="13426" cy="13426"/>
          </a:xfrm>
          <a:prstGeom prst="ellipse">
            <a:avLst/>
          </a:prstGeom>
          <a:solidFill>
            <a:srgbClr val="FFFFFF">
              <a:alpha val="10330"/>
            </a:srgbClr>
          </a:solidFill>
          <a:ln/>
        </p:spPr>
      </p:sp>
      <p:sp>
        <p:nvSpPr>
          <p:cNvPr id="26" name="Shape 24"/>
          <p:cNvSpPr/>
          <p:nvPr/>
        </p:nvSpPr>
        <p:spPr>
          <a:xfrm>
            <a:off x="5562565" y="5982317"/>
            <a:ext cx="27089" cy="27089"/>
          </a:xfrm>
          <a:prstGeom prst="ellipse">
            <a:avLst/>
          </a:prstGeom>
          <a:solidFill>
            <a:srgbClr val="FFFFFF">
              <a:alpha val="28582"/>
            </a:srgbClr>
          </a:solidFill>
          <a:ln/>
        </p:spPr>
      </p:sp>
      <p:sp>
        <p:nvSpPr>
          <p:cNvPr id="27" name="Shape 25"/>
          <p:cNvSpPr/>
          <p:nvPr/>
        </p:nvSpPr>
        <p:spPr>
          <a:xfrm>
            <a:off x="1525216" y="5439863"/>
            <a:ext cx="35559" cy="35559"/>
          </a:xfrm>
          <a:prstGeom prst="ellipse">
            <a:avLst/>
          </a:prstGeom>
          <a:solidFill>
            <a:srgbClr val="FFFFFF">
              <a:alpha val="35744"/>
            </a:srgbClr>
          </a:solidFill>
          <a:ln/>
        </p:spPr>
      </p:sp>
      <p:sp>
        <p:nvSpPr>
          <p:cNvPr id="28" name="Shape 26"/>
          <p:cNvSpPr/>
          <p:nvPr/>
        </p:nvSpPr>
        <p:spPr>
          <a:xfrm>
            <a:off x="297476" y="1059186"/>
            <a:ext cx="30369" cy="30369"/>
          </a:xfrm>
          <a:prstGeom prst="ellipse">
            <a:avLst/>
          </a:prstGeom>
          <a:solidFill>
            <a:srgbClr val="FFFFFF">
              <a:alpha val="20580"/>
            </a:srgbClr>
          </a:solidFill>
          <a:ln/>
        </p:spPr>
      </p:sp>
      <p:sp>
        <p:nvSpPr>
          <p:cNvPr id="29" name="Shape 27"/>
          <p:cNvSpPr/>
          <p:nvPr/>
        </p:nvSpPr>
        <p:spPr>
          <a:xfrm>
            <a:off x="8050449" y="5963620"/>
            <a:ext cx="17277" cy="17277"/>
          </a:xfrm>
          <a:prstGeom prst="ellipse">
            <a:avLst/>
          </a:prstGeom>
          <a:solidFill>
            <a:srgbClr val="FFFFFF">
              <a:alpha val="15931"/>
            </a:srgbClr>
          </a:solidFill>
          <a:ln/>
        </p:spPr>
      </p:sp>
      <p:sp>
        <p:nvSpPr>
          <p:cNvPr id="30" name="Shape 28"/>
          <p:cNvSpPr/>
          <p:nvPr/>
        </p:nvSpPr>
        <p:spPr>
          <a:xfrm>
            <a:off x="2056408" y="256499"/>
            <a:ext cx="13217" cy="13217"/>
          </a:xfrm>
          <a:prstGeom prst="ellipse">
            <a:avLst/>
          </a:prstGeom>
          <a:solidFill>
            <a:srgbClr val="FFFFFF">
              <a:alpha val="44265"/>
            </a:srgbClr>
          </a:solidFill>
          <a:ln/>
        </p:spPr>
      </p:sp>
      <p:sp>
        <p:nvSpPr>
          <p:cNvPr id="31" name="Shape 29"/>
          <p:cNvSpPr/>
          <p:nvPr/>
        </p:nvSpPr>
        <p:spPr>
          <a:xfrm>
            <a:off x="6548228" y="5697155"/>
            <a:ext cx="34104" cy="34104"/>
          </a:xfrm>
          <a:prstGeom prst="ellipse">
            <a:avLst/>
          </a:prstGeom>
          <a:solidFill>
            <a:srgbClr val="FFFFFF">
              <a:alpha val="39904"/>
            </a:srgbClr>
          </a:solidFill>
          <a:ln/>
        </p:spPr>
      </p:sp>
      <p:sp>
        <p:nvSpPr>
          <p:cNvPr id="32" name="Shape 30"/>
          <p:cNvSpPr/>
          <p:nvPr/>
        </p:nvSpPr>
        <p:spPr>
          <a:xfrm>
            <a:off x="6022890" y="356923"/>
            <a:ext cx="18642" cy="18642"/>
          </a:xfrm>
          <a:prstGeom prst="ellipse">
            <a:avLst/>
          </a:prstGeom>
          <a:solidFill>
            <a:srgbClr val="FFFFFF">
              <a:alpha val="27909"/>
            </a:srgbClr>
          </a:solidFill>
          <a:ln/>
        </p:spPr>
      </p:sp>
      <p:sp>
        <p:nvSpPr>
          <p:cNvPr id="33" name="Shape 31"/>
          <p:cNvSpPr/>
          <p:nvPr/>
        </p:nvSpPr>
        <p:spPr>
          <a:xfrm>
            <a:off x="781422" y="2439135"/>
            <a:ext cx="17291" cy="17291"/>
          </a:xfrm>
          <a:prstGeom prst="ellipse">
            <a:avLst/>
          </a:prstGeom>
          <a:solidFill>
            <a:srgbClr val="FFFFFF">
              <a:alpha val="34638"/>
            </a:srgbClr>
          </a:solidFill>
          <a:ln/>
        </p:spPr>
      </p:sp>
      <p:sp>
        <p:nvSpPr>
          <p:cNvPr id="34" name="Shape 32"/>
          <p:cNvSpPr/>
          <p:nvPr/>
        </p:nvSpPr>
        <p:spPr>
          <a:xfrm>
            <a:off x="9638171" y="937125"/>
            <a:ext cx="15488" cy="15488"/>
          </a:xfrm>
          <a:prstGeom prst="ellipse">
            <a:avLst/>
          </a:prstGeom>
          <a:solidFill>
            <a:srgbClr val="FFFFFF">
              <a:alpha val="44968"/>
            </a:srgbClr>
          </a:solidFill>
          <a:ln/>
        </p:spPr>
      </p:sp>
      <p:sp>
        <p:nvSpPr>
          <p:cNvPr id="35" name="Shape 33"/>
          <p:cNvSpPr/>
          <p:nvPr/>
        </p:nvSpPr>
        <p:spPr>
          <a:xfrm>
            <a:off x="7607685" y="592226"/>
            <a:ext cx="22038" cy="22038"/>
          </a:xfrm>
          <a:prstGeom prst="ellipse">
            <a:avLst/>
          </a:prstGeom>
          <a:solidFill>
            <a:srgbClr val="FFFFFF">
              <a:alpha val="41183"/>
            </a:srgbClr>
          </a:solidFill>
          <a:ln/>
        </p:spPr>
      </p:sp>
      <p:sp>
        <p:nvSpPr>
          <p:cNvPr id="36" name="Shape 34"/>
          <p:cNvSpPr/>
          <p:nvPr/>
        </p:nvSpPr>
        <p:spPr>
          <a:xfrm>
            <a:off x="5828057" y="2843771"/>
            <a:ext cx="11204" cy="11204"/>
          </a:xfrm>
          <a:prstGeom prst="ellipse">
            <a:avLst/>
          </a:prstGeom>
          <a:solidFill>
            <a:srgbClr val="FFFFFF">
              <a:alpha val="18530"/>
            </a:srgbClr>
          </a:solidFill>
          <a:ln/>
        </p:spPr>
      </p:sp>
      <p:sp>
        <p:nvSpPr>
          <p:cNvPr id="37" name="Shape 35"/>
          <p:cNvSpPr/>
          <p:nvPr/>
        </p:nvSpPr>
        <p:spPr>
          <a:xfrm>
            <a:off x="5503405" y="5067094"/>
            <a:ext cx="20239" cy="20239"/>
          </a:xfrm>
          <a:prstGeom prst="ellipse">
            <a:avLst/>
          </a:prstGeom>
          <a:solidFill>
            <a:srgbClr val="FFFFFF">
              <a:alpha val="12440"/>
            </a:srgbClr>
          </a:solidFill>
          <a:ln/>
        </p:spPr>
      </p:sp>
      <p:sp>
        <p:nvSpPr>
          <p:cNvPr id="38" name="Shape 36"/>
          <p:cNvSpPr/>
          <p:nvPr/>
        </p:nvSpPr>
        <p:spPr>
          <a:xfrm>
            <a:off x="8740935" y="4383528"/>
            <a:ext cx="18323" cy="18323"/>
          </a:xfrm>
          <a:prstGeom prst="ellipse">
            <a:avLst/>
          </a:prstGeom>
          <a:solidFill>
            <a:srgbClr val="FFFFFF">
              <a:alpha val="32421"/>
            </a:srgbClr>
          </a:solidFill>
          <a:ln/>
        </p:spPr>
      </p:sp>
      <p:sp>
        <p:nvSpPr>
          <p:cNvPr id="39" name="Shape 37"/>
          <p:cNvSpPr/>
          <p:nvPr/>
        </p:nvSpPr>
        <p:spPr>
          <a:xfrm>
            <a:off x="940717" y="6042407"/>
            <a:ext cx="13246" cy="13246"/>
          </a:xfrm>
          <a:prstGeom prst="ellipse">
            <a:avLst/>
          </a:prstGeom>
          <a:solidFill>
            <a:srgbClr val="FFFFFF">
              <a:alpha val="42607"/>
            </a:srgbClr>
          </a:solidFill>
          <a:ln/>
        </p:spPr>
      </p:sp>
      <p:sp>
        <p:nvSpPr>
          <p:cNvPr id="40" name="Shape 38"/>
          <p:cNvSpPr/>
          <p:nvPr/>
        </p:nvSpPr>
        <p:spPr>
          <a:xfrm>
            <a:off x="2271728" y="2085064"/>
            <a:ext cx="11782" cy="11782"/>
          </a:xfrm>
          <a:prstGeom prst="ellipse">
            <a:avLst/>
          </a:prstGeom>
          <a:solidFill>
            <a:srgbClr val="FFFFFF">
              <a:alpha val="23986"/>
            </a:srgbClr>
          </a:solidFill>
          <a:ln/>
        </p:spPr>
      </p:sp>
      <p:sp>
        <p:nvSpPr>
          <p:cNvPr id="41" name="Shape 39"/>
          <p:cNvSpPr/>
          <p:nvPr/>
        </p:nvSpPr>
        <p:spPr>
          <a:xfrm>
            <a:off x="5358743" y="2586831"/>
            <a:ext cx="25784" cy="25784"/>
          </a:xfrm>
          <a:prstGeom prst="ellipse">
            <a:avLst/>
          </a:prstGeom>
          <a:solidFill>
            <a:srgbClr val="FFFFFF">
              <a:alpha val="13288"/>
            </a:srgbClr>
          </a:solidFill>
          <a:ln/>
        </p:spPr>
      </p:sp>
      <p:sp>
        <p:nvSpPr>
          <p:cNvPr id="42" name="Shape 40"/>
          <p:cNvSpPr/>
          <p:nvPr/>
        </p:nvSpPr>
        <p:spPr>
          <a:xfrm>
            <a:off x="6438896" y="2891043"/>
            <a:ext cx="14272" cy="14272"/>
          </a:xfrm>
          <a:prstGeom prst="ellipse">
            <a:avLst/>
          </a:prstGeom>
          <a:solidFill>
            <a:srgbClr val="FFFFFF">
              <a:alpha val="13536"/>
            </a:srgbClr>
          </a:solidFill>
          <a:ln/>
        </p:spPr>
      </p:sp>
      <p:sp>
        <p:nvSpPr>
          <p:cNvPr id="43" name="Shape 41"/>
          <p:cNvSpPr/>
          <p:nvPr/>
        </p:nvSpPr>
        <p:spPr>
          <a:xfrm>
            <a:off x="8070936" y="3421033"/>
            <a:ext cx="35837" cy="35837"/>
          </a:xfrm>
          <a:prstGeom prst="ellipse">
            <a:avLst/>
          </a:prstGeom>
          <a:solidFill>
            <a:srgbClr val="FFFFFF">
              <a:alpha val="21273"/>
            </a:srgbClr>
          </a:solidFill>
          <a:ln/>
        </p:spPr>
      </p:sp>
      <p:sp>
        <p:nvSpPr>
          <p:cNvPr id="44" name="Shape 42"/>
          <p:cNvSpPr/>
          <p:nvPr/>
        </p:nvSpPr>
        <p:spPr>
          <a:xfrm>
            <a:off x="5588906" y="6632134"/>
            <a:ext cx="35276" cy="35276"/>
          </a:xfrm>
          <a:prstGeom prst="ellipse">
            <a:avLst/>
          </a:prstGeom>
          <a:solidFill>
            <a:srgbClr val="FFFFFF">
              <a:alpha val="30451"/>
            </a:srgbClr>
          </a:solidFill>
          <a:ln/>
        </p:spPr>
      </p:sp>
      <p:sp>
        <p:nvSpPr>
          <p:cNvPr id="45" name="Shape 43"/>
          <p:cNvSpPr/>
          <p:nvPr/>
        </p:nvSpPr>
        <p:spPr>
          <a:xfrm>
            <a:off x="6066999" y="4819679"/>
            <a:ext cx="32570" cy="32570"/>
          </a:xfrm>
          <a:prstGeom prst="ellipse">
            <a:avLst/>
          </a:prstGeom>
          <a:solidFill>
            <a:srgbClr val="FFFFFF">
              <a:alpha val="12983"/>
            </a:srgbClr>
          </a:solidFill>
          <a:ln/>
        </p:spPr>
      </p:sp>
      <p:sp>
        <p:nvSpPr>
          <p:cNvPr id="46" name="Shape 44"/>
          <p:cNvSpPr/>
          <p:nvPr/>
        </p:nvSpPr>
        <p:spPr>
          <a:xfrm>
            <a:off x="6645436" y="6789003"/>
            <a:ext cx="28396" cy="28396"/>
          </a:xfrm>
          <a:prstGeom prst="ellipse">
            <a:avLst/>
          </a:prstGeom>
          <a:solidFill>
            <a:srgbClr val="FFFFFF">
              <a:alpha val="15967"/>
            </a:srgbClr>
          </a:solidFill>
          <a:ln/>
        </p:spPr>
      </p:sp>
      <p:sp>
        <p:nvSpPr>
          <p:cNvPr id="47" name="Shape 45"/>
          <p:cNvSpPr/>
          <p:nvPr/>
        </p:nvSpPr>
        <p:spPr>
          <a:xfrm>
            <a:off x="5367523" y="517437"/>
            <a:ext cx="37657" cy="37657"/>
          </a:xfrm>
          <a:prstGeom prst="ellipse">
            <a:avLst/>
          </a:prstGeom>
          <a:solidFill>
            <a:srgbClr val="FFFFFF">
              <a:alpha val="25577"/>
            </a:srgbClr>
          </a:solidFill>
          <a:ln/>
        </p:spPr>
      </p:sp>
      <p:sp>
        <p:nvSpPr>
          <p:cNvPr id="48" name="Shape 46"/>
          <p:cNvSpPr/>
          <p:nvPr/>
        </p:nvSpPr>
        <p:spPr>
          <a:xfrm>
            <a:off x="7952823" y="2684316"/>
            <a:ext cx="31564" cy="31564"/>
          </a:xfrm>
          <a:prstGeom prst="ellipse">
            <a:avLst/>
          </a:prstGeom>
          <a:solidFill>
            <a:srgbClr val="FFFFFF">
              <a:alpha val="17615"/>
            </a:srgbClr>
          </a:solidFill>
          <a:ln/>
        </p:spPr>
      </p:sp>
      <p:sp>
        <p:nvSpPr>
          <p:cNvPr id="49" name="Shape 47"/>
          <p:cNvSpPr/>
          <p:nvPr/>
        </p:nvSpPr>
        <p:spPr>
          <a:xfrm>
            <a:off x="6123024" y="3044972"/>
            <a:ext cx="35180" cy="35180"/>
          </a:xfrm>
          <a:prstGeom prst="ellipse">
            <a:avLst/>
          </a:prstGeom>
          <a:solidFill>
            <a:srgbClr val="FFFFFF">
              <a:alpha val="19736"/>
            </a:srgbClr>
          </a:solidFill>
          <a:ln/>
        </p:spPr>
      </p:sp>
      <p:sp>
        <p:nvSpPr>
          <p:cNvPr id="50" name="Shape 48"/>
          <p:cNvSpPr/>
          <p:nvPr/>
        </p:nvSpPr>
        <p:spPr>
          <a:xfrm>
            <a:off x="630699" y="2530740"/>
            <a:ext cx="23781" cy="23781"/>
          </a:xfrm>
          <a:prstGeom prst="ellipse">
            <a:avLst/>
          </a:prstGeom>
          <a:solidFill>
            <a:srgbClr val="FFFFFF">
              <a:alpha val="10333"/>
            </a:srgbClr>
          </a:solidFill>
          <a:ln/>
        </p:spPr>
      </p:sp>
      <p:sp>
        <p:nvSpPr>
          <p:cNvPr id="51" name="Shape 49"/>
          <p:cNvSpPr/>
          <p:nvPr/>
        </p:nvSpPr>
        <p:spPr>
          <a:xfrm>
            <a:off x="8032471" y="1056952"/>
            <a:ext cx="29542" cy="29542"/>
          </a:xfrm>
          <a:prstGeom prst="ellipse">
            <a:avLst/>
          </a:prstGeom>
          <a:solidFill>
            <a:srgbClr val="FFFFFF">
              <a:alpha val="39100"/>
            </a:srgbClr>
          </a:solidFill>
          <a:ln/>
        </p:spPr>
      </p:sp>
      <p:sp>
        <p:nvSpPr>
          <p:cNvPr id="52" name="Shape 50"/>
          <p:cNvSpPr/>
          <p:nvPr/>
        </p:nvSpPr>
        <p:spPr>
          <a:xfrm>
            <a:off x="2439802" y="3618941"/>
            <a:ext cx="19611" cy="19611"/>
          </a:xfrm>
          <a:prstGeom prst="ellipse">
            <a:avLst/>
          </a:prstGeom>
          <a:solidFill>
            <a:srgbClr val="FFFFFF">
              <a:alpha val="44245"/>
            </a:srgbClr>
          </a:solidFill>
          <a:ln/>
        </p:spPr>
      </p:sp>
      <p:sp>
        <p:nvSpPr>
          <p:cNvPr id="53" name="Shape 51"/>
          <p:cNvSpPr/>
          <p:nvPr/>
        </p:nvSpPr>
        <p:spPr>
          <a:xfrm>
            <a:off x="11697923" y="3528042"/>
            <a:ext cx="11938" cy="11938"/>
          </a:xfrm>
          <a:prstGeom prst="ellipse">
            <a:avLst/>
          </a:prstGeom>
          <a:solidFill>
            <a:srgbClr val="FFFFFF">
              <a:alpha val="31385"/>
            </a:srgbClr>
          </a:solidFill>
          <a:ln/>
        </p:spPr>
      </p:sp>
      <p:sp>
        <p:nvSpPr>
          <p:cNvPr id="54" name="Shape 52"/>
          <p:cNvSpPr/>
          <p:nvPr/>
        </p:nvSpPr>
        <p:spPr>
          <a:xfrm>
            <a:off x="2242043" y="4509588"/>
            <a:ext cx="17360" cy="17360"/>
          </a:xfrm>
          <a:prstGeom prst="ellipse">
            <a:avLst/>
          </a:prstGeom>
          <a:solidFill>
            <a:srgbClr val="FFFFFF">
              <a:alpha val="19102"/>
            </a:srgbClr>
          </a:solidFill>
          <a:ln/>
        </p:spPr>
      </p:sp>
      <p:sp>
        <p:nvSpPr>
          <p:cNvPr id="55" name="Shape 53"/>
          <p:cNvSpPr/>
          <p:nvPr/>
        </p:nvSpPr>
        <p:spPr>
          <a:xfrm>
            <a:off x="3723568" y="6224911"/>
            <a:ext cx="27410" cy="27410"/>
          </a:xfrm>
          <a:prstGeom prst="ellipse">
            <a:avLst/>
          </a:prstGeom>
          <a:solidFill>
            <a:srgbClr val="FFFFFF">
              <a:alpha val="31161"/>
            </a:srgbClr>
          </a:solidFill>
          <a:ln/>
        </p:spPr>
      </p:sp>
      <p:sp>
        <p:nvSpPr>
          <p:cNvPr id="56" name="Shape 54"/>
          <p:cNvSpPr/>
          <p:nvPr/>
        </p:nvSpPr>
        <p:spPr>
          <a:xfrm>
            <a:off x="10121908" y="1223345"/>
            <a:ext cx="20414" cy="20414"/>
          </a:xfrm>
          <a:prstGeom prst="ellipse">
            <a:avLst/>
          </a:prstGeom>
          <a:solidFill>
            <a:srgbClr val="FFFFFF">
              <a:alpha val="30401"/>
            </a:srgbClr>
          </a:solidFill>
          <a:ln/>
        </p:spPr>
      </p:sp>
      <p:sp>
        <p:nvSpPr>
          <p:cNvPr id="57" name="Shape 55"/>
          <p:cNvSpPr/>
          <p:nvPr/>
        </p:nvSpPr>
        <p:spPr>
          <a:xfrm>
            <a:off x="10901031" y="3898224"/>
            <a:ext cx="13306" cy="13306"/>
          </a:xfrm>
          <a:prstGeom prst="ellipse">
            <a:avLst/>
          </a:prstGeom>
          <a:solidFill>
            <a:srgbClr val="FFFFFF">
              <a:alpha val="39290"/>
            </a:srgbClr>
          </a:solidFill>
          <a:ln/>
        </p:spPr>
      </p:sp>
      <p:sp>
        <p:nvSpPr>
          <p:cNvPr id="58" name="Shape 56"/>
          <p:cNvSpPr/>
          <p:nvPr/>
        </p:nvSpPr>
        <p:spPr>
          <a:xfrm>
            <a:off x="5910422" y="1718880"/>
            <a:ext cx="22001" cy="22001"/>
          </a:xfrm>
          <a:prstGeom prst="ellipse">
            <a:avLst/>
          </a:prstGeom>
          <a:solidFill>
            <a:srgbClr val="FFFFFF">
              <a:alpha val="27151"/>
            </a:srgbClr>
          </a:solidFill>
          <a:ln/>
        </p:spPr>
      </p:sp>
      <p:sp>
        <p:nvSpPr>
          <p:cNvPr id="59" name="Shape 57"/>
          <p:cNvSpPr/>
          <p:nvPr/>
        </p:nvSpPr>
        <p:spPr>
          <a:xfrm>
            <a:off x="4030451" y="188648"/>
            <a:ext cx="12635" cy="12635"/>
          </a:xfrm>
          <a:prstGeom prst="ellipse">
            <a:avLst/>
          </a:prstGeom>
          <a:solidFill>
            <a:srgbClr val="FFFFFF">
              <a:alpha val="19045"/>
            </a:srgbClr>
          </a:solidFill>
          <a:ln/>
        </p:spPr>
      </p:sp>
      <p:sp>
        <p:nvSpPr>
          <p:cNvPr id="60" name="Shape 58"/>
          <p:cNvSpPr/>
          <p:nvPr/>
        </p:nvSpPr>
        <p:spPr>
          <a:xfrm>
            <a:off x="5562147" y="3794860"/>
            <a:ext cx="35667" cy="35667"/>
          </a:xfrm>
          <a:prstGeom prst="ellipse">
            <a:avLst/>
          </a:prstGeom>
          <a:solidFill>
            <a:srgbClr val="FFFFFF">
              <a:alpha val="41330"/>
            </a:srgbClr>
          </a:solidFill>
          <a:ln/>
        </p:spPr>
      </p:sp>
      <p:sp>
        <p:nvSpPr>
          <p:cNvPr id="61" name="Shape 59"/>
          <p:cNvSpPr/>
          <p:nvPr/>
        </p:nvSpPr>
        <p:spPr>
          <a:xfrm>
            <a:off x="4936466" y="1530850"/>
            <a:ext cx="21673" cy="21673"/>
          </a:xfrm>
          <a:prstGeom prst="ellipse">
            <a:avLst/>
          </a:prstGeom>
          <a:solidFill>
            <a:srgbClr val="FFFFFF">
              <a:alpha val="43883"/>
            </a:srgbClr>
          </a:solidFill>
          <a:ln/>
        </p:spPr>
      </p:sp>
      <p:sp>
        <p:nvSpPr>
          <p:cNvPr id="62" name="Shape 60"/>
          <p:cNvSpPr/>
          <p:nvPr/>
        </p:nvSpPr>
        <p:spPr>
          <a:xfrm>
            <a:off x="1551347" y="4995951"/>
            <a:ext cx="34319" cy="34319"/>
          </a:xfrm>
          <a:prstGeom prst="ellipse">
            <a:avLst/>
          </a:prstGeom>
          <a:solidFill>
            <a:srgbClr val="FFFFFF">
              <a:alpha val="43987"/>
            </a:srgbClr>
          </a:solidFill>
          <a:ln/>
        </p:spPr>
      </p:sp>
      <p:sp>
        <p:nvSpPr>
          <p:cNvPr id="63" name="Shape 61"/>
          <p:cNvSpPr/>
          <p:nvPr/>
        </p:nvSpPr>
        <p:spPr>
          <a:xfrm>
            <a:off x="6544883" y="1913496"/>
            <a:ext cx="20437" cy="20437"/>
          </a:xfrm>
          <a:prstGeom prst="ellipse">
            <a:avLst/>
          </a:prstGeom>
          <a:solidFill>
            <a:srgbClr val="FFFFFF">
              <a:alpha val="36889"/>
            </a:srgbClr>
          </a:solidFill>
          <a:ln/>
        </p:spPr>
      </p:sp>
      <p:sp>
        <p:nvSpPr>
          <p:cNvPr id="64" name="Shape 62"/>
          <p:cNvSpPr/>
          <p:nvPr/>
        </p:nvSpPr>
        <p:spPr>
          <a:xfrm>
            <a:off x="8929497" y="3374819"/>
            <a:ext cx="17280" cy="17280"/>
          </a:xfrm>
          <a:prstGeom prst="ellipse">
            <a:avLst/>
          </a:prstGeom>
          <a:solidFill>
            <a:srgbClr val="FFFFFF">
              <a:alpha val="23021"/>
            </a:srgbClr>
          </a:solidFill>
          <a:ln/>
        </p:spPr>
      </p:sp>
      <p:sp>
        <p:nvSpPr>
          <p:cNvPr id="65" name="Shape 63"/>
          <p:cNvSpPr/>
          <p:nvPr/>
        </p:nvSpPr>
        <p:spPr>
          <a:xfrm>
            <a:off x="10812395" y="6501253"/>
            <a:ext cx="21460" cy="21460"/>
          </a:xfrm>
          <a:prstGeom prst="ellipse">
            <a:avLst/>
          </a:prstGeom>
          <a:solidFill>
            <a:srgbClr val="FFFFFF">
              <a:alpha val="11891"/>
            </a:srgbClr>
          </a:solidFill>
          <a:ln/>
        </p:spPr>
      </p:sp>
      <p:sp>
        <p:nvSpPr>
          <p:cNvPr id="66" name="Shape 64"/>
          <p:cNvSpPr/>
          <p:nvPr/>
        </p:nvSpPr>
        <p:spPr>
          <a:xfrm>
            <a:off x="9785341" y="2826132"/>
            <a:ext cx="13335" cy="13335"/>
          </a:xfrm>
          <a:prstGeom prst="ellipse">
            <a:avLst/>
          </a:prstGeom>
          <a:solidFill>
            <a:srgbClr val="FFFFFF">
              <a:alpha val="37632"/>
            </a:srgbClr>
          </a:solidFill>
          <a:ln/>
        </p:spPr>
      </p:sp>
      <p:sp>
        <p:nvSpPr>
          <p:cNvPr id="67" name="Shape 65"/>
          <p:cNvSpPr/>
          <p:nvPr/>
        </p:nvSpPr>
        <p:spPr>
          <a:xfrm>
            <a:off x="1633921" y="4964789"/>
            <a:ext cx="27111" cy="27111"/>
          </a:xfrm>
          <a:prstGeom prst="ellipse">
            <a:avLst/>
          </a:prstGeom>
          <a:solidFill>
            <a:srgbClr val="FFFFFF">
              <a:alpha val="11234"/>
            </a:srgbClr>
          </a:solidFill>
          <a:ln/>
        </p:spPr>
      </p:sp>
      <p:sp>
        <p:nvSpPr>
          <p:cNvPr id="68" name="Shape 66"/>
          <p:cNvSpPr/>
          <p:nvPr/>
        </p:nvSpPr>
        <p:spPr>
          <a:xfrm>
            <a:off x="3366304" y="2418556"/>
            <a:ext cx="19776" cy="19776"/>
          </a:xfrm>
          <a:prstGeom prst="ellipse">
            <a:avLst/>
          </a:prstGeom>
          <a:solidFill>
            <a:srgbClr val="FFFFFF">
              <a:alpha val="39424"/>
            </a:srgbClr>
          </a:solidFill>
          <a:ln/>
        </p:spPr>
      </p:sp>
      <p:sp>
        <p:nvSpPr>
          <p:cNvPr id="69" name="Shape 67"/>
          <p:cNvSpPr/>
          <p:nvPr/>
        </p:nvSpPr>
        <p:spPr>
          <a:xfrm>
            <a:off x="11219621" y="4246768"/>
            <a:ext cx="32649" cy="32649"/>
          </a:xfrm>
          <a:prstGeom prst="ellipse">
            <a:avLst/>
          </a:prstGeom>
          <a:solidFill>
            <a:srgbClr val="FFFFFF">
              <a:alpha val="20228"/>
            </a:srgbClr>
          </a:solidFill>
          <a:ln/>
        </p:spPr>
      </p:sp>
      <p:sp>
        <p:nvSpPr>
          <p:cNvPr id="70" name="Shape 68"/>
          <p:cNvSpPr/>
          <p:nvPr/>
        </p:nvSpPr>
        <p:spPr>
          <a:xfrm>
            <a:off x="3369231" y="4014758"/>
            <a:ext cx="14590" cy="14590"/>
          </a:xfrm>
          <a:prstGeom prst="ellipse">
            <a:avLst/>
          </a:prstGeom>
          <a:solidFill>
            <a:srgbClr val="FFFFFF">
              <a:alpha val="20187"/>
            </a:srgbClr>
          </a:solidFill>
          <a:ln/>
        </p:spPr>
      </p:sp>
      <p:sp>
        <p:nvSpPr>
          <p:cNvPr id="71" name="Shape 69"/>
          <p:cNvSpPr/>
          <p:nvPr/>
        </p:nvSpPr>
        <p:spPr>
          <a:xfrm>
            <a:off x="11724263" y="4177859"/>
            <a:ext cx="20125" cy="20125"/>
          </a:xfrm>
          <a:prstGeom prst="ellipse">
            <a:avLst/>
          </a:prstGeom>
          <a:solidFill>
            <a:srgbClr val="FFFFFF">
              <a:alpha val="33254"/>
            </a:srgbClr>
          </a:solidFill>
          <a:ln/>
        </p:spPr>
      </p:sp>
      <p:sp>
        <p:nvSpPr>
          <p:cNvPr id="72" name="Text 70"/>
          <p:cNvSpPr/>
          <p:nvPr/>
        </p:nvSpPr>
        <p:spPr>
          <a:xfrm>
            <a:off x="640080" y="457200"/>
            <a:ext cx="10972800" cy="320040"/>
          </a:xfrm>
          <a:prstGeom prst="rect">
            <a:avLst/>
          </a:prstGeom>
          <a:noFill/>
          <a:ln/>
        </p:spPr>
        <p:txBody>
          <a:bodyPr wrap="square" lIns="0" tIns="0" rIns="0" bIns="0" rtlCol="0" anchor="ctr"/>
          <a:lstStyle/>
          <a:p>
            <a:pPr indent="0" marL="0">
              <a:buNone/>
            </a:pPr>
            <a:r>
              <a:rPr lang="en-US" sz="1250" b="1" spc="300" kern="0" dirty="0">
                <a:solidFill>
                  <a:srgbClr val="E8B54D"/>
                </a:solidFill>
                <a:latin typeface="Calibri" pitchFamily="34" charset="0"/>
                <a:ea typeface="Calibri" pitchFamily="34" charset="-122"/>
                <a:cs typeface="Calibri" pitchFamily="34" charset="-120"/>
              </a:rPr>
              <a:t>WORKED EXAMPLE · POWER 4</a:t>
            </a:r>
            <a:endParaRPr lang="en-US" sz="1250" dirty="0"/>
          </a:p>
        </p:txBody>
      </p:sp>
      <p:sp>
        <p:nvSpPr>
          <p:cNvPr id="73" name="Text 71"/>
          <p:cNvSpPr/>
          <p:nvPr/>
        </p:nvSpPr>
        <p:spPr>
          <a:xfrm>
            <a:off x="640080" y="777240"/>
            <a:ext cx="10972800" cy="822960"/>
          </a:xfrm>
          <a:prstGeom prst="rect">
            <a:avLst/>
          </a:prstGeom>
          <a:noFill/>
          <a:ln/>
        </p:spPr>
        <p:txBody>
          <a:bodyPr wrap="square" lIns="0" tIns="0" rIns="0" bIns="0" rtlCol="0" anchor="ctr"/>
          <a:lstStyle/>
          <a:p>
            <a:pPr indent="0" marL="0">
              <a:buNone/>
            </a:pPr>
            <a:r>
              <a:rPr lang="en-US" sz="3400" b="1" dirty="0">
                <a:solidFill>
                  <a:srgbClr val="F5F7FF"/>
                </a:solidFill>
                <a:latin typeface="Cambria" pitchFamily="34" charset="0"/>
                <a:ea typeface="Cambria" pitchFamily="34" charset="-122"/>
                <a:cs typeface="Cambria" pitchFamily="34" charset="-120"/>
              </a:rPr>
              <a:t>2, 4, 6, 8 … 18  —  spacing 2, exact</a:t>
            </a:r>
            <a:endParaRPr lang="en-US" sz="3400" dirty="0"/>
          </a:p>
        </p:txBody>
      </p:sp>
      <p:sp>
        <p:nvSpPr>
          <p:cNvPr id="74" name="Shape 72"/>
          <p:cNvSpPr/>
          <p:nvPr/>
        </p:nvSpPr>
        <p:spPr>
          <a:xfrm>
            <a:off x="640080" y="1783080"/>
            <a:ext cx="5623560" cy="4160520"/>
          </a:xfrm>
          <a:prstGeom prst="roundRect">
            <a:avLst>
              <a:gd name="adj" fmla="val 1978"/>
            </a:avLst>
          </a:prstGeom>
          <a:solidFill>
            <a:srgbClr val="141A33"/>
          </a:solidFill>
          <a:ln w="12700">
            <a:solidFill>
              <a:srgbClr val="2A3358"/>
            </a:solidFill>
            <a:prstDash val="solid"/>
          </a:ln>
          <a:effectLst>
            <a:outerShdw sx="100000" sy="100000" kx="0" ky="0" algn="bl" rotWithShape="0" blurRad="114300" dist="38100" dir="5400000">
              <a:srgbClr val="000000">
                <a:alpha val="35000"/>
              </a:srgbClr>
            </a:outerShdw>
          </a:effectLst>
        </p:spPr>
      </p:sp>
      <p:sp>
        <p:nvSpPr>
          <p:cNvPr id="75" name="Shape 73"/>
          <p:cNvSpPr/>
          <p:nvPr/>
        </p:nvSpPr>
        <p:spPr>
          <a:xfrm>
            <a:off x="914400" y="2075688"/>
            <a:ext cx="384048" cy="384048"/>
          </a:xfrm>
          <a:prstGeom prst="ellipse">
            <a:avLst/>
          </a:prstGeom>
          <a:solidFill>
            <a:srgbClr val="6C7CE0"/>
          </a:solidFill>
          <a:ln/>
        </p:spPr>
      </p:sp>
      <p:sp>
        <p:nvSpPr>
          <p:cNvPr id="76" name="Text 74"/>
          <p:cNvSpPr/>
          <p:nvPr/>
        </p:nvSpPr>
        <p:spPr>
          <a:xfrm>
            <a:off x="914400" y="2075688"/>
            <a:ext cx="384048" cy="384048"/>
          </a:xfrm>
          <a:prstGeom prst="rect">
            <a:avLst/>
          </a:prstGeom>
          <a:noFill/>
          <a:ln/>
        </p:spPr>
        <p:txBody>
          <a:bodyPr wrap="square" lIns="0" tIns="0" rIns="0" bIns="0" rtlCol="0" anchor="ctr"/>
          <a:lstStyle/>
          <a:p>
            <a:pPr algn="ctr" indent="0" marL="0">
              <a:buNone/>
            </a:pPr>
            <a:r>
              <a:rPr lang="en-US" sz="1500" b="1" dirty="0">
                <a:solidFill>
                  <a:srgbClr val="080B1A"/>
                </a:solidFill>
                <a:latin typeface="Cambria" pitchFamily="34" charset="0"/>
                <a:ea typeface="Cambria" pitchFamily="34" charset="-122"/>
                <a:cs typeface="Cambria" pitchFamily="34" charset="-120"/>
              </a:rPr>
              <a:t>1</a:t>
            </a:r>
            <a:endParaRPr lang="en-US" sz="1500" dirty="0"/>
          </a:p>
        </p:txBody>
      </p:sp>
      <p:sp>
        <p:nvSpPr>
          <p:cNvPr id="77" name="Text 75"/>
          <p:cNvSpPr/>
          <p:nvPr/>
        </p:nvSpPr>
        <p:spPr>
          <a:xfrm>
            <a:off x="1463040" y="2020824"/>
            <a:ext cx="4572000" cy="320040"/>
          </a:xfrm>
          <a:prstGeom prst="rect">
            <a:avLst/>
          </a:prstGeom>
          <a:noFill/>
          <a:ln/>
        </p:spPr>
        <p:txBody>
          <a:bodyPr wrap="square" lIns="0" tIns="0" rIns="0" bIns="0" rtlCol="0" anchor="ctr"/>
          <a:lstStyle/>
          <a:p>
            <a:pPr indent="0" marL="0">
              <a:buNone/>
            </a:pPr>
            <a:r>
              <a:rPr lang="en-US" sz="1350" b="1" dirty="0">
                <a:solidFill>
                  <a:srgbClr val="F5F7FF"/>
                </a:solidFill>
                <a:latin typeface="Calibri" pitchFamily="34" charset="0"/>
                <a:ea typeface="Calibri" pitchFamily="34" charset="-122"/>
                <a:cs typeface="Calibri" pitchFamily="34" charset="-120"/>
              </a:rPr>
              <a:t>Underlying sequence</a:t>
            </a:r>
            <a:endParaRPr lang="en-US" sz="1350" dirty="0"/>
          </a:p>
        </p:txBody>
      </p:sp>
      <p:sp>
        <p:nvSpPr>
          <p:cNvPr id="78" name="Text 76"/>
          <p:cNvSpPr/>
          <p:nvPr/>
        </p:nvSpPr>
        <p:spPr>
          <a:xfrm>
            <a:off x="1463040" y="2313432"/>
            <a:ext cx="4617720" cy="566928"/>
          </a:xfrm>
          <a:prstGeom prst="rect">
            <a:avLst/>
          </a:prstGeom>
          <a:noFill/>
          <a:ln/>
        </p:spPr>
        <p:txBody>
          <a:bodyPr wrap="square" lIns="0" tIns="0" rIns="0" bIns="0" rtlCol="0" anchor="ctr"/>
          <a:lstStyle/>
          <a:p>
            <a:pPr indent="0" marL="0">
              <a:lnSpc>
                <a:spcPts val="1400"/>
              </a:lnSpc>
              <a:buNone/>
            </a:pPr>
            <a:r>
              <a:rPr lang="en-US" sz="1150" dirty="0">
                <a:solidFill>
                  <a:srgbClr val="9AA4C7"/>
                </a:solidFill>
                <a:latin typeface="Calibri" pitchFamily="34" charset="0"/>
                <a:ea typeface="Calibri" pitchFamily="34" charset="-122"/>
                <a:cs typeface="Calibri" pitchFamily="34" charset="-120"/>
              </a:rPr>
              <a:t>Strip the gap → 1,2,3,4,5,6,7,8,9   (F=1, L=9, X=9, M=5)</a:t>
            </a:r>
            <a:endParaRPr lang="en-US" sz="1150" dirty="0"/>
          </a:p>
        </p:txBody>
      </p:sp>
      <p:sp>
        <p:nvSpPr>
          <p:cNvPr id="79" name="Shape 77"/>
          <p:cNvSpPr/>
          <p:nvPr/>
        </p:nvSpPr>
        <p:spPr>
          <a:xfrm>
            <a:off x="914400" y="3008376"/>
            <a:ext cx="384048" cy="384048"/>
          </a:xfrm>
          <a:prstGeom prst="ellipse">
            <a:avLst/>
          </a:prstGeom>
          <a:solidFill>
            <a:srgbClr val="6C7CE0"/>
          </a:solidFill>
          <a:ln/>
        </p:spPr>
      </p:sp>
      <p:sp>
        <p:nvSpPr>
          <p:cNvPr id="80" name="Text 78"/>
          <p:cNvSpPr/>
          <p:nvPr/>
        </p:nvSpPr>
        <p:spPr>
          <a:xfrm>
            <a:off x="914400" y="3008376"/>
            <a:ext cx="384048" cy="384048"/>
          </a:xfrm>
          <a:prstGeom prst="rect">
            <a:avLst/>
          </a:prstGeom>
          <a:noFill/>
          <a:ln/>
        </p:spPr>
        <p:txBody>
          <a:bodyPr wrap="square" lIns="0" tIns="0" rIns="0" bIns="0" rtlCol="0" anchor="ctr"/>
          <a:lstStyle/>
          <a:p>
            <a:pPr algn="ctr" indent="0" marL="0">
              <a:buNone/>
            </a:pPr>
            <a:r>
              <a:rPr lang="en-US" sz="1500" b="1" dirty="0">
                <a:solidFill>
                  <a:srgbClr val="080B1A"/>
                </a:solidFill>
                <a:latin typeface="Cambria" pitchFamily="34" charset="0"/>
                <a:ea typeface="Cambria" pitchFamily="34" charset="-122"/>
                <a:cs typeface="Cambria" pitchFamily="34" charset="-120"/>
              </a:rPr>
              <a:t>2</a:t>
            </a:r>
            <a:endParaRPr lang="en-US" sz="1500" dirty="0"/>
          </a:p>
        </p:txBody>
      </p:sp>
      <p:sp>
        <p:nvSpPr>
          <p:cNvPr id="81" name="Text 79"/>
          <p:cNvSpPr/>
          <p:nvPr/>
        </p:nvSpPr>
        <p:spPr>
          <a:xfrm>
            <a:off x="1463040" y="2953512"/>
            <a:ext cx="4572000" cy="320040"/>
          </a:xfrm>
          <a:prstGeom prst="rect">
            <a:avLst/>
          </a:prstGeom>
          <a:noFill/>
          <a:ln/>
        </p:spPr>
        <p:txBody>
          <a:bodyPr wrap="square" lIns="0" tIns="0" rIns="0" bIns="0" rtlCol="0" anchor="ctr"/>
          <a:lstStyle/>
          <a:p>
            <a:pPr indent="0" marL="0">
              <a:buNone/>
            </a:pPr>
            <a:r>
              <a:rPr lang="en-US" sz="1350" b="1" dirty="0">
                <a:solidFill>
                  <a:srgbClr val="F5F7FF"/>
                </a:solidFill>
                <a:latin typeface="Calibri" pitchFamily="34" charset="0"/>
                <a:ea typeface="Calibri" pitchFamily="34" charset="-122"/>
                <a:cs typeface="Calibri" pitchFamily="34" charset="-120"/>
              </a:rPr>
              <a:t>Spacing-1 answer</a:t>
            </a:r>
            <a:endParaRPr lang="en-US" sz="1350" dirty="0"/>
          </a:p>
        </p:txBody>
      </p:sp>
      <p:sp>
        <p:nvSpPr>
          <p:cNvPr id="82" name="Text 80"/>
          <p:cNvSpPr/>
          <p:nvPr/>
        </p:nvSpPr>
        <p:spPr>
          <a:xfrm>
            <a:off x="1463040" y="3246120"/>
            <a:ext cx="4617720" cy="566928"/>
          </a:xfrm>
          <a:prstGeom prst="rect">
            <a:avLst/>
          </a:prstGeom>
          <a:noFill/>
          <a:ln/>
        </p:spPr>
        <p:txBody>
          <a:bodyPr wrap="square" lIns="0" tIns="0" rIns="0" bIns="0" rtlCol="0" anchor="ctr"/>
          <a:lstStyle/>
          <a:p>
            <a:pPr indent="0" marL="0">
              <a:lnSpc>
                <a:spcPts val="1400"/>
              </a:lnSpc>
              <a:buNone/>
            </a:pPr>
            <a:r>
              <a:rPr lang="en-US" sz="1150" dirty="0">
                <a:solidFill>
                  <a:srgbClr val="9AA4C7"/>
                </a:solidFill>
                <a:latin typeface="Calibri" pitchFamily="34" charset="0"/>
                <a:ea typeface="Calibri" pitchFamily="34" charset="-122"/>
                <a:cs typeface="Calibri" pitchFamily="34" charset="-120"/>
              </a:rPr>
              <a:t>D⁴(1…9) = 9 · [ M⁴ + 6M²μ₂ + μ₄ ] = 15,333</a:t>
            </a:r>
            <a:endParaRPr lang="en-US" sz="1150" dirty="0"/>
          </a:p>
        </p:txBody>
      </p:sp>
      <p:sp>
        <p:nvSpPr>
          <p:cNvPr id="83" name="Shape 81"/>
          <p:cNvSpPr/>
          <p:nvPr/>
        </p:nvSpPr>
        <p:spPr>
          <a:xfrm>
            <a:off x="914400" y="3941064"/>
            <a:ext cx="384048" cy="384048"/>
          </a:xfrm>
          <a:prstGeom prst="ellipse">
            <a:avLst/>
          </a:prstGeom>
          <a:solidFill>
            <a:srgbClr val="4FD1E0"/>
          </a:solidFill>
          <a:ln/>
        </p:spPr>
      </p:sp>
      <p:sp>
        <p:nvSpPr>
          <p:cNvPr id="84" name="Text 82"/>
          <p:cNvSpPr/>
          <p:nvPr/>
        </p:nvSpPr>
        <p:spPr>
          <a:xfrm>
            <a:off x="914400" y="3941064"/>
            <a:ext cx="384048" cy="384048"/>
          </a:xfrm>
          <a:prstGeom prst="rect">
            <a:avLst/>
          </a:prstGeom>
          <a:noFill/>
          <a:ln/>
        </p:spPr>
        <p:txBody>
          <a:bodyPr wrap="square" lIns="0" tIns="0" rIns="0" bIns="0" rtlCol="0" anchor="ctr"/>
          <a:lstStyle/>
          <a:p>
            <a:pPr algn="ctr" indent="0" marL="0">
              <a:buNone/>
            </a:pPr>
            <a:r>
              <a:rPr lang="en-US" sz="1500" b="1" dirty="0">
                <a:solidFill>
                  <a:srgbClr val="080B1A"/>
                </a:solidFill>
                <a:latin typeface="Cambria" pitchFamily="34" charset="0"/>
                <a:ea typeface="Cambria" pitchFamily="34" charset="-122"/>
                <a:cs typeface="Cambria" pitchFamily="34" charset="-120"/>
              </a:rPr>
              <a:t>3</a:t>
            </a:r>
            <a:endParaRPr lang="en-US" sz="1500" dirty="0"/>
          </a:p>
        </p:txBody>
      </p:sp>
      <p:sp>
        <p:nvSpPr>
          <p:cNvPr id="85" name="Text 83"/>
          <p:cNvSpPr/>
          <p:nvPr/>
        </p:nvSpPr>
        <p:spPr>
          <a:xfrm>
            <a:off x="1463040" y="3886200"/>
            <a:ext cx="4572000" cy="320040"/>
          </a:xfrm>
          <a:prstGeom prst="rect">
            <a:avLst/>
          </a:prstGeom>
          <a:noFill/>
          <a:ln/>
        </p:spPr>
        <p:txBody>
          <a:bodyPr wrap="square" lIns="0" tIns="0" rIns="0" bIns="0" rtlCol="0" anchor="ctr"/>
          <a:lstStyle/>
          <a:p>
            <a:pPr indent="0" marL="0">
              <a:buNone/>
            </a:pPr>
            <a:r>
              <a:rPr lang="en-US" sz="1350" b="1" dirty="0">
                <a:solidFill>
                  <a:srgbClr val="F5F7FF"/>
                </a:solidFill>
                <a:latin typeface="Calibri" pitchFamily="34" charset="0"/>
                <a:ea typeface="Calibri" pitchFamily="34" charset="-122"/>
                <a:cs typeface="Calibri" pitchFamily="34" charset="-120"/>
              </a:rPr>
              <a:t>Apply the factor</a:t>
            </a:r>
            <a:endParaRPr lang="en-US" sz="1350" dirty="0"/>
          </a:p>
        </p:txBody>
      </p:sp>
      <p:sp>
        <p:nvSpPr>
          <p:cNvPr id="86" name="Text 84"/>
          <p:cNvSpPr/>
          <p:nvPr/>
        </p:nvSpPr>
        <p:spPr>
          <a:xfrm>
            <a:off x="1463040" y="4178808"/>
            <a:ext cx="4617720" cy="566928"/>
          </a:xfrm>
          <a:prstGeom prst="rect">
            <a:avLst/>
          </a:prstGeom>
          <a:noFill/>
          <a:ln/>
        </p:spPr>
        <p:txBody>
          <a:bodyPr wrap="square" lIns="0" tIns="0" rIns="0" bIns="0" rtlCol="0" anchor="ctr"/>
          <a:lstStyle/>
          <a:p>
            <a:pPr indent="0" marL="0">
              <a:lnSpc>
                <a:spcPts val="1400"/>
              </a:lnSpc>
              <a:buNone/>
            </a:pPr>
            <a:r>
              <a:rPr lang="en-US" sz="1150" dirty="0">
                <a:solidFill>
                  <a:srgbClr val="9AA4C7"/>
                </a:solidFill>
                <a:latin typeface="Calibri" pitchFamily="34" charset="0"/>
                <a:ea typeface="Calibri" pitchFamily="34" charset="-122"/>
                <a:cs typeface="Calibri" pitchFamily="34" charset="-120"/>
              </a:rPr>
              <a:t>D⁴(spacing 2) = 2⁴ × 15,333 = 16 × 15,333</a:t>
            </a:r>
            <a:endParaRPr lang="en-US" sz="1150" dirty="0"/>
          </a:p>
        </p:txBody>
      </p:sp>
      <p:sp>
        <p:nvSpPr>
          <p:cNvPr id="87" name="Shape 85"/>
          <p:cNvSpPr/>
          <p:nvPr/>
        </p:nvSpPr>
        <p:spPr>
          <a:xfrm>
            <a:off x="914400" y="5074920"/>
            <a:ext cx="5074920" cy="658368"/>
          </a:xfrm>
          <a:prstGeom prst="roundRect">
            <a:avLst>
              <a:gd name="adj" fmla="val 12500"/>
            </a:avLst>
          </a:prstGeom>
          <a:solidFill>
            <a:srgbClr val="10152B"/>
          </a:solidFill>
          <a:ln w="12700">
            <a:solidFill>
              <a:srgbClr val="2A3358"/>
            </a:solidFill>
            <a:prstDash val="solid"/>
          </a:ln>
          <a:effectLst>
            <a:outerShdw sx="100000" sy="100000" kx="0" ky="0" algn="bl" rotWithShape="0" blurRad="114300" dist="38100" dir="5400000">
              <a:srgbClr val="000000">
                <a:alpha val="35000"/>
              </a:srgbClr>
            </a:outerShdw>
          </a:effectLst>
        </p:spPr>
      </p:sp>
      <p:sp>
        <p:nvSpPr>
          <p:cNvPr id="88" name="Text 86"/>
          <p:cNvSpPr/>
          <p:nvPr/>
        </p:nvSpPr>
        <p:spPr>
          <a:xfrm>
            <a:off x="914400" y="5074920"/>
            <a:ext cx="5074920" cy="658368"/>
          </a:xfrm>
          <a:prstGeom prst="rect">
            <a:avLst/>
          </a:prstGeom>
          <a:noFill/>
          <a:ln/>
        </p:spPr>
        <p:txBody>
          <a:bodyPr wrap="square" lIns="0" tIns="0" rIns="0" bIns="0" rtlCol="0" anchor="ctr"/>
          <a:lstStyle/>
          <a:p>
            <a:pPr algn="ctr" indent="0" marL="0">
              <a:buNone/>
            </a:pPr>
            <a:r>
              <a:rPr lang="en-US" sz="2000" b="1" dirty="0">
                <a:solidFill>
                  <a:srgbClr val="E8B54D"/>
                </a:solidFill>
                <a:latin typeface="Cambria" pitchFamily="34" charset="0"/>
                <a:ea typeface="Cambria" pitchFamily="34" charset="-122"/>
                <a:cs typeface="Cambria" pitchFamily="34" charset="-120"/>
              </a:rPr>
              <a:t>= 245,328   </a:t>
            </a:r>
            <a:pPr algn="ctr" indent="0" marL="0">
              <a:buNone/>
            </a:pPr>
            <a:r>
              <a:rPr lang="en-US" sz="2000" b="1" dirty="0">
                <a:solidFill>
                  <a:srgbClr val="5BD6A0"/>
                </a:solidFill>
                <a:latin typeface="Cambria" pitchFamily="34" charset="0"/>
                <a:ea typeface="Cambria" pitchFamily="34" charset="-122"/>
                <a:cs typeface="Cambria" pitchFamily="34" charset="-120"/>
              </a:rPr>
              <a:t>✓ exact</a:t>
            </a:r>
            <a:endParaRPr lang="en-US" sz="2000" dirty="0"/>
          </a:p>
        </p:txBody>
      </p:sp>
      <p:sp>
        <p:nvSpPr>
          <p:cNvPr id="89" name="Shape 87"/>
          <p:cNvSpPr/>
          <p:nvPr/>
        </p:nvSpPr>
        <p:spPr>
          <a:xfrm>
            <a:off x="6537960" y="1783080"/>
            <a:ext cx="4983480" cy="4160520"/>
          </a:xfrm>
          <a:prstGeom prst="roundRect">
            <a:avLst>
              <a:gd name="adj" fmla="val 1978"/>
            </a:avLst>
          </a:prstGeom>
          <a:solidFill>
            <a:srgbClr val="141A33"/>
          </a:solidFill>
          <a:ln w="12700">
            <a:solidFill>
              <a:srgbClr val="2A3358"/>
            </a:solidFill>
            <a:prstDash val="solid"/>
          </a:ln>
          <a:effectLst>
            <a:outerShdw sx="100000" sy="100000" kx="0" ky="0" algn="bl" rotWithShape="0" blurRad="114300" dist="38100" dir="5400000">
              <a:srgbClr val="000000">
                <a:alpha val="35000"/>
              </a:srgbClr>
            </a:outerShdw>
          </a:effectLst>
        </p:spPr>
      </p:sp>
      <p:sp>
        <p:nvSpPr>
          <p:cNvPr id="90" name="Text 88"/>
          <p:cNvSpPr/>
          <p:nvPr/>
        </p:nvSpPr>
        <p:spPr>
          <a:xfrm>
            <a:off x="6812280" y="2011680"/>
            <a:ext cx="4480560" cy="320040"/>
          </a:xfrm>
          <a:prstGeom prst="rect">
            <a:avLst/>
          </a:prstGeom>
          <a:noFill/>
          <a:ln/>
        </p:spPr>
        <p:txBody>
          <a:bodyPr wrap="square" lIns="0" tIns="0" rIns="0" bIns="0" rtlCol="0" anchor="ctr"/>
          <a:lstStyle/>
          <a:p>
            <a:pPr indent="0" marL="0">
              <a:buNone/>
            </a:pPr>
            <a:r>
              <a:rPr lang="en-US" sz="1150" b="1" spc="200" kern="0" dirty="0">
                <a:solidFill>
                  <a:srgbClr val="4FD1E0"/>
                </a:solidFill>
                <a:latin typeface="Calibri" pitchFamily="34" charset="0"/>
                <a:ea typeface="Calibri" pitchFamily="34" charset="-122"/>
                <a:cs typeface="Calibri" pitchFamily="34" charset="-120"/>
              </a:rPr>
              <a:t>VERIFIED BY DIRECT ADDITION</a:t>
            </a:r>
            <a:endParaRPr lang="en-US" sz="1150" dirty="0"/>
          </a:p>
        </p:txBody>
      </p:sp>
      <p:sp>
        <p:nvSpPr>
          <p:cNvPr id="91" name="Text 89"/>
          <p:cNvSpPr/>
          <p:nvPr/>
        </p:nvSpPr>
        <p:spPr>
          <a:xfrm>
            <a:off x="6812280" y="2359152"/>
            <a:ext cx="4480560" cy="365760"/>
          </a:xfrm>
          <a:prstGeom prst="rect">
            <a:avLst/>
          </a:prstGeom>
          <a:noFill/>
          <a:ln/>
        </p:spPr>
        <p:txBody>
          <a:bodyPr wrap="square" lIns="0" tIns="0" rIns="0" bIns="0" rtlCol="0" anchor="ctr"/>
          <a:lstStyle/>
          <a:p>
            <a:pPr indent="0" marL="0">
              <a:buNone/>
            </a:pPr>
            <a:r>
              <a:rPr lang="en-US" sz="1300" dirty="0">
                <a:solidFill>
                  <a:srgbClr val="F5F7FF"/>
                </a:solidFill>
                <a:latin typeface="Cambria" pitchFamily="34" charset="0"/>
                <a:ea typeface="Cambria" pitchFamily="34" charset="-122"/>
                <a:cs typeface="Cambria" pitchFamily="34" charset="-120"/>
              </a:rPr>
              <a:t>2⁴+4⁴+6⁴+8⁴+10⁴+12⁴+14⁴+16⁴+18⁴</a:t>
            </a:r>
            <a:endParaRPr lang="en-US" sz="1300" dirty="0"/>
          </a:p>
        </p:txBody>
      </p:sp>
      <p:sp>
        <p:nvSpPr>
          <p:cNvPr id="92" name="Text 90"/>
          <p:cNvSpPr/>
          <p:nvPr/>
        </p:nvSpPr>
        <p:spPr>
          <a:xfrm>
            <a:off x="6812280" y="2724912"/>
            <a:ext cx="4480560" cy="320040"/>
          </a:xfrm>
          <a:prstGeom prst="rect">
            <a:avLst/>
          </a:prstGeom>
          <a:noFill/>
          <a:ln/>
        </p:spPr>
        <p:txBody>
          <a:bodyPr wrap="square" lIns="0" tIns="0" rIns="0" bIns="0" rtlCol="0" anchor="ctr"/>
          <a:lstStyle/>
          <a:p>
            <a:pPr indent="0" marL="0">
              <a:buNone/>
            </a:pPr>
            <a:r>
              <a:rPr lang="en-US" sz="1250" i="1" dirty="0">
                <a:solidFill>
                  <a:srgbClr val="9AA4C7"/>
                </a:solidFill>
                <a:latin typeface="Calibri" pitchFamily="34" charset="0"/>
                <a:ea typeface="Calibri" pitchFamily="34" charset="-122"/>
                <a:cs typeface="Calibri" pitchFamily="34" charset="-120"/>
              </a:rPr>
              <a:t>= 245,328   — term-by-term match</a:t>
            </a:r>
            <a:endParaRPr lang="en-US" sz="1250" dirty="0"/>
          </a:p>
        </p:txBody>
      </p:sp>
      <p:sp>
        <p:nvSpPr>
          <p:cNvPr id="93" name="Shape 91"/>
          <p:cNvSpPr/>
          <p:nvPr/>
        </p:nvSpPr>
        <p:spPr>
          <a:xfrm>
            <a:off x="6812280" y="3291840"/>
            <a:ext cx="4480560" cy="566928"/>
          </a:xfrm>
          <a:prstGeom prst="rect">
            <a:avLst/>
          </a:prstGeom>
          <a:solidFill>
            <a:srgbClr val="10152B"/>
          </a:solidFill>
          <a:ln/>
        </p:spPr>
      </p:sp>
      <p:sp>
        <p:nvSpPr>
          <p:cNvPr id="94" name="Text 92"/>
          <p:cNvSpPr/>
          <p:nvPr/>
        </p:nvSpPr>
        <p:spPr>
          <a:xfrm>
            <a:off x="6903720" y="3291840"/>
            <a:ext cx="777240" cy="566928"/>
          </a:xfrm>
          <a:prstGeom prst="rect">
            <a:avLst/>
          </a:prstGeom>
          <a:noFill/>
          <a:ln/>
        </p:spPr>
        <p:txBody>
          <a:bodyPr wrap="square" lIns="0" tIns="0" rIns="0" bIns="0" rtlCol="0" anchor="ctr"/>
          <a:lstStyle/>
          <a:p>
            <a:pPr algn="l" indent="0" marL="0">
              <a:buNone/>
            </a:pPr>
            <a:r>
              <a:rPr lang="en-US" sz="1100" b="1" dirty="0">
                <a:solidFill>
                  <a:srgbClr val="9AA4C7"/>
                </a:solidFill>
                <a:latin typeface="Calibri" pitchFamily="34" charset="0"/>
                <a:ea typeface="Calibri" pitchFamily="34" charset="-122"/>
                <a:cs typeface="Calibri" pitchFamily="34" charset="-120"/>
              </a:rPr>
              <a:t>Power</a:t>
            </a:r>
            <a:endParaRPr lang="en-US" sz="1100" dirty="0"/>
          </a:p>
        </p:txBody>
      </p:sp>
      <p:sp>
        <p:nvSpPr>
          <p:cNvPr id="95" name="Text 93"/>
          <p:cNvSpPr/>
          <p:nvPr/>
        </p:nvSpPr>
        <p:spPr>
          <a:xfrm>
            <a:off x="7680960" y="3291840"/>
            <a:ext cx="1234440" cy="566928"/>
          </a:xfrm>
          <a:prstGeom prst="rect">
            <a:avLst/>
          </a:prstGeom>
          <a:noFill/>
          <a:ln/>
        </p:spPr>
        <p:txBody>
          <a:bodyPr wrap="square" lIns="0" tIns="0" rIns="0" bIns="0" rtlCol="0" anchor="ctr"/>
          <a:lstStyle/>
          <a:p>
            <a:pPr algn="l" indent="0" marL="0">
              <a:buNone/>
            </a:pPr>
            <a:r>
              <a:rPr lang="en-US" sz="1100" b="1" dirty="0">
                <a:solidFill>
                  <a:srgbClr val="9AA4C7"/>
                </a:solidFill>
                <a:latin typeface="Calibri" pitchFamily="34" charset="0"/>
                <a:ea typeface="Calibri" pitchFamily="34" charset="-122"/>
                <a:cs typeface="Calibri" pitchFamily="34" charset="-120"/>
              </a:rPr>
              <a:t>Factor sᵈ</a:t>
            </a:r>
            <a:endParaRPr lang="en-US" sz="1100" dirty="0"/>
          </a:p>
        </p:txBody>
      </p:sp>
      <p:sp>
        <p:nvSpPr>
          <p:cNvPr id="96" name="Text 94"/>
          <p:cNvSpPr/>
          <p:nvPr/>
        </p:nvSpPr>
        <p:spPr>
          <a:xfrm>
            <a:off x="8915400" y="3291840"/>
            <a:ext cx="1874520" cy="566928"/>
          </a:xfrm>
          <a:prstGeom prst="rect">
            <a:avLst/>
          </a:prstGeom>
          <a:noFill/>
          <a:ln/>
        </p:spPr>
        <p:txBody>
          <a:bodyPr wrap="square" lIns="0" tIns="0" rIns="0" bIns="0" rtlCol="0" anchor="ctr"/>
          <a:lstStyle/>
          <a:p>
            <a:pPr algn="r" indent="0" marL="0">
              <a:buNone/>
            </a:pPr>
            <a:r>
              <a:rPr lang="en-US" sz="1100" b="1" dirty="0">
                <a:solidFill>
                  <a:srgbClr val="9AA4C7"/>
                </a:solidFill>
                <a:latin typeface="Calibri" pitchFamily="34" charset="0"/>
                <a:ea typeface="Calibri" pitchFamily="34" charset="-122"/>
                <a:cs typeface="Calibri" pitchFamily="34" charset="-120"/>
              </a:rPr>
              <a:t>Total</a:t>
            </a:r>
            <a:endParaRPr lang="en-US" sz="1100" dirty="0"/>
          </a:p>
        </p:txBody>
      </p:sp>
      <p:sp>
        <p:nvSpPr>
          <p:cNvPr id="97" name="Text 95"/>
          <p:cNvSpPr/>
          <p:nvPr/>
        </p:nvSpPr>
        <p:spPr>
          <a:xfrm>
            <a:off x="10835640" y="3291840"/>
            <a:ext cx="365760" cy="566928"/>
          </a:xfrm>
          <a:prstGeom prst="rect">
            <a:avLst/>
          </a:prstGeom>
          <a:noFill/>
          <a:ln/>
        </p:spPr>
        <p:txBody>
          <a:bodyPr wrap="square" lIns="0" tIns="0" rIns="0" bIns="0" rtlCol="0" anchor="ctr"/>
          <a:lstStyle/>
          <a:p>
            <a:pPr algn="ctr" indent="0" marL="0">
              <a:buNone/>
            </a:pPr>
            <a:r>
              <a:rPr lang="en-US" sz="1100" b="1" dirty="0">
                <a:solidFill>
                  <a:srgbClr val="9AA4C7"/>
                </a:solidFill>
                <a:latin typeface="Calibri" pitchFamily="34" charset="0"/>
                <a:ea typeface="Calibri" pitchFamily="34" charset="-122"/>
                <a:cs typeface="Calibri" pitchFamily="34" charset="-120"/>
              </a:rPr>
              <a:t>✓</a:t>
            </a:r>
            <a:endParaRPr lang="en-US" sz="1100" dirty="0"/>
          </a:p>
        </p:txBody>
      </p:sp>
      <p:sp>
        <p:nvSpPr>
          <p:cNvPr id="98" name="Shape 96"/>
          <p:cNvSpPr/>
          <p:nvPr/>
        </p:nvSpPr>
        <p:spPr>
          <a:xfrm>
            <a:off x="6812280" y="3858768"/>
            <a:ext cx="4480560" cy="0"/>
          </a:xfrm>
          <a:prstGeom prst="line">
            <a:avLst/>
          </a:prstGeom>
          <a:noFill/>
          <a:ln w="9525">
            <a:solidFill>
              <a:srgbClr val="2A3358"/>
            </a:solidFill>
            <a:prstDash val="solid"/>
          </a:ln>
        </p:spPr>
      </p:sp>
      <p:sp>
        <p:nvSpPr>
          <p:cNvPr id="99" name="Text 97"/>
          <p:cNvSpPr/>
          <p:nvPr/>
        </p:nvSpPr>
        <p:spPr>
          <a:xfrm>
            <a:off x="6903720" y="3858768"/>
            <a:ext cx="777240" cy="566928"/>
          </a:xfrm>
          <a:prstGeom prst="rect">
            <a:avLst/>
          </a:prstGeom>
          <a:noFill/>
          <a:ln/>
        </p:spPr>
        <p:txBody>
          <a:bodyPr wrap="square" lIns="0" tIns="0" rIns="0" bIns="0" rtlCol="0" anchor="ctr"/>
          <a:lstStyle/>
          <a:p>
            <a:pPr algn="l" indent="0" marL="0">
              <a:buNone/>
            </a:pPr>
            <a:r>
              <a:rPr lang="en-US" sz="1300" dirty="0">
                <a:solidFill>
                  <a:srgbClr val="F5F7FF"/>
                </a:solidFill>
                <a:latin typeface="Cambria" pitchFamily="34" charset="0"/>
                <a:ea typeface="Cambria" pitchFamily="34" charset="-122"/>
                <a:cs typeface="Cambria" pitchFamily="34" charset="-120"/>
              </a:rPr>
              <a:t>D⁴</a:t>
            </a:r>
            <a:endParaRPr lang="en-US" sz="1300" dirty="0"/>
          </a:p>
        </p:txBody>
      </p:sp>
      <p:sp>
        <p:nvSpPr>
          <p:cNvPr id="100" name="Text 98"/>
          <p:cNvSpPr/>
          <p:nvPr/>
        </p:nvSpPr>
        <p:spPr>
          <a:xfrm>
            <a:off x="7680960" y="3858768"/>
            <a:ext cx="1234440" cy="566928"/>
          </a:xfrm>
          <a:prstGeom prst="rect">
            <a:avLst/>
          </a:prstGeom>
          <a:noFill/>
          <a:ln/>
        </p:spPr>
        <p:txBody>
          <a:bodyPr wrap="square" lIns="0" tIns="0" rIns="0" bIns="0" rtlCol="0" anchor="ctr"/>
          <a:lstStyle/>
          <a:p>
            <a:pPr algn="l" indent="0" marL="0">
              <a:buNone/>
            </a:pPr>
            <a:r>
              <a:rPr lang="en-US" sz="1300" dirty="0">
                <a:solidFill>
                  <a:srgbClr val="F5F7FF"/>
                </a:solidFill>
                <a:latin typeface="Cambria" pitchFamily="34" charset="0"/>
                <a:ea typeface="Cambria" pitchFamily="34" charset="-122"/>
                <a:cs typeface="Cambria" pitchFamily="34" charset="-120"/>
              </a:rPr>
              <a:t>2⁴ = 16</a:t>
            </a:r>
            <a:endParaRPr lang="en-US" sz="1300" dirty="0"/>
          </a:p>
        </p:txBody>
      </p:sp>
      <p:sp>
        <p:nvSpPr>
          <p:cNvPr id="101" name="Text 99"/>
          <p:cNvSpPr/>
          <p:nvPr/>
        </p:nvSpPr>
        <p:spPr>
          <a:xfrm>
            <a:off x="8915400" y="3858768"/>
            <a:ext cx="1874520" cy="566928"/>
          </a:xfrm>
          <a:prstGeom prst="rect">
            <a:avLst/>
          </a:prstGeom>
          <a:noFill/>
          <a:ln/>
        </p:spPr>
        <p:txBody>
          <a:bodyPr wrap="square" lIns="0" tIns="0" rIns="0" bIns="0" rtlCol="0" anchor="ctr"/>
          <a:lstStyle/>
          <a:p>
            <a:pPr algn="r" indent="0" marL="0">
              <a:buNone/>
            </a:pPr>
            <a:r>
              <a:rPr lang="en-US" sz="1300" dirty="0">
                <a:solidFill>
                  <a:srgbClr val="E8B54D"/>
                </a:solidFill>
                <a:latin typeface="Cambria" pitchFamily="34" charset="0"/>
                <a:ea typeface="Cambria" pitchFamily="34" charset="-122"/>
                <a:cs typeface="Cambria" pitchFamily="34" charset="-120"/>
              </a:rPr>
              <a:t>245,328</a:t>
            </a:r>
            <a:endParaRPr lang="en-US" sz="1300" dirty="0"/>
          </a:p>
        </p:txBody>
      </p:sp>
      <p:sp>
        <p:nvSpPr>
          <p:cNvPr id="102" name="Text 100"/>
          <p:cNvSpPr/>
          <p:nvPr/>
        </p:nvSpPr>
        <p:spPr>
          <a:xfrm>
            <a:off x="10835640" y="3858768"/>
            <a:ext cx="365760" cy="566928"/>
          </a:xfrm>
          <a:prstGeom prst="rect">
            <a:avLst/>
          </a:prstGeom>
          <a:noFill/>
          <a:ln/>
        </p:spPr>
        <p:txBody>
          <a:bodyPr wrap="square" lIns="0" tIns="0" rIns="0" bIns="0" rtlCol="0" anchor="ctr"/>
          <a:lstStyle/>
          <a:p>
            <a:pPr algn="ctr" indent="0" marL="0">
              <a:buNone/>
            </a:pPr>
            <a:r>
              <a:rPr lang="en-US" sz="1300" dirty="0">
                <a:solidFill>
                  <a:srgbClr val="5BD6A0"/>
                </a:solidFill>
                <a:latin typeface="Cambria" pitchFamily="34" charset="0"/>
                <a:ea typeface="Cambria" pitchFamily="34" charset="-122"/>
                <a:cs typeface="Cambria" pitchFamily="34" charset="-120"/>
              </a:rPr>
              <a:t>✓</a:t>
            </a:r>
            <a:endParaRPr lang="en-US" sz="1300" dirty="0"/>
          </a:p>
        </p:txBody>
      </p:sp>
      <p:sp>
        <p:nvSpPr>
          <p:cNvPr id="103" name="Shape 101"/>
          <p:cNvSpPr/>
          <p:nvPr/>
        </p:nvSpPr>
        <p:spPr>
          <a:xfrm>
            <a:off x="6812280" y="4425696"/>
            <a:ext cx="4480560" cy="0"/>
          </a:xfrm>
          <a:prstGeom prst="line">
            <a:avLst/>
          </a:prstGeom>
          <a:noFill/>
          <a:ln w="9525">
            <a:solidFill>
              <a:srgbClr val="2A3358"/>
            </a:solidFill>
            <a:prstDash val="solid"/>
          </a:ln>
        </p:spPr>
      </p:sp>
      <p:sp>
        <p:nvSpPr>
          <p:cNvPr id="104" name="Text 102"/>
          <p:cNvSpPr/>
          <p:nvPr/>
        </p:nvSpPr>
        <p:spPr>
          <a:xfrm>
            <a:off x="6903720" y="4425696"/>
            <a:ext cx="777240" cy="566928"/>
          </a:xfrm>
          <a:prstGeom prst="rect">
            <a:avLst/>
          </a:prstGeom>
          <a:noFill/>
          <a:ln/>
        </p:spPr>
        <p:txBody>
          <a:bodyPr wrap="square" lIns="0" tIns="0" rIns="0" bIns="0" rtlCol="0" anchor="ctr"/>
          <a:lstStyle/>
          <a:p>
            <a:pPr algn="l" indent="0" marL="0">
              <a:buNone/>
            </a:pPr>
            <a:r>
              <a:rPr lang="en-US" sz="1300" dirty="0">
                <a:solidFill>
                  <a:srgbClr val="F5F7FF"/>
                </a:solidFill>
                <a:latin typeface="Cambria" pitchFamily="34" charset="0"/>
                <a:ea typeface="Cambria" pitchFamily="34" charset="-122"/>
                <a:cs typeface="Cambria" pitchFamily="34" charset="-120"/>
              </a:rPr>
              <a:t>D⁵</a:t>
            </a:r>
            <a:endParaRPr lang="en-US" sz="1300" dirty="0"/>
          </a:p>
        </p:txBody>
      </p:sp>
      <p:sp>
        <p:nvSpPr>
          <p:cNvPr id="105" name="Text 103"/>
          <p:cNvSpPr/>
          <p:nvPr/>
        </p:nvSpPr>
        <p:spPr>
          <a:xfrm>
            <a:off x="7680960" y="4425696"/>
            <a:ext cx="1234440" cy="566928"/>
          </a:xfrm>
          <a:prstGeom prst="rect">
            <a:avLst/>
          </a:prstGeom>
          <a:noFill/>
          <a:ln/>
        </p:spPr>
        <p:txBody>
          <a:bodyPr wrap="square" lIns="0" tIns="0" rIns="0" bIns="0" rtlCol="0" anchor="ctr"/>
          <a:lstStyle/>
          <a:p>
            <a:pPr algn="l" indent="0" marL="0">
              <a:buNone/>
            </a:pPr>
            <a:r>
              <a:rPr lang="en-US" sz="1300" dirty="0">
                <a:solidFill>
                  <a:srgbClr val="F5F7FF"/>
                </a:solidFill>
                <a:latin typeface="Cambria" pitchFamily="34" charset="0"/>
                <a:ea typeface="Cambria" pitchFamily="34" charset="-122"/>
                <a:cs typeface="Cambria" pitchFamily="34" charset="-120"/>
              </a:rPr>
              <a:t>2⁵ = 32</a:t>
            </a:r>
            <a:endParaRPr lang="en-US" sz="1300" dirty="0"/>
          </a:p>
        </p:txBody>
      </p:sp>
      <p:sp>
        <p:nvSpPr>
          <p:cNvPr id="106" name="Text 104"/>
          <p:cNvSpPr/>
          <p:nvPr/>
        </p:nvSpPr>
        <p:spPr>
          <a:xfrm>
            <a:off x="8915400" y="4425696"/>
            <a:ext cx="1874520" cy="566928"/>
          </a:xfrm>
          <a:prstGeom prst="rect">
            <a:avLst/>
          </a:prstGeom>
          <a:noFill/>
          <a:ln/>
        </p:spPr>
        <p:txBody>
          <a:bodyPr wrap="square" lIns="0" tIns="0" rIns="0" bIns="0" rtlCol="0" anchor="ctr"/>
          <a:lstStyle/>
          <a:p>
            <a:pPr algn="r" indent="0" marL="0">
              <a:buNone/>
            </a:pPr>
            <a:r>
              <a:rPr lang="en-US" sz="1300" dirty="0">
                <a:solidFill>
                  <a:srgbClr val="E8B54D"/>
                </a:solidFill>
                <a:latin typeface="Cambria" pitchFamily="34" charset="0"/>
                <a:ea typeface="Cambria" pitchFamily="34" charset="-122"/>
                <a:cs typeface="Cambria" pitchFamily="34" charset="-120"/>
              </a:rPr>
              <a:t>3,866,528</a:t>
            </a:r>
            <a:endParaRPr lang="en-US" sz="1300" dirty="0"/>
          </a:p>
        </p:txBody>
      </p:sp>
      <p:sp>
        <p:nvSpPr>
          <p:cNvPr id="107" name="Text 105"/>
          <p:cNvSpPr/>
          <p:nvPr/>
        </p:nvSpPr>
        <p:spPr>
          <a:xfrm>
            <a:off x="10835640" y="4425696"/>
            <a:ext cx="365760" cy="566928"/>
          </a:xfrm>
          <a:prstGeom prst="rect">
            <a:avLst/>
          </a:prstGeom>
          <a:noFill/>
          <a:ln/>
        </p:spPr>
        <p:txBody>
          <a:bodyPr wrap="square" lIns="0" tIns="0" rIns="0" bIns="0" rtlCol="0" anchor="ctr"/>
          <a:lstStyle/>
          <a:p>
            <a:pPr algn="ctr" indent="0" marL="0">
              <a:buNone/>
            </a:pPr>
            <a:r>
              <a:rPr lang="en-US" sz="1300" dirty="0">
                <a:solidFill>
                  <a:srgbClr val="5BD6A0"/>
                </a:solidFill>
                <a:latin typeface="Cambria" pitchFamily="34" charset="0"/>
                <a:ea typeface="Cambria" pitchFamily="34" charset="-122"/>
                <a:cs typeface="Cambria" pitchFamily="34" charset="-120"/>
              </a:rPr>
              <a:t>✓</a:t>
            </a:r>
            <a:endParaRPr lang="en-US" sz="1300" dirty="0"/>
          </a:p>
        </p:txBody>
      </p:sp>
      <p:sp>
        <p:nvSpPr>
          <p:cNvPr id="108" name="Shape 106"/>
          <p:cNvSpPr/>
          <p:nvPr/>
        </p:nvSpPr>
        <p:spPr>
          <a:xfrm>
            <a:off x="6812280" y="4992624"/>
            <a:ext cx="4480560" cy="0"/>
          </a:xfrm>
          <a:prstGeom prst="line">
            <a:avLst/>
          </a:prstGeom>
          <a:noFill/>
          <a:ln w="9525">
            <a:solidFill>
              <a:srgbClr val="2A3358"/>
            </a:solidFill>
            <a:prstDash val="solid"/>
          </a:ln>
        </p:spPr>
      </p:sp>
      <p:sp>
        <p:nvSpPr>
          <p:cNvPr id="109" name="Text 107"/>
          <p:cNvSpPr/>
          <p:nvPr/>
        </p:nvSpPr>
        <p:spPr>
          <a:xfrm>
            <a:off x="6903720" y="4992624"/>
            <a:ext cx="777240" cy="566928"/>
          </a:xfrm>
          <a:prstGeom prst="rect">
            <a:avLst/>
          </a:prstGeom>
          <a:noFill/>
          <a:ln/>
        </p:spPr>
        <p:txBody>
          <a:bodyPr wrap="square" lIns="0" tIns="0" rIns="0" bIns="0" rtlCol="0" anchor="ctr"/>
          <a:lstStyle/>
          <a:p>
            <a:pPr algn="l" indent="0" marL="0">
              <a:buNone/>
            </a:pPr>
            <a:r>
              <a:rPr lang="en-US" sz="1300" dirty="0">
                <a:solidFill>
                  <a:srgbClr val="F5F7FF"/>
                </a:solidFill>
                <a:latin typeface="Cambria" pitchFamily="34" charset="0"/>
                <a:ea typeface="Cambria" pitchFamily="34" charset="-122"/>
                <a:cs typeface="Cambria" pitchFamily="34" charset="-120"/>
              </a:rPr>
              <a:t>D⁸</a:t>
            </a:r>
            <a:endParaRPr lang="en-US" sz="1300" dirty="0"/>
          </a:p>
        </p:txBody>
      </p:sp>
      <p:sp>
        <p:nvSpPr>
          <p:cNvPr id="110" name="Text 108"/>
          <p:cNvSpPr/>
          <p:nvPr/>
        </p:nvSpPr>
        <p:spPr>
          <a:xfrm>
            <a:off x="7680960" y="4992624"/>
            <a:ext cx="1234440" cy="566928"/>
          </a:xfrm>
          <a:prstGeom prst="rect">
            <a:avLst/>
          </a:prstGeom>
          <a:noFill/>
          <a:ln/>
        </p:spPr>
        <p:txBody>
          <a:bodyPr wrap="square" lIns="0" tIns="0" rIns="0" bIns="0" rtlCol="0" anchor="ctr"/>
          <a:lstStyle/>
          <a:p>
            <a:pPr algn="l" indent="0" marL="0">
              <a:buNone/>
            </a:pPr>
            <a:r>
              <a:rPr lang="en-US" sz="1300" dirty="0">
                <a:solidFill>
                  <a:srgbClr val="F5F7FF"/>
                </a:solidFill>
                <a:latin typeface="Cambria" pitchFamily="34" charset="0"/>
                <a:ea typeface="Cambria" pitchFamily="34" charset="-122"/>
                <a:cs typeface="Cambria" pitchFamily="34" charset="-120"/>
              </a:rPr>
              <a:t>2⁸ = 256</a:t>
            </a:r>
            <a:endParaRPr lang="en-US" sz="1300" dirty="0"/>
          </a:p>
        </p:txBody>
      </p:sp>
      <p:sp>
        <p:nvSpPr>
          <p:cNvPr id="111" name="Text 109"/>
          <p:cNvSpPr/>
          <p:nvPr/>
        </p:nvSpPr>
        <p:spPr>
          <a:xfrm>
            <a:off x="8915400" y="4992624"/>
            <a:ext cx="1874520" cy="566928"/>
          </a:xfrm>
          <a:prstGeom prst="rect">
            <a:avLst/>
          </a:prstGeom>
          <a:noFill/>
          <a:ln/>
        </p:spPr>
        <p:txBody>
          <a:bodyPr wrap="square" lIns="0" tIns="0" rIns="0" bIns="0" rtlCol="0" anchor="ctr"/>
          <a:lstStyle/>
          <a:p>
            <a:pPr algn="r" indent="0" marL="0">
              <a:buNone/>
            </a:pPr>
            <a:r>
              <a:rPr lang="en-US" sz="1300" dirty="0">
                <a:solidFill>
                  <a:srgbClr val="E8B54D"/>
                </a:solidFill>
                <a:latin typeface="Cambria" pitchFamily="34" charset="0"/>
                <a:ea typeface="Cambria" pitchFamily="34" charset="-122"/>
                <a:cs typeface="Cambria" pitchFamily="34" charset="-120"/>
              </a:rPr>
              <a:t>17,457,145,344</a:t>
            </a:r>
            <a:endParaRPr lang="en-US" sz="1300" dirty="0"/>
          </a:p>
        </p:txBody>
      </p:sp>
      <p:sp>
        <p:nvSpPr>
          <p:cNvPr id="112" name="Text 110"/>
          <p:cNvSpPr/>
          <p:nvPr/>
        </p:nvSpPr>
        <p:spPr>
          <a:xfrm>
            <a:off x="10835640" y="4992624"/>
            <a:ext cx="365760" cy="566928"/>
          </a:xfrm>
          <a:prstGeom prst="rect">
            <a:avLst/>
          </a:prstGeom>
          <a:noFill/>
          <a:ln/>
        </p:spPr>
        <p:txBody>
          <a:bodyPr wrap="square" lIns="0" tIns="0" rIns="0" bIns="0" rtlCol="0" anchor="ctr"/>
          <a:lstStyle/>
          <a:p>
            <a:pPr algn="ctr" indent="0" marL="0">
              <a:buNone/>
            </a:pPr>
            <a:r>
              <a:rPr lang="en-US" sz="1300" dirty="0">
                <a:solidFill>
                  <a:srgbClr val="5BD6A0"/>
                </a:solidFill>
                <a:latin typeface="Cambria" pitchFamily="34" charset="0"/>
                <a:ea typeface="Cambria" pitchFamily="34" charset="-122"/>
                <a:cs typeface="Cambria" pitchFamily="34" charset="-120"/>
              </a:rPr>
              <a:t>✓</a:t>
            </a:r>
            <a:endParaRPr lang="en-US" sz="1300" dirty="0"/>
          </a:p>
        </p:txBody>
      </p:sp>
      <p:sp>
        <p:nvSpPr>
          <p:cNvPr id="113" name="Text 111"/>
          <p:cNvSpPr/>
          <p:nvPr/>
        </p:nvSpPr>
        <p:spPr>
          <a:xfrm>
            <a:off x="11475720" y="6355080"/>
            <a:ext cx="502920" cy="320040"/>
          </a:xfrm>
          <a:prstGeom prst="rect">
            <a:avLst/>
          </a:prstGeom>
          <a:noFill/>
          <a:ln/>
        </p:spPr>
        <p:txBody>
          <a:bodyPr wrap="square" lIns="0" tIns="0" rIns="0" bIns="0" rtlCol="0" anchor="ctr"/>
          <a:lstStyle/>
          <a:p>
            <a:pPr algn="r" indent="0" marL="0">
              <a:buNone/>
            </a:pPr>
            <a:r>
              <a:rPr lang="en-US" sz="1100" dirty="0">
                <a:solidFill>
                  <a:srgbClr val="9AA4C7"/>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B1A"/>
        </a:solidFill>
      </p:bgPr>
    </p:bg>
    <p:spTree>
      <p:nvGrpSpPr>
        <p:cNvPr id="1" name=""/>
        <p:cNvGrpSpPr/>
        <p:nvPr/>
      </p:nvGrpSpPr>
      <p:grpSpPr>
        <a:xfrm>
          <a:off x="0" y="0"/>
          <a:ext cx="0" cy="0"/>
          <a:chOff x="0" y="0"/>
          <a:chExt cx="0" cy="0"/>
        </a:xfrm>
      </p:grpSpPr>
      <p:sp>
        <p:nvSpPr>
          <p:cNvPr id="2" name="Shape 0"/>
          <p:cNvSpPr/>
          <p:nvPr/>
        </p:nvSpPr>
        <p:spPr>
          <a:xfrm>
            <a:off x="5978990" y="3845895"/>
            <a:ext cx="14141" cy="14141"/>
          </a:xfrm>
          <a:prstGeom prst="ellipse">
            <a:avLst/>
          </a:prstGeom>
          <a:solidFill>
            <a:srgbClr val="FFFFFF">
              <a:alpha val="36461"/>
            </a:srgbClr>
          </a:solidFill>
          <a:ln/>
        </p:spPr>
      </p:sp>
      <p:sp>
        <p:nvSpPr>
          <p:cNvPr id="3" name="Shape 1"/>
          <p:cNvSpPr/>
          <p:nvPr/>
        </p:nvSpPr>
        <p:spPr>
          <a:xfrm>
            <a:off x="5403480" y="3472774"/>
            <a:ext cx="13128" cy="13128"/>
          </a:xfrm>
          <a:prstGeom prst="ellipse">
            <a:avLst/>
          </a:prstGeom>
          <a:solidFill>
            <a:srgbClr val="FFFFFF">
              <a:alpha val="14240"/>
            </a:srgbClr>
          </a:solidFill>
          <a:ln/>
        </p:spPr>
      </p:sp>
      <p:sp>
        <p:nvSpPr>
          <p:cNvPr id="4" name="Shape 2"/>
          <p:cNvSpPr/>
          <p:nvPr/>
        </p:nvSpPr>
        <p:spPr>
          <a:xfrm>
            <a:off x="7186034" y="2817430"/>
            <a:ext cx="18776" cy="18776"/>
          </a:xfrm>
          <a:prstGeom prst="ellipse">
            <a:avLst/>
          </a:prstGeom>
          <a:solidFill>
            <a:srgbClr val="FFFFFF">
              <a:alpha val="17656"/>
            </a:srgbClr>
          </a:solidFill>
          <a:ln/>
        </p:spPr>
      </p:sp>
      <p:sp>
        <p:nvSpPr>
          <p:cNvPr id="5" name="Shape 3"/>
          <p:cNvSpPr/>
          <p:nvPr/>
        </p:nvSpPr>
        <p:spPr>
          <a:xfrm>
            <a:off x="8015329" y="525198"/>
            <a:ext cx="24649" cy="24649"/>
          </a:xfrm>
          <a:prstGeom prst="ellipse">
            <a:avLst/>
          </a:prstGeom>
          <a:solidFill>
            <a:srgbClr val="FFFFFF">
              <a:alpha val="36772"/>
            </a:srgbClr>
          </a:solidFill>
          <a:ln/>
        </p:spPr>
      </p:sp>
      <p:sp>
        <p:nvSpPr>
          <p:cNvPr id="6" name="Shape 4"/>
          <p:cNvSpPr/>
          <p:nvPr/>
        </p:nvSpPr>
        <p:spPr>
          <a:xfrm>
            <a:off x="8192393" y="1083410"/>
            <a:ext cx="26346" cy="26346"/>
          </a:xfrm>
          <a:prstGeom prst="ellipse">
            <a:avLst/>
          </a:prstGeom>
          <a:solidFill>
            <a:srgbClr val="FFFFFF">
              <a:alpha val="27946"/>
            </a:srgbClr>
          </a:solidFill>
          <a:ln/>
        </p:spPr>
      </p:sp>
      <p:sp>
        <p:nvSpPr>
          <p:cNvPr id="7" name="Shape 5"/>
          <p:cNvSpPr/>
          <p:nvPr/>
        </p:nvSpPr>
        <p:spPr>
          <a:xfrm>
            <a:off x="2148180" y="343400"/>
            <a:ext cx="36735" cy="36735"/>
          </a:xfrm>
          <a:prstGeom prst="ellipse">
            <a:avLst/>
          </a:prstGeom>
          <a:solidFill>
            <a:srgbClr val="FFFFFF">
              <a:alpha val="11054"/>
            </a:srgbClr>
          </a:solidFill>
          <a:ln/>
        </p:spPr>
      </p:sp>
      <p:sp>
        <p:nvSpPr>
          <p:cNvPr id="8" name="Shape 6"/>
          <p:cNvSpPr/>
          <p:nvPr/>
        </p:nvSpPr>
        <p:spPr>
          <a:xfrm>
            <a:off x="1472327" y="3046501"/>
            <a:ext cx="37190" cy="37190"/>
          </a:xfrm>
          <a:prstGeom prst="ellipse">
            <a:avLst/>
          </a:prstGeom>
          <a:solidFill>
            <a:srgbClr val="FFFFFF">
              <a:alpha val="38380"/>
            </a:srgbClr>
          </a:solidFill>
          <a:ln/>
        </p:spPr>
      </p:sp>
      <p:sp>
        <p:nvSpPr>
          <p:cNvPr id="9" name="Shape 7"/>
          <p:cNvSpPr/>
          <p:nvPr/>
        </p:nvSpPr>
        <p:spPr>
          <a:xfrm>
            <a:off x="5111230" y="3774046"/>
            <a:ext cx="29404" cy="29404"/>
          </a:xfrm>
          <a:prstGeom prst="ellipse">
            <a:avLst/>
          </a:prstGeom>
          <a:solidFill>
            <a:srgbClr val="FFFFFF">
              <a:alpha val="35171"/>
            </a:srgbClr>
          </a:solidFill>
          <a:ln/>
        </p:spPr>
      </p:sp>
      <p:sp>
        <p:nvSpPr>
          <p:cNvPr id="10" name="Shape 8"/>
          <p:cNvSpPr/>
          <p:nvPr/>
        </p:nvSpPr>
        <p:spPr>
          <a:xfrm>
            <a:off x="2077313" y="6759369"/>
            <a:ext cx="23198" cy="23198"/>
          </a:xfrm>
          <a:prstGeom prst="ellipse">
            <a:avLst/>
          </a:prstGeom>
          <a:solidFill>
            <a:srgbClr val="FFFFFF">
              <a:alpha val="36859"/>
            </a:srgbClr>
          </a:solidFill>
          <a:ln/>
        </p:spPr>
      </p:sp>
      <p:sp>
        <p:nvSpPr>
          <p:cNvPr id="11" name="Shape 9"/>
          <p:cNvSpPr/>
          <p:nvPr/>
        </p:nvSpPr>
        <p:spPr>
          <a:xfrm>
            <a:off x="6669476" y="2265803"/>
            <a:ext cx="15186" cy="15186"/>
          </a:xfrm>
          <a:prstGeom prst="ellipse">
            <a:avLst/>
          </a:prstGeom>
          <a:solidFill>
            <a:srgbClr val="FFFFFF">
              <a:alpha val="17951"/>
            </a:srgbClr>
          </a:solidFill>
          <a:ln/>
        </p:spPr>
      </p:sp>
      <p:sp>
        <p:nvSpPr>
          <p:cNvPr id="12" name="Shape 10"/>
          <p:cNvSpPr/>
          <p:nvPr/>
        </p:nvSpPr>
        <p:spPr>
          <a:xfrm>
            <a:off x="4287789" y="2400682"/>
            <a:ext cx="13157" cy="13157"/>
          </a:xfrm>
          <a:prstGeom prst="ellipse">
            <a:avLst/>
          </a:prstGeom>
          <a:solidFill>
            <a:srgbClr val="FFFFFF">
              <a:alpha val="12581"/>
            </a:srgbClr>
          </a:solidFill>
          <a:ln/>
        </p:spPr>
      </p:sp>
      <p:sp>
        <p:nvSpPr>
          <p:cNvPr id="13" name="Shape 11"/>
          <p:cNvSpPr/>
          <p:nvPr/>
        </p:nvSpPr>
        <p:spPr>
          <a:xfrm>
            <a:off x="2909534" y="6063339"/>
            <a:ext cx="23885" cy="23885"/>
          </a:xfrm>
          <a:prstGeom prst="ellipse">
            <a:avLst/>
          </a:prstGeom>
          <a:solidFill>
            <a:srgbClr val="FFFFFF">
              <a:alpha val="36739"/>
            </a:srgbClr>
          </a:solidFill>
          <a:ln/>
        </p:spPr>
      </p:sp>
      <p:sp>
        <p:nvSpPr>
          <p:cNvPr id="14" name="Shape 12"/>
          <p:cNvSpPr/>
          <p:nvPr/>
        </p:nvSpPr>
        <p:spPr>
          <a:xfrm>
            <a:off x="7351182" y="2755106"/>
            <a:ext cx="31791" cy="31791"/>
          </a:xfrm>
          <a:prstGeom prst="ellipse">
            <a:avLst/>
          </a:prstGeom>
          <a:solidFill>
            <a:srgbClr val="FFFFFF">
              <a:alpha val="22151"/>
            </a:srgbClr>
          </a:solidFill>
          <a:ln/>
        </p:spPr>
      </p:sp>
      <p:sp>
        <p:nvSpPr>
          <p:cNvPr id="15" name="Shape 13"/>
          <p:cNvSpPr/>
          <p:nvPr/>
        </p:nvSpPr>
        <p:spPr>
          <a:xfrm>
            <a:off x="1658171" y="1535318"/>
            <a:ext cx="23327" cy="23327"/>
          </a:xfrm>
          <a:prstGeom prst="ellipse">
            <a:avLst/>
          </a:prstGeom>
          <a:solidFill>
            <a:srgbClr val="FFFFFF">
              <a:alpha val="41843"/>
            </a:srgbClr>
          </a:solidFill>
          <a:ln/>
        </p:spPr>
      </p:sp>
      <p:sp>
        <p:nvSpPr>
          <p:cNvPr id="16" name="Shape 14"/>
          <p:cNvSpPr/>
          <p:nvPr/>
        </p:nvSpPr>
        <p:spPr>
          <a:xfrm>
            <a:off x="580945" y="2827308"/>
            <a:ext cx="29652" cy="29652"/>
          </a:xfrm>
          <a:prstGeom prst="ellipse">
            <a:avLst/>
          </a:prstGeom>
          <a:solidFill>
            <a:srgbClr val="FFFFFF">
              <a:alpha val="22359"/>
            </a:srgbClr>
          </a:solidFill>
          <a:ln/>
        </p:spPr>
      </p:sp>
      <p:sp>
        <p:nvSpPr>
          <p:cNvPr id="17" name="Shape 15"/>
          <p:cNvSpPr/>
          <p:nvPr/>
        </p:nvSpPr>
        <p:spPr>
          <a:xfrm>
            <a:off x="11645243" y="2228409"/>
            <a:ext cx="22995" cy="22995"/>
          </a:xfrm>
          <a:prstGeom prst="ellipse">
            <a:avLst/>
          </a:prstGeom>
          <a:solidFill>
            <a:srgbClr val="FFFFFF">
              <a:alpha val="27648"/>
            </a:srgbClr>
          </a:solidFill>
          <a:ln/>
        </p:spPr>
      </p:sp>
      <p:sp>
        <p:nvSpPr>
          <p:cNvPr id="18" name="Shape 16"/>
          <p:cNvSpPr/>
          <p:nvPr/>
        </p:nvSpPr>
        <p:spPr>
          <a:xfrm>
            <a:off x="5350172" y="5749954"/>
            <a:ext cx="23337" cy="23337"/>
          </a:xfrm>
          <a:prstGeom prst="ellipse">
            <a:avLst/>
          </a:prstGeom>
          <a:solidFill>
            <a:srgbClr val="FFFFFF">
              <a:alpha val="29624"/>
            </a:srgbClr>
          </a:solidFill>
          <a:ln/>
        </p:spPr>
      </p:sp>
      <p:sp>
        <p:nvSpPr>
          <p:cNvPr id="19" name="Shape 17"/>
          <p:cNvSpPr/>
          <p:nvPr/>
        </p:nvSpPr>
        <p:spPr>
          <a:xfrm>
            <a:off x="3219343" y="1623278"/>
            <a:ext cx="31356" cy="31356"/>
          </a:xfrm>
          <a:prstGeom prst="ellipse">
            <a:avLst/>
          </a:prstGeom>
          <a:solidFill>
            <a:srgbClr val="FFFFFF">
              <a:alpha val="40386"/>
            </a:srgbClr>
          </a:solidFill>
          <a:ln/>
        </p:spPr>
      </p:sp>
      <p:sp>
        <p:nvSpPr>
          <p:cNvPr id="20" name="Shape 18"/>
          <p:cNvSpPr/>
          <p:nvPr/>
        </p:nvSpPr>
        <p:spPr>
          <a:xfrm>
            <a:off x="3296064" y="5257712"/>
            <a:ext cx="34520" cy="34520"/>
          </a:xfrm>
          <a:prstGeom prst="ellipse">
            <a:avLst/>
          </a:prstGeom>
          <a:solidFill>
            <a:srgbClr val="FFFFFF">
              <a:alpha val="11107"/>
            </a:srgbClr>
          </a:solidFill>
          <a:ln/>
        </p:spPr>
      </p:sp>
      <p:sp>
        <p:nvSpPr>
          <p:cNvPr id="21" name="Shape 19"/>
          <p:cNvSpPr/>
          <p:nvPr/>
        </p:nvSpPr>
        <p:spPr>
          <a:xfrm>
            <a:off x="11299895" y="5900591"/>
            <a:ext cx="31475" cy="31475"/>
          </a:xfrm>
          <a:prstGeom prst="ellipse">
            <a:avLst/>
          </a:prstGeom>
          <a:solidFill>
            <a:srgbClr val="FFFFFF">
              <a:alpha val="22590"/>
            </a:srgbClr>
          </a:solidFill>
          <a:ln/>
        </p:spPr>
      </p:sp>
      <p:sp>
        <p:nvSpPr>
          <p:cNvPr id="22" name="Shape 20"/>
          <p:cNvSpPr/>
          <p:nvPr/>
        </p:nvSpPr>
        <p:spPr>
          <a:xfrm>
            <a:off x="6760830" y="165247"/>
            <a:ext cx="19851" cy="19851"/>
          </a:xfrm>
          <a:prstGeom prst="ellipse">
            <a:avLst/>
          </a:prstGeom>
          <a:solidFill>
            <a:srgbClr val="FFFFFF">
              <a:alpha val="32488"/>
            </a:srgbClr>
          </a:solidFill>
          <a:ln/>
        </p:spPr>
      </p:sp>
      <p:sp>
        <p:nvSpPr>
          <p:cNvPr id="23" name="Shape 21"/>
          <p:cNvSpPr/>
          <p:nvPr/>
        </p:nvSpPr>
        <p:spPr>
          <a:xfrm>
            <a:off x="2623138" y="2699015"/>
            <a:ext cx="29788" cy="29788"/>
          </a:xfrm>
          <a:prstGeom prst="ellipse">
            <a:avLst/>
          </a:prstGeom>
          <a:solidFill>
            <a:srgbClr val="FFFFFF">
              <a:alpha val="19197"/>
            </a:srgbClr>
          </a:solidFill>
          <a:ln/>
        </p:spPr>
      </p:sp>
      <p:sp>
        <p:nvSpPr>
          <p:cNvPr id="24" name="Shape 22"/>
          <p:cNvSpPr/>
          <p:nvPr/>
        </p:nvSpPr>
        <p:spPr>
          <a:xfrm>
            <a:off x="3251746" y="6559227"/>
            <a:ext cx="11165" cy="11165"/>
          </a:xfrm>
          <a:prstGeom prst="ellipse">
            <a:avLst/>
          </a:prstGeom>
          <a:solidFill>
            <a:srgbClr val="FFFFFF">
              <a:alpha val="32407"/>
            </a:srgbClr>
          </a:solidFill>
          <a:ln/>
        </p:spPr>
      </p:sp>
      <p:sp>
        <p:nvSpPr>
          <p:cNvPr id="25" name="Shape 23"/>
          <p:cNvSpPr/>
          <p:nvPr/>
        </p:nvSpPr>
        <p:spPr>
          <a:xfrm>
            <a:off x="7141507" y="3025216"/>
            <a:ext cx="13426" cy="13426"/>
          </a:xfrm>
          <a:prstGeom prst="ellipse">
            <a:avLst/>
          </a:prstGeom>
          <a:solidFill>
            <a:srgbClr val="FFFFFF">
              <a:alpha val="10330"/>
            </a:srgbClr>
          </a:solidFill>
          <a:ln/>
        </p:spPr>
      </p:sp>
      <p:sp>
        <p:nvSpPr>
          <p:cNvPr id="26" name="Shape 24"/>
          <p:cNvSpPr/>
          <p:nvPr/>
        </p:nvSpPr>
        <p:spPr>
          <a:xfrm>
            <a:off x="5562565" y="5982317"/>
            <a:ext cx="27089" cy="27089"/>
          </a:xfrm>
          <a:prstGeom prst="ellipse">
            <a:avLst/>
          </a:prstGeom>
          <a:solidFill>
            <a:srgbClr val="FFFFFF">
              <a:alpha val="28582"/>
            </a:srgbClr>
          </a:solidFill>
          <a:ln/>
        </p:spPr>
      </p:sp>
      <p:sp>
        <p:nvSpPr>
          <p:cNvPr id="27" name="Shape 25"/>
          <p:cNvSpPr/>
          <p:nvPr/>
        </p:nvSpPr>
        <p:spPr>
          <a:xfrm>
            <a:off x="1525216" y="5439863"/>
            <a:ext cx="35559" cy="35559"/>
          </a:xfrm>
          <a:prstGeom prst="ellipse">
            <a:avLst/>
          </a:prstGeom>
          <a:solidFill>
            <a:srgbClr val="FFFFFF">
              <a:alpha val="35744"/>
            </a:srgbClr>
          </a:solidFill>
          <a:ln/>
        </p:spPr>
      </p:sp>
      <p:sp>
        <p:nvSpPr>
          <p:cNvPr id="28" name="Shape 26"/>
          <p:cNvSpPr/>
          <p:nvPr/>
        </p:nvSpPr>
        <p:spPr>
          <a:xfrm>
            <a:off x="297476" y="1059186"/>
            <a:ext cx="30369" cy="30369"/>
          </a:xfrm>
          <a:prstGeom prst="ellipse">
            <a:avLst/>
          </a:prstGeom>
          <a:solidFill>
            <a:srgbClr val="FFFFFF">
              <a:alpha val="20580"/>
            </a:srgbClr>
          </a:solidFill>
          <a:ln/>
        </p:spPr>
      </p:sp>
      <p:sp>
        <p:nvSpPr>
          <p:cNvPr id="29" name="Shape 27"/>
          <p:cNvSpPr/>
          <p:nvPr/>
        </p:nvSpPr>
        <p:spPr>
          <a:xfrm>
            <a:off x="8050449" y="5963620"/>
            <a:ext cx="17277" cy="17277"/>
          </a:xfrm>
          <a:prstGeom prst="ellipse">
            <a:avLst/>
          </a:prstGeom>
          <a:solidFill>
            <a:srgbClr val="FFFFFF">
              <a:alpha val="15931"/>
            </a:srgbClr>
          </a:solidFill>
          <a:ln/>
        </p:spPr>
      </p:sp>
      <p:sp>
        <p:nvSpPr>
          <p:cNvPr id="30" name="Shape 28"/>
          <p:cNvSpPr/>
          <p:nvPr/>
        </p:nvSpPr>
        <p:spPr>
          <a:xfrm>
            <a:off x="2056408" y="256499"/>
            <a:ext cx="13217" cy="13217"/>
          </a:xfrm>
          <a:prstGeom prst="ellipse">
            <a:avLst/>
          </a:prstGeom>
          <a:solidFill>
            <a:srgbClr val="FFFFFF">
              <a:alpha val="44265"/>
            </a:srgbClr>
          </a:solidFill>
          <a:ln/>
        </p:spPr>
      </p:sp>
      <p:sp>
        <p:nvSpPr>
          <p:cNvPr id="31" name="Shape 29"/>
          <p:cNvSpPr/>
          <p:nvPr/>
        </p:nvSpPr>
        <p:spPr>
          <a:xfrm>
            <a:off x="6548228" y="5697155"/>
            <a:ext cx="34104" cy="34104"/>
          </a:xfrm>
          <a:prstGeom prst="ellipse">
            <a:avLst/>
          </a:prstGeom>
          <a:solidFill>
            <a:srgbClr val="FFFFFF">
              <a:alpha val="39904"/>
            </a:srgbClr>
          </a:solidFill>
          <a:ln/>
        </p:spPr>
      </p:sp>
      <p:sp>
        <p:nvSpPr>
          <p:cNvPr id="32" name="Shape 30"/>
          <p:cNvSpPr/>
          <p:nvPr/>
        </p:nvSpPr>
        <p:spPr>
          <a:xfrm>
            <a:off x="6022890" y="356923"/>
            <a:ext cx="18642" cy="18642"/>
          </a:xfrm>
          <a:prstGeom prst="ellipse">
            <a:avLst/>
          </a:prstGeom>
          <a:solidFill>
            <a:srgbClr val="FFFFFF">
              <a:alpha val="27909"/>
            </a:srgbClr>
          </a:solidFill>
          <a:ln/>
        </p:spPr>
      </p:sp>
      <p:sp>
        <p:nvSpPr>
          <p:cNvPr id="33" name="Shape 31"/>
          <p:cNvSpPr/>
          <p:nvPr/>
        </p:nvSpPr>
        <p:spPr>
          <a:xfrm>
            <a:off x="781422" y="2439135"/>
            <a:ext cx="17291" cy="17291"/>
          </a:xfrm>
          <a:prstGeom prst="ellipse">
            <a:avLst/>
          </a:prstGeom>
          <a:solidFill>
            <a:srgbClr val="FFFFFF">
              <a:alpha val="34638"/>
            </a:srgbClr>
          </a:solidFill>
          <a:ln/>
        </p:spPr>
      </p:sp>
      <p:sp>
        <p:nvSpPr>
          <p:cNvPr id="34" name="Shape 32"/>
          <p:cNvSpPr/>
          <p:nvPr/>
        </p:nvSpPr>
        <p:spPr>
          <a:xfrm>
            <a:off x="9638171" y="937125"/>
            <a:ext cx="15488" cy="15488"/>
          </a:xfrm>
          <a:prstGeom prst="ellipse">
            <a:avLst/>
          </a:prstGeom>
          <a:solidFill>
            <a:srgbClr val="FFFFFF">
              <a:alpha val="44968"/>
            </a:srgbClr>
          </a:solidFill>
          <a:ln/>
        </p:spPr>
      </p:sp>
      <p:sp>
        <p:nvSpPr>
          <p:cNvPr id="35" name="Shape 33"/>
          <p:cNvSpPr/>
          <p:nvPr/>
        </p:nvSpPr>
        <p:spPr>
          <a:xfrm>
            <a:off x="7607685" y="592226"/>
            <a:ext cx="22038" cy="22038"/>
          </a:xfrm>
          <a:prstGeom prst="ellipse">
            <a:avLst/>
          </a:prstGeom>
          <a:solidFill>
            <a:srgbClr val="FFFFFF">
              <a:alpha val="41183"/>
            </a:srgbClr>
          </a:solidFill>
          <a:ln/>
        </p:spPr>
      </p:sp>
      <p:sp>
        <p:nvSpPr>
          <p:cNvPr id="36" name="Shape 34"/>
          <p:cNvSpPr/>
          <p:nvPr/>
        </p:nvSpPr>
        <p:spPr>
          <a:xfrm>
            <a:off x="5828057" y="2843771"/>
            <a:ext cx="11204" cy="11204"/>
          </a:xfrm>
          <a:prstGeom prst="ellipse">
            <a:avLst/>
          </a:prstGeom>
          <a:solidFill>
            <a:srgbClr val="FFFFFF">
              <a:alpha val="18530"/>
            </a:srgbClr>
          </a:solidFill>
          <a:ln/>
        </p:spPr>
      </p:sp>
      <p:sp>
        <p:nvSpPr>
          <p:cNvPr id="37" name="Shape 35"/>
          <p:cNvSpPr/>
          <p:nvPr/>
        </p:nvSpPr>
        <p:spPr>
          <a:xfrm>
            <a:off x="5503405" y="5067094"/>
            <a:ext cx="20239" cy="20239"/>
          </a:xfrm>
          <a:prstGeom prst="ellipse">
            <a:avLst/>
          </a:prstGeom>
          <a:solidFill>
            <a:srgbClr val="FFFFFF">
              <a:alpha val="12440"/>
            </a:srgbClr>
          </a:solidFill>
          <a:ln/>
        </p:spPr>
      </p:sp>
      <p:sp>
        <p:nvSpPr>
          <p:cNvPr id="38" name="Shape 36"/>
          <p:cNvSpPr/>
          <p:nvPr/>
        </p:nvSpPr>
        <p:spPr>
          <a:xfrm>
            <a:off x="8740935" y="4383528"/>
            <a:ext cx="18323" cy="18323"/>
          </a:xfrm>
          <a:prstGeom prst="ellipse">
            <a:avLst/>
          </a:prstGeom>
          <a:solidFill>
            <a:srgbClr val="FFFFFF">
              <a:alpha val="32421"/>
            </a:srgbClr>
          </a:solidFill>
          <a:ln/>
        </p:spPr>
      </p:sp>
      <p:sp>
        <p:nvSpPr>
          <p:cNvPr id="39" name="Shape 37"/>
          <p:cNvSpPr/>
          <p:nvPr/>
        </p:nvSpPr>
        <p:spPr>
          <a:xfrm>
            <a:off x="940717" y="6042407"/>
            <a:ext cx="13246" cy="13246"/>
          </a:xfrm>
          <a:prstGeom prst="ellipse">
            <a:avLst/>
          </a:prstGeom>
          <a:solidFill>
            <a:srgbClr val="FFFFFF">
              <a:alpha val="42607"/>
            </a:srgbClr>
          </a:solidFill>
          <a:ln/>
        </p:spPr>
      </p:sp>
      <p:sp>
        <p:nvSpPr>
          <p:cNvPr id="40" name="Shape 38"/>
          <p:cNvSpPr/>
          <p:nvPr/>
        </p:nvSpPr>
        <p:spPr>
          <a:xfrm>
            <a:off x="2271728" y="2085064"/>
            <a:ext cx="11782" cy="11782"/>
          </a:xfrm>
          <a:prstGeom prst="ellipse">
            <a:avLst/>
          </a:prstGeom>
          <a:solidFill>
            <a:srgbClr val="FFFFFF">
              <a:alpha val="23986"/>
            </a:srgbClr>
          </a:solidFill>
          <a:ln/>
        </p:spPr>
      </p:sp>
      <p:sp>
        <p:nvSpPr>
          <p:cNvPr id="41" name="Shape 39"/>
          <p:cNvSpPr/>
          <p:nvPr/>
        </p:nvSpPr>
        <p:spPr>
          <a:xfrm>
            <a:off x="5358743" y="2586831"/>
            <a:ext cx="25784" cy="25784"/>
          </a:xfrm>
          <a:prstGeom prst="ellipse">
            <a:avLst/>
          </a:prstGeom>
          <a:solidFill>
            <a:srgbClr val="FFFFFF">
              <a:alpha val="13288"/>
            </a:srgbClr>
          </a:solidFill>
          <a:ln/>
        </p:spPr>
      </p:sp>
      <p:sp>
        <p:nvSpPr>
          <p:cNvPr id="42" name="Shape 40"/>
          <p:cNvSpPr/>
          <p:nvPr/>
        </p:nvSpPr>
        <p:spPr>
          <a:xfrm>
            <a:off x="6438896" y="2891043"/>
            <a:ext cx="14272" cy="14272"/>
          </a:xfrm>
          <a:prstGeom prst="ellipse">
            <a:avLst/>
          </a:prstGeom>
          <a:solidFill>
            <a:srgbClr val="FFFFFF">
              <a:alpha val="13536"/>
            </a:srgbClr>
          </a:solidFill>
          <a:ln/>
        </p:spPr>
      </p:sp>
      <p:sp>
        <p:nvSpPr>
          <p:cNvPr id="43" name="Shape 41"/>
          <p:cNvSpPr/>
          <p:nvPr/>
        </p:nvSpPr>
        <p:spPr>
          <a:xfrm>
            <a:off x="8070936" y="3421033"/>
            <a:ext cx="35837" cy="35837"/>
          </a:xfrm>
          <a:prstGeom prst="ellipse">
            <a:avLst/>
          </a:prstGeom>
          <a:solidFill>
            <a:srgbClr val="FFFFFF">
              <a:alpha val="21273"/>
            </a:srgbClr>
          </a:solidFill>
          <a:ln/>
        </p:spPr>
      </p:sp>
      <p:sp>
        <p:nvSpPr>
          <p:cNvPr id="44" name="Shape 42"/>
          <p:cNvSpPr/>
          <p:nvPr/>
        </p:nvSpPr>
        <p:spPr>
          <a:xfrm>
            <a:off x="5588906" y="6632134"/>
            <a:ext cx="35276" cy="35276"/>
          </a:xfrm>
          <a:prstGeom prst="ellipse">
            <a:avLst/>
          </a:prstGeom>
          <a:solidFill>
            <a:srgbClr val="FFFFFF">
              <a:alpha val="30451"/>
            </a:srgbClr>
          </a:solidFill>
          <a:ln/>
        </p:spPr>
      </p:sp>
      <p:sp>
        <p:nvSpPr>
          <p:cNvPr id="45" name="Shape 43"/>
          <p:cNvSpPr/>
          <p:nvPr/>
        </p:nvSpPr>
        <p:spPr>
          <a:xfrm>
            <a:off x="6066999" y="4819679"/>
            <a:ext cx="32570" cy="32570"/>
          </a:xfrm>
          <a:prstGeom prst="ellipse">
            <a:avLst/>
          </a:prstGeom>
          <a:solidFill>
            <a:srgbClr val="FFFFFF">
              <a:alpha val="12983"/>
            </a:srgbClr>
          </a:solidFill>
          <a:ln/>
        </p:spPr>
      </p:sp>
      <p:sp>
        <p:nvSpPr>
          <p:cNvPr id="46" name="Shape 44"/>
          <p:cNvSpPr/>
          <p:nvPr/>
        </p:nvSpPr>
        <p:spPr>
          <a:xfrm>
            <a:off x="6645436" y="6789003"/>
            <a:ext cx="28396" cy="28396"/>
          </a:xfrm>
          <a:prstGeom prst="ellipse">
            <a:avLst/>
          </a:prstGeom>
          <a:solidFill>
            <a:srgbClr val="FFFFFF">
              <a:alpha val="15967"/>
            </a:srgbClr>
          </a:solidFill>
          <a:ln/>
        </p:spPr>
      </p:sp>
      <p:sp>
        <p:nvSpPr>
          <p:cNvPr id="47" name="Shape 45"/>
          <p:cNvSpPr/>
          <p:nvPr/>
        </p:nvSpPr>
        <p:spPr>
          <a:xfrm>
            <a:off x="5367523" y="517437"/>
            <a:ext cx="37657" cy="37657"/>
          </a:xfrm>
          <a:prstGeom prst="ellipse">
            <a:avLst/>
          </a:prstGeom>
          <a:solidFill>
            <a:srgbClr val="FFFFFF">
              <a:alpha val="25577"/>
            </a:srgbClr>
          </a:solidFill>
          <a:ln/>
        </p:spPr>
      </p:sp>
      <p:sp>
        <p:nvSpPr>
          <p:cNvPr id="48" name="Shape 46"/>
          <p:cNvSpPr/>
          <p:nvPr/>
        </p:nvSpPr>
        <p:spPr>
          <a:xfrm>
            <a:off x="7952823" y="2684316"/>
            <a:ext cx="31564" cy="31564"/>
          </a:xfrm>
          <a:prstGeom prst="ellipse">
            <a:avLst/>
          </a:prstGeom>
          <a:solidFill>
            <a:srgbClr val="FFFFFF">
              <a:alpha val="17615"/>
            </a:srgbClr>
          </a:solidFill>
          <a:ln/>
        </p:spPr>
      </p:sp>
      <p:sp>
        <p:nvSpPr>
          <p:cNvPr id="49" name="Shape 47"/>
          <p:cNvSpPr/>
          <p:nvPr/>
        </p:nvSpPr>
        <p:spPr>
          <a:xfrm>
            <a:off x="6123024" y="3044972"/>
            <a:ext cx="35180" cy="35180"/>
          </a:xfrm>
          <a:prstGeom prst="ellipse">
            <a:avLst/>
          </a:prstGeom>
          <a:solidFill>
            <a:srgbClr val="FFFFFF">
              <a:alpha val="19736"/>
            </a:srgbClr>
          </a:solidFill>
          <a:ln/>
        </p:spPr>
      </p:sp>
      <p:sp>
        <p:nvSpPr>
          <p:cNvPr id="50" name="Shape 48"/>
          <p:cNvSpPr/>
          <p:nvPr/>
        </p:nvSpPr>
        <p:spPr>
          <a:xfrm>
            <a:off x="630699" y="2530740"/>
            <a:ext cx="23781" cy="23781"/>
          </a:xfrm>
          <a:prstGeom prst="ellipse">
            <a:avLst/>
          </a:prstGeom>
          <a:solidFill>
            <a:srgbClr val="FFFFFF">
              <a:alpha val="10333"/>
            </a:srgbClr>
          </a:solidFill>
          <a:ln/>
        </p:spPr>
      </p:sp>
      <p:sp>
        <p:nvSpPr>
          <p:cNvPr id="51" name="Shape 49"/>
          <p:cNvSpPr/>
          <p:nvPr/>
        </p:nvSpPr>
        <p:spPr>
          <a:xfrm>
            <a:off x="8032471" y="1056952"/>
            <a:ext cx="29542" cy="29542"/>
          </a:xfrm>
          <a:prstGeom prst="ellipse">
            <a:avLst/>
          </a:prstGeom>
          <a:solidFill>
            <a:srgbClr val="FFFFFF">
              <a:alpha val="39100"/>
            </a:srgbClr>
          </a:solidFill>
          <a:ln/>
        </p:spPr>
      </p:sp>
      <p:sp>
        <p:nvSpPr>
          <p:cNvPr id="52" name="Shape 50"/>
          <p:cNvSpPr/>
          <p:nvPr/>
        </p:nvSpPr>
        <p:spPr>
          <a:xfrm>
            <a:off x="2439802" y="3618941"/>
            <a:ext cx="19611" cy="19611"/>
          </a:xfrm>
          <a:prstGeom prst="ellipse">
            <a:avLst/>
          </a:prstGeom>
          <a:solidFill>
            <a:srgbClr val="FFFFFF">
              <a:alpha val="44245"/>
            </a:srgbClr>
          </a:solidFill>
          <a:ln/>
        </p:spPr>
      </p:sp>
      <p:sp>
        <p:nvSpPr>
          <p:cNvPr id="53" name="Shape 51"/>
          <p:cNvSpPr/>
          <p:nvPr/>
        </p:nvSpPr>
        <p:spPr>
          <a:xfrm>
            <a:off x="11697923" y="3528042"/>
            <a:ext cx="11938" cy="11938"/>
          </a:xfrm>
          <a:prstGeom prst="ellipse">
            <a:avLst/>
          </a:prstGeom>
          <a:solidFill>
            <a:srgbClr val="FFFFFF">
              <a:alpha val="31385"/>
            </a:srgbClr>
          </a:solidFill>
          <a:ln/>
        </p:spPr>
      </p:sp>
      <p:sp>
        <p:nvSpPr>
          <p:cNvPr id="54" name="Shape 52"/>
          <p:cNvSpPr/>
          <p:nvPr/>
        </p:nvSpPr>
        <p:spPr>
          <a:xfrm>
            <a:off x="2242043" y="4509588"/>
            <a:ext cx="17360" cy="17360"/>
          </a:xfrm>
          <a:prstGeom prst="ellipse">
            <a:avLst/>
          </a:prstGeom>
          <a:solidFill>
            <a:srgbClr val="FFFFFF">
              <a:alpha val="19102"/>
            </a:srgbClr>
          </a:solidFill>
          <a:ln/>
        </p:spPr>
      </p:sp>
      <p:sp>
        <p:nvSpPr>
          <p:cNvPr id="55" name="Shape 53"/>
          <p:cNvSpPr/>
          <p:nvPr/>
        </p:nvSpPr>
        <p:spPr>
          <a:xfrm>
            <a:off x="3723568" y="6224911"/>
            <a:ext cx="27410" cy="27410"/>
          </a:xfrm>
          <a:prstGeom prst="ellipse">
            <a:avLst/>
          </a:prstGeom>
          <a:solidFill>
            <a:srgbClr val="FFFFFF">
              <a:alpha val="31161"/>
            </a:srgbClr>
          </a:solidFill>
          <a:ln/>
        </p:spPr>
      </p:sp>
      <p:sp>
        <p:nvSpPr>
          <p:cNvPr id="56" name="Shape 54"/>
          <p:cNvSpPr/>
          <p:nvPr/>
        </p:nvSpPr>
        <p:spPr>
          <a:xfrm>
            <a:off x="10121908" y="1223345"/>
            <a:ext cx="20414" cy="20414"/>
          </a:xfrm>
          <a:prstGeom prst="ellipse">
            <a:avLst/>
          </a:prstGeom>
          <a:solidFill>
            <a:srgbClr val="FFFFFF">
              <a:alpha val="30401"/>
            </a:srgbClr>
          </a:solidFill>
          <a:ln/>
        </p:spPr>
      </p:sp>
      <p:sp>
        <p:nvSpPr>
          <p:cNvPr id="57" name="Shape 55"/>
          <p:cNvSpPr/>
          <p:nvPr/>
        </p:nvSpPr>
        <p:spPr>
          <a:xfrm>
            <a:off x="10901031" y="3898224"/>
            <a:ext cx="13306" cy="13306"/>
          </a:xfrm>
          <a:prstGeom prst="ellipse">
            <a:avLst/>
          </a:prstGeom>
          <a:solidFill>
            <a:srgbClr val="FFFFFF">
              <a:alpha val="39290"/>
            </a:srgbClr>
          </a:solidFill>
          <a:ln/>
        </p:spPr>
      </p:sp>
      <p:sp>
        <p:nvSpPr>
          <p:cNvPr id="58" name="Shape 56"/>
          <p:cNvSpPr/>
          <p:nvPr/>
        </p:nvSpPr>
        <p:spPr>
          <a:xfrm>
            <a:off x="5910422" y="1718880"/>
            <a:ext cx="22001" cy="22001"/>
          </a:xfrm>
          <a:prstGeom prst="ellipse">
            <a:avLst/>
          </a:prstGeom>
          <a:solidFill>
            <a:srgbClr val="FFFFFF">
              <a:alpha val="27151"/>
            </a:srgbClr>
          </a:solidFill>
          <a:ln/>
        </p:spPr>
      </p:sp>
      <p:sp>
        <p:nvSpPr>
          <p:cNvPr id="59" name="Shape 57"/>
          <p:cNvSpPr/>
          <p:nvPr/>
        </p:nvSpPr>
        <p:spPr>
          <a:xfrm>
            <a:off x="4030451" y="188648"/>
            <a:ext cx="12635" cy="12635"/>
          </a:xfrm>
          <a:prstGeom prst="ellipse">
            <a:avLst/>
          </a:prstGeom>
          <a:solidFill>
            <a:srgbClr val="FFFFFF">
              <a:alpha val="19045"/>
            </a:srgbClr>
          </a:solidFill>
          <a:ln/>
        </p:spPr>
      </p:sp>
      <p:sp>
        <p:nvSpPr>
          <p:cNvPr id="60" name="Shape 58"/>
          <p:cNvSpPr/>
          <p:nvPr/>
        </p:nvSpPr>
        <p:spPr>
          <a:xfrm>
            <a:off x="5562147" y="3794860"/>
            <a:ext cx="35667" cy="35667"/>
          </a:xfrm>
          <a:prstGeom prst="ellipse">
            <a:avLst/>
          </a:prstGeom>
          <a:solidFill>
            <a:srgbClr val="FFFFFF">
              <a:alpha val="41330"/>
            </a:srgbClr>
          </a:solidFill>
          <a:ln/>
        </p:spPr>
      </p:sp>
      <p:sp>
        <p:nvSpPr>
          <p:cNvPr id="61" name="Shape 59"/>
          <p:cNvSpPr/>
          <p:nvPr/>
        </p:nvSpPr>
        <p:spPr>
          <a:xfrm>
            <a:off x="4936466" y="1530850"/>
            <a:ext cx="21673" cy="21673"/>
          </a:xfrm>
          <a:prstGeom prst="ellipse">
            <a:avLst/>
          </a:prstGeom>
          <a:solidFill>
            <a:srgbClr val="FFFFFF">
              <a:alpha val="43883"/>
            </a:srgbClr>
          </a:solidFill>
          <a:ln/>
        </p:spPr>
      </p:sp>
      <p:sp>
        <p:nvSpPr>
          <p:cNvPr id="62" name="Shape 60"/>
          <p:cNvSpPr/>
          <p:nvPr/>
        </p:nvSpPr>
        <p:spPr>
          <a:xfrm>
            <a:off x="1551347" y="4995951"/>
            <a:ext cx="34319" cy="34319"/>
          </a:xfrm>
          <a:prstGeom prst="ellipse">
            <a:avLst/>
          </a:prstGeom>
          <a:solidFill>
            <a:srgbClr val="FFFFFF">
              <a:alpha val="43987"/>
            </a:srgbClr>
          </a:solidFill>
          <a:ln/>
        </p:spPr>
      </p:sp>
      <p:sp>
        <p:nvSpPr>
          <p:cNvPr id="63" name="Shape 61"/>
          <p:cNvSpPr/>
          <p:nvPr/>
        </p:nvSpPr>
        <p:spPr>
          <a:xfrm>
            <a:off x="6544883" y="1913496"/>
            <a:ext cx="20437" cy="20437"/>
          </a:xfrm>
          <a:prstGeom prst="ellipse">
            <a:avLst/>
          </a:prstGeom>
          <a:solidFill>
            <a:srgbClr val="FFFFFF">
              <a:alpha val="36889"/>
            </a:srgbClr>
          </a:solidFill>
          <a:ln/>
        </p:spPr>
      </p:sp>
      <p:sp>
        <p:nvSpPr>
          <p:cNvPr id="64" name="Shape 62"/>
          <p:cNvSpPr/>
          <p:nvPr/>
        </p:nvSpPr>
        <p:spPr>
          <a:xfrm>
            <a:off x="8929497" y="3374819"/>
            <a:ext cx="17280" cy="17280"/>
          </a:xfrm>
          <a:prstGeom prst="ellipse">
            <a:avLst/>
          </a:prstGeom>
          <a:solidFill>
            <a:srgbClr val="FFFFFF">
              <a:alpha val="23021"/>
            </a:srgbClr>
          </a:solidFill>
          <a:ln/>
        </p:spPr>
      </p:sp>
      <p:sp>
        <p:nvSpPr>
          <p:cNvPr id="65" name="Shape 63"/>
          <p:cNvSpPr/>
          <p:nvPr/>
        </p:nvSpPr>
        <p:spPr>
          <a:xfrm>
            <a:off x="10812395" y="6501253"/>
            <a:ext cx="21460" cy="21460"/>
          </a:xfrm>
          <a:prstGeom prst="ellipse">
            <a:avLst/>
          </a:prstGeom>
          <a:solidFill>
            <a:srgbClr val="FFFFFF">
              <a:alpha val="11891"/>
            </a:srgbClr>
          </a:solidFill>
          <a:ln/>
        </p:spPr>
      </p:sp>
      <p:sp>
        <p:nvSpPr>
          <p:cNvPr id="66" name="Shape 64"/>
          <p:cNvSpPr/>
          <p:nvPr/>
        </p:nvSpPr>
        <p:spPr>
          <a:xfrm>
            <a:off x="9785341" y="2826132"/>
            <a:ext cx="13335" cy="13335"/>
          </a:xfrm>
          <a:prstGeom prst="ellipse">
            <a:avLst/>
          </a:prstGeom>
          <a:solidFill>
            <a:srgbClr val="FFFFFF">
              <a:alpha val="37632"/>
            </a:srgbClr>
          </a:solidFill>
          <a:ln/>
        </p:spPr>
      </p:sp>
      <p:sp>
        <p:nvSpPr>
          <p:cNvPr id="67" name="Shape 65"/>
          <p:cNvSpPr/>
          <p:nvPr/>
        </p:nvSpPr>
        <p:spPr>
          <a:xfrm>
            <a:off x="1633921" y="4964789"/>
            <a:ext cx="27111" cy="27111"/>
          </a:xfrm>
          <a:prstGeom prst="ellipse">
            <a:avLst/>
          </a:prstGeom>
          <a:solidFill>
            <a:srgbClr val="FFFFFF">
              <a:alpha val="11234"/>
            </a:srgbClr>
          </a:solidFill>
          <a:ln/>
        </p:spPr>
      </p:sp>
      <p:sp>
        <p:nvSpPr>
          <p:cNvPr id="68" name="Shape 66"/>
          <p:cNvSpPr/>
          <p:nvPr/>
        </p:nvSpPr>
        <p:spPr>
          <a:xfrm>
            <a:off x="3366304" y="2418556"/>
            <a:ext cx="19776" cy="19776"/>
          </a:xfrm>
          <a:prstGeom prst="ellipse">
            <a:avLst/>
          </a:prstGeom>
          <a:solidFill>
            <a:srgbClr val="FFFFFF">
              <a:alpha val="39424"/>
            </a:srgbClr>
          </a:solidFill>
          <a:ln/>
        </p:spPr>
      </p:sp>
      <p:sp>
        <p:nvSpPr>
          <p:cNvPr id="69" name="Shape 67"/>
          <p:cNvSpPr/>
          <p:nvPr/>
        </p:nvSpPr>
        <p:spPr>
          <a:xfrm>
            <a:off x="11219621" y="4246768"/>
            <a:ext cx="32649" cy="32649"/>
          </a:xfrm>
          <a:prstGeom prst="ellipse">
            <a:avLst/>
          </a:prstGeom>
          <a:solidFill>
            <a:srgbClr val="FFFFFF">
              <a:alpha val="20228"/>
            </a:srgbClr>
          </a:solidFill>
          <a:ln/>
        </p:spPr>
      </p:sp>
      <p:sp>
        <p:nvSpPr>
          <p:cNvPr id="70" name="Shape 68"/>
          <p:cNvSpPr/>
          <p:nvPr/>
        </p:nvSpPr>
        <p:spPr>
          <a:xfrm>
            <a:off x="3369231" y="4014758"/>
            <a:ext cx="14590" cy="14590"/>
          </a:xfrm>
          <a:prstGeom prst="ellipse">
            <a:avLst/>
          </a:prstGeom>
          <a:solidFill>
            <a:srgbClr val="FFFFFF">
              <a:alpha val="20187"/>
            </a:srgbClr>
          </a:solidFill>
          <a:ln/>
        </p:spPr>
      </p:sp>
      <p:sp>
        <p:nvSpPr>
          <p:cNvPr id="71" name="Shape 69"/>
          <p:cNvSpPr/>
          <p:nvPr/>
        </p:nvSpPr>
        <p:spPr>
          <a:xfrm>
            <a:off x="11724263" y="4177859"/>
            <a:ext cx="20125" cy="20125"/>
          </a:xfrm>
          <a:prstGeom prst="ellipse">
            <a:avLst/>
          </a:prstGeom>
          <a:solidFill>
            <a:srgbClr val="FFFFFF">
              <a:alpha val="33254"/>
            </a:srgbClr>
          </a:solidFill>
          <a:ln/>
        </p:spPr>
      </p:sp>
      <p:sp>
        <p:nvSpPr>
          <p:cNvPr id="72" name="Text 70"/>
          <p:cNvSpPr/>
          <p:nvPr/>
        </p:nvSpPr>
        <p:spPr>
          <a:xfrm>
            <a:off x="640080" y="457200"/>
            <a:ext cx="10972800" cy="320040"/>
          </a:xfrm>
          <a:prstGeom prst="rect">
            <a:avLst/>
          </a:prstGeom>
          <a:noFill/>
          <a:ln/>
        </p:spPr>
        <p:txBody>
          <a:bodyPr wrap="square" lIns="0" tIns="0" rIns="0" bIns="0" rtlCol="0" anchor="ctr"/>
          <a:lstStyle/>
          <a:p>
            <a:pPr indent="0" marL="0">
              <a:buNone/>
            </a:pPr>
            <a:r>
              <a:rPr lang="en-US" sz="1250" b="1" spc="300" kern="0" dirty="0">
                <a:solidFill>
                  <a:srgbClr val="6C7CE0"/>
                </a:solidFill>
                <a:latin typeface="Calibri" pitchFamily="34" charset="0"/>
                <a:ea typeface="Calibri" pitchFamily="34" charset="-122"/>
                <a:cs typeface="Calibri" pitchFamily="34" charset="-120"/>
              </a:rPr>
              <a:t>THE RECALIBRATED SUMMIT</a:t>
            </a:r>
            <a:endParaRPr lang="en-US" sz="1250" dirty="0"/>
          </a:p>
        </p:txBody>
      </p:sp>
      <p:sp>
        <p:nvSpPr>
          <p:cNvPr id="73" name="Text 71"/>
          <p:cNvSpPr/>
          <p:nvPr/>
        </p:nvSpPr>
        <p:spPr>
          <a:xfrm>
            <a:off x="640080" y="777240"/>
            <a:ext cx="10972800" cy="822960"/>
          </a:xfrm>
          <a:prstGeom prst="rect">
            <a:avLst/>
          </a:prstGeom>
          <a:noFill/>
          <a:ln/>
        </p:spPr>
        <p:txBody>
          <a:bodyPr wrap="square" lIns="0" tIns="0" rIns="0" bIns="0" rtlCol="0" anchor="ctr"/>
          <a:lstStyle/>
          <a:p>
            <a:pPr indent="0" marL="0">
              <a:buNone/>
            </a:pPr>
            <a:r>
              <a:rPr lang="en-US" sz="3400" b="1" dirty="0">
                <a:solidFill>
                  <a:srgbClr val="F5F7FF"/>
                </a:solidFill>
                <a:latin typeface="Cambria" pitchFamily="34" charset="0"/>
                <a:ea typeface="Cambria" pitchFamily="34" charset="-122"/>
                <a:cs typeface="Cambria" pitchFamily="34" charset="-120"/>
              </a:rPr>
              <a:t>One formula now covers every gap</a:t>
            </a:r>
            <a:endParaRPr lang="en-US" sz="3400" dirty="0"/>
          </a:p>
        </p:txBody>
      </p:sp>
      <p:sp>
        <p:nvSpPr>
          <p:cNvPr id="74" name="Shape 72"/>
          <p:cNvSpPr/>
          <p:nvPr/>
        </p:nvSpPr>
        <p:spPr>
          <a:xfrm>
            <a:off x="640080" y="1783080"/>
            <a:ext cx="10881360" cy="1463040"/>
          </a:xfrm>
          <a:prstGeom prst="roundRect">
            <a:avLst>
              <a:gd name="adj" fmla="val 5625"/>
            </a:avLst>
          </a:prstGeom>
          <a:solidFill>
            <a:srgbClr val="141A33"/>
          </a:solidFill>
          <a:ln w="12700">
            <a:solidFill>
              <a:srgbClr val="2A3358"/>
            </a:solidFill>
            <a:prstDash val="solid"/>
          </a:ln>
          <a:effectLst>
            <a:outerShdw sx="100000" sy="100000" kx="0" ky="0" algn="bl" rotWithShape="0" blurRad="114300" dist="38100" dir="5400000">
              <a:srgbClr val="000000">
                <a:alpha val="35000"/>
              </a:srgbClr>
            </a:outerShdw>
          </a:effectLst>
        </p:spPr>
      </p:sp>
      <p:sp>
        <p:nvSpPr>
          <p:cNvPr id="75" name="Text 73"/>
          <p:cNvSpPr/>
          <p:nvPr/>
        </p:nvSpPr>
        <p:spPr>
          <a:xfrm>
            <a:off x="1005840" y="1965960"/>
            <a:ext cx="10149840" cy="365760"/>
          </a:xfrm>
          <a:prstGeom prst="rect">
            <a:avLst/>
          </a:prstGeom>
          <a:noFill/>
          <a:ln/>
        </p:spPr>
        <p:txBody>
          <a:bodyPr wrap="square" lIns="0" tIns="0" rIns="0" bIns="0" rtlCol="0" anchor="ctr"/>
          <a:lstStyle/>
          <a:p>
            <a:pPr indent="0" marL="0">
              <a:buNone/>
            </a:pPr>
            <a:r>
              <a:rPr lang="en-US" sz="1300" i="1" dirty="0">
                <a:solidFill>
                  <a:srgbClr val="4FD1E0"/>
                </a:solidFill>
                <a:latin typeface="Calibri" pitchFamily="34" charset="0"/>
                <a:ea typeface="Calibri" pitchFamily="34" charset="-122"/>
                <a:cs typeface="Calibri" pitchFamily="34" charset="-120"/>
              </a:rPr>
              <a:t>The general master formula — any power d, any spacing s</a:t>
            </a:r>
            <a:endParaRPr lang="en-US" sz="1300" dirty="0"/>
          </a:p>
        </p:txBody>
      </p:sp>
      <p:sp>
        <p:nvSpPr>
          <p:cNvPr id="76" name="Text 74"/>
          <p:cNvSpPr/>
          <p:nvPr/>
        </p:nvSpPr>
        <p:spPr>
          <a:xfrm>
            <a:off x="1005840" y="2377440"/>
            <a:ext cx="10149840" cy="731520"/>
          </a:xfrm>
          <a:prstGeom prst="rect">
            <a:avLst/>
          </a:prstGeom>
          <a:noFill/>
          <a:ln/>
        </p:spPr>
        <p:txBody>
          <a:bodyPr wrap="square" lIns="0" tIns="0" rIns="0" bIns="0" rtlCol="0" anchor="ctr"/>
          <a:lstStyle/>
          <a:p>
            <a:pPr algn="ctr" indent="0" marL="0">
              <a:buNone/>
            </a:pPr>
            <a:r>
              <a:rPr lang="en-US" sz="2600" b="1" dirty="0">
                <a:solidFill>
                  <a:srgbClr val="F5F7FF"/>
                </a:solidFill>
                <a:latin typeface="Cambria" pitchFamily="34" charset="0"/>
                <a:ea typeface="Cambria" pitchFamily="34" charset="-122"/>
                <a:cs typeface="Cambria" pitchFamily="34" charset="-120"/>
              </a:rPr>
              <a:t>Dᵈ(s)  =  </a:t>
            </a:r>
            <a:pPr algn="ctr" indent="0" marL="0">
              <a:buNone/>
            </a:pPr>
            <a:r>
              <a:rPr lang="en-US" sz="2600" b="1" dirty="0">
                <a:solidFill>
                  <a:srgbClr val="4FD1E0"/>
                </a:solidFill>
                <a:latin typeface="Cambria" pitchFamily="34" charset="0"/>
                <a:ea typeface="Cambria" pitchFamily="34" charset="-122"/>
                <a:cs typeface="Cambria" pitchFamily="34" charset="-120"/>
              </a:rPr>
              <a:t>sᵈ</a:t>
            </a:r>
            <a:pPr algn="ctr" indent="0" marL="0">
              <a:buNone/>
            </a:pPr>
            <a:r>
              <a:rPr lang="en-US" sz="2600" b="1" dirty="0">
                <a:solidFill>
                  <a:srgbClr val="F5F7FF"/>
                </a:solidFill>
                <a:latin typeface="Cambria" pitchFamily="34" charset="0"/>
                <a:ea typeface="Cambria" pitchFamily="34" charset="-122"/>
                <a:cs typeface="Cambria" pitchFamily="34" charset="-120"/>
              </a:rPr>
              <a:t>  ×  X  ×  Σ </a:t>
            </a:r>
            <a:pPr algn="ctr" indent="0" marL="0">
              <a:buNone/>
            </a:pPr>
            <a:r>
              <a:rPr lang="en-US" sz="2600" b="1" dirty="0">
                <a:solidFill>
                  <a:srgbClr val="E8B54D"/>
                </a:solidFill>
                <a:latin typeface="Cambria" pitchFamily="34" charset="0"/>
                <a:ea typeface="Cambria" pitchFamily="34" charset="-122"/>
                <a:cs typeface="Cambria" pitchFamily="34" charset="-120"/>
              </a:rPr>
              <a:t>C(d, 2m)</a:t>
            </a:r>
            <a:pPr algn="ctr" indent="0" marL="0">
              <a:buNone/>
            </a:pPr>
            <a:r>
              <a:rPr lang="en-US" sz="2600" b="1" dirty="0">
                <a:solidFill>
                  <a:srgbClr val="9AA4C7"/>
                </a:solidFill>
                <a:latin typeface="Cambria" pitchFamily="34" charset="0"/>
                <a:ea typeface="Cambria" pitchFamily="34" charset="-122"/>
                <a:cs typeface="Cambria" pitchFamily="34" charset="-120"/>
              </a:rPr>
              <a:t> · </a:t>
            </a:r>
            <a:pPr algn="ctr" indent="0" marL="0">
              <a:buNone/>
            </a:pPr>
            <a:r>
              <a:rPr lang="en-US" sz="2600" b="1" dirty="0">
                <a:solidFill>
                  <a:srgbClr val="6C7CE0"/>
                </a:solidFill>
                <a:latin typeface="Cambria" pitchFamily="34" charset="0"/>
                <a:ea typeface="Cambria" pitchFamily="34" charset="-122"/>
                <a:cs typeface="Cambria" pitchFamily="34" charset="-120"/>
              </a:rPr>
              <a:t>M^(d−2m)</a:t>
            </a:r>
            <a:pPr algn="ctr" indent="0" marL="0">
              <a:buNone/>
            </a:pPr>
            <a:r>
              <a:rPr lang="en-US" sz="2600" b="1" dirty="0">
                <a:solidFill>
                  <a:srgbClr val="9AA4C7"/>
                </a:solidFill>
                <a:latin typeface="Cambria" pitchFamily="34" charset="0"/>
                <a:ea typeface="Cambria" pitchFamily="34" charset="-122"/>
                <a:cs typeface="Cambria" pitchFamily="34" charset="-120"/>
              </a:rPr>
              <a:t> · </a:t>
            </a:r>
            <a:pPr algn="ctr" indent="0" marL="0">
              <a:buNone/>
            </a:pPr>
            <a:r>
              <a:rPr lang="en-US" sz="2600" b="1" dirty="0">
                <a:solidFill>
                  <a:srgbClr val="E8B54D"/>
                </a:solidFill>
                <a:latin typeface="Cambria" pitchFamily="34" charset="0"/>
                <a:ea typeface="Cambria" pitchFamily="34" charset="-122"/>
                <a:cs typeface="Cambria" pitchFamily="34" charset="-120"/>
              </a:rPr>
              <a:t>μ₂ₘ(X)</a:t>
            </a:r>
            <a:endParaRPr lang="en-US" sz="2600" dirty="0"/>
          </a:p>
        </p:txBody>
      </p:sp>
      <p:sp>
        <p:nvSpPr>
          <p:cNvPr id="77" name="Shape 75"/>
          <p:cNvSpPr/>
          <p:nvPr/>
        </p:nvSpPr>
        <p:spPr>
          <a:xfrm>
            <a:off x="640080" y="3611880"/>
            <a:ext cx="3429000" cy="2286000"/>
          </a:xfrm>
          <a:prstGeom prst="roundRect">
            <a:avLst>
              <a:gd name="adj" fmla="val 3600"/>
            </a:avLst>
          </a:prstGeom>
          <a:solidFill>
            <a:srgbClr val="141A33"/>
          </a:solidFill>
          <a:ln w="12700">
            <a:solidFill>
              <a:srgbClr val="2A3358"/>
            </a:solidFill>
            <a:prstDash val="solid"/>
          </a:ln>
          <a:effectLst>
            <a:outerShdw sx="100000" sy="100000" kx="0" ky="0" algn="bl" rotWithShape="0" blurRad="114300" dist="38100" dir="5400000">
              <a:srgbClr val="000000">
                <a:alpha val="35000"/>
              </a:srgbClr>
            </a:outerShdw>
          </a:effectLst>
        </p:spPr>
      </p:sp>
      <p:sp>
        <p:nvSpPr>
          <p:cNvPr id="78" name="Shape 76"/>
          <p:cNvSpPr/>
          <p:nvPr/>
        </p:nvSpPr>
        <p:spPr>
          <a:xfrm>
            <a:off x="914400" y="3886200"/>
            <a:ext cx="457200" cy="457200"/>
          </a:xfrm>
          <a:prstGeom prst="ellipse">
            <a:avLst/>
          </a:prstGeom>
          <a:solidFill>
            <a:srgbClr val="E8B54D"/>
          </a:solidFill>
          <a:ln/>
        </p:spPr>
      </p:sp>
      <p:sp>
        <p:nvSpPr>
          <p:cNvPr id="79" name="Text 77"/>
          <p:cNvSpPr/>
          <p:nvPr/>
        </p:nvSpPr>
        <p:spPr>
          <a:xfrm>
            <a:off x="914400" y="3886200"/>
            <a:ext cx="457200" cy="457200"/>
          </a:xfrm>
          <a:prstGeom prst="rect">
            <a:avLst/>
          </a:prstGeom>
          <a:noFill/>
          <a:ln/>
        </p:spPr>
        <p:txBody>
          <a:bodyPr wrap="square" lIns="0" tIns="0" rIns="0" bIns="0" rtlCol="0" anchor="ctr"/>
          <a:lstStyle/>
          <a:p>
            <a:pPr algn="ctr" indent="0" marL="0">
              <a:buNone/>
            </a:pPr>
            <a:r>
              <a:rPr lang="en-US" sz="1700" b="1" dirty="0">
                <a:solidFill>
                  <a:srgbClr val="080B1A"/>
                </a:solidFill>
                <a:latin typeface="Cambria" pitchFamily="34" charset="0"/>
                <a:ea typeface="Cambria" pitchFamily="34" charset="-122"/>
                <a:cs typeface="Cambria" pitchFamily="34" charset="-120"/>
              </a:rPr>
              <a:t>1</a:t>
            </a:r>
            <a:endParaRPr lang="en-US" sz="1700" dirty="0"/>
          </a:p>
        </p:txBody>
      </p:sp>
      <p:sp>
        <p:nvSpPr>
          <p:cNvPr id="80" name="Text 78"/>
          <p:cNvSpPr/>
          <p:nvPr/>
        </p:nvSpPr>
        <p:spPr>
          <a:xfrm>
            <a:off x="914400" y="4480560"/>
            <a:ext cx="2880360" cy="548640"/>
          </a:xfrm>
          <a:prstGeom prst="rect">
            <a:avLst/>
          </a:prstGeom>
          <a:noFill/>
          <a:ln/>
        </p:spPr>
        <p:txBody>
          <a:bodyPr wrap="square" lIns="0" tIns="0" rIns="0" bIns="0" rtlCol="0" anchor="ctr"/>
          <a:lstStyle/>
          <a:p>
            <a:pPr indent="0" marL="0">
              <a:buNone/>
            </a:pPr>
            <a:r>
              <a:rPr lang="en-US" sz="1600" b="1" dirty="0">
                <a:solidFill>
                  <a:srgbClr val="F5F7FF"/>
                </a:solidFill>
                <a:latin typeface="Cambria" pitchFamily="34" charset="0"/>
                <a:ea typeface="Cambria" pitchFamily="34" charset="-122"/>
                <a:cs typeface="Cambria" pitchFamily="34" charset="-120"/>
              </a:rPr>
              <a:t>Nothing was rebuilt</a:t>
            </a:r>
            <a:endParaRPr lang="en-US" sz="1600" dirty="0"/>
          </a:p>
        </p:txBody>
      </p:sp>
      <p:sp>
        <p:nvSpPr>
          <p:cNvPr id="81" name="Text 79"/>
          <p:cNvSpPr/>
          <p:nvPr/>
        </p:nvSpPr>
        <p:spPr>
          <a:xfrm>
            <a:off x="914400" y="4983480"/>
            <a:ext cx="2880360" cy="822960"/>
          </a:xfrm>
          <a:prstGeom prst="rect">
            <a:avLst/>
          </a:prstGeom>
          <a:noFill/>
          <a:ln/>
        </p:spPr>
        <p:txBody>
          <a:bodyPr wrap="square" lIns="0" tIns="0" rIns="0" bIns="0" rtlCol="0" anchor="ctr"/>
          <a:lstStyle/>
          <a:p>
            <a:pPr indent="0" marL="0">
              <a:lnSpc>
                <a:spcPts val="1600"/>
              </a:lnSpc>
              <a:buNone/>
            </a:pPr>
            <a:r>
              <a:rPr lang="en-US" sz="1200" dirty="0">
                <a:solidFill>
                  <a:srgbClr val="9AA4C7"/>
                </a:solidFill>
                <a:latin typeface="Calibri" pitchFamily="34" charset="0"/>
                <a:ea typeface="Calibri" pitchFamily="34" charset="-122"/>
                <a:cs typeface="Calibri" pitchFamily="34" charset="-120"/>
              </a:rPr>
              <a:t>Pascal’s coefficients and the moment blocks μ are untouched. Spacing lives entirely in the sᵈ multiplier out front.</a:t>
            </a:r>
            <a:endParaRPr lang="en-US" sz="1200" dirty="0"/>
          </a:p>
        </p:txBody>
      </p:sp>
      <p:sp>
        <p:nvSpPr>
          <p:cNvPr id="82" name="Shape 80"/>
          <p:cNvSpPr/>
          <p:nvPr/>
        </p:nvSpPr>
        <p:spPr>
          <a:xfrm>
            <a:off x="4343400" y="3611880"/>
            <a:ext cx="3429000" cy="2286000"/>
          </a:xfrm>
          <a:prstGeom prst="roundRect">
            <a:avLst>
              <a:gd name="adj" fmla="val 3600"/>
            </a:avLst>
          </a:prstGeom>
          <a:solidFill>
            <a:srgbClr val="141A33"/>
          </a:solidFill>
          <a:ln w="12700">
            <a:solidFill>
              <a:srgbClr val="2A3358"/>
            </a:solidFill>
            <a:prstDash val="solid"/>
          </a:ln>
          <a:effectLst>
            <a:outerShdw sx="100000" sy="100000" kx="0" ky="0" algn="bl" rotWithShape="0" blurRad="114300" dist="38100" dir="5400000">
              <a:srgbClr val="000000">
                <a:alpha val="35000"/>
              </a:srgbClr>
            </a:outerShdw>
          </a:effectLst>
        </p:spPr>
      </p:sp>
      <p:sp>
        <p:nvSpPr>
          <p:cNvPr id="83" name="Shape 81"/>
          <p:cNvSpPr/>
          <p:nvPr/>
        </p:nvSpPr>
        <p:spPr>
          <a:xfrm>
            <a:off x="4617720" y="3886200"/>
            <a:ext cx="457200" cy="457200"/>
          </a:xfrm>
          <a:prstGeom prst="ellipse">
            <a:avLst/>
          </a:prstGeom>
          <a:solidFill>
            <a:srgbClr val="4FD1E0"/>
          </a:solidFill>
          <a:ln/>
        </p:spPr>
      </p:sp>
      <p:sp>
        <p:nvSpPr>
          <p:cNvPr id="84" name="Text 82"/>
          <p:cNvSpPr/>
          <p:nvPr/>
        </p:nvSpPr>
        <p:spPr>
          <a:xfrm>
            <a:off x="4617720" y="3886200"/>
            <a:ext cx="457200" cy="457200"/>
          </a:xfrm>
          <a:prstGeom prst="rect">
            <a:avLst/>
          </a:prstGeom>
          <a:noFill/>
          <a:ln/>
        </p:spPr>
        <p:txBody>
          <a:bodyPr wrap="square" lIns="0" tIns="0" rIns="0" bIns="0" rtlCol="0" anchor="ctr"/>
          <a:lstStyle/>
          <a:p>
            <a:pPr algn="ctr" indent="0" marL="0">
              <a:buNone/>
            </a:pPr>
            <a:r>
              <a:rPr lang="en-US" sz="1700" b="1" dirty="0">
                <a:solidFill>
                  <a:srgbClr val="080B1A"/>
                </a:solidFill>
                <a:latin typeface="Cambria" pitchFamily="34" charset="0"/>
                <a:ea typeface="Cambria" pitchFamily="34" charset="-122"/>
                <a:cs typeface="Cambria" pitchFamily="34" charset="-120"/>
              </a:rPr>
              <a:t>2</a:t>
            </a:r>
            <a:endParaRPr lang="en-US" sz="1700" dirty="0"/>
          </a:p>
        </p:txBody>
      </p:sp>
      <p:sp>
        <p:nvSpPr>
          <p:cNvPr id="85" name="Text 83"/>
          <p:cNvSpPr/>
          <p:nvPr/>
        </p:nvSpPr>
        <p:spPr>
          <a:xfrm>
            <a:off x="4617720" y="4480560"/>
            <a:ext cx="2880360" cy="548640"/>
          </a:xfrm>
          <a:prstGeom prst="rect">
            <a:avLst/>
          </a:prstGeom>
          <a:noFill/>
          <a:ln/>
        </p:spPr>
        <p:txBody>
          <a:bodyPr wrap="square" lIns="0" tIns="0" rIns="0" bIns="0" rtlCol="0" anchor="ctr"/>
          <a:lstStyle/>
          <a:p>
            <a:pPr indent="0" marL="0">
              <a:buNone/>
            </a:pPr>
            <a:r>
              <a:rPr lang="en-US" sz="1600" b="1" dirty="0">
                <a:solidFill>
                  <a:srgbClr val="F5F7FF"/>
                </a:solidFill>
                <a:latin typeface="Cambria" pitchFamily="34" charset="0"/>
                <a:ea typeface="Cambria" pitchFamily="34" charset="-122"/>
                <a:cs typeface="Cambria" pitchFamily="34" charset="-120"/>
              </a:rPr>
              <a:t>Still constant time</a:t>
            </a:r>
            <a:endParaRPr lang="en-US" sz="1600" dirty="0"/>
          </a:p>
        </p:txBody>
      </p:sp>
      <p:sp>
        <p:nvSpPr>
          <p:cNvPr id="86" name="Text 84"/>
          <p:cNvSpPr/>
          <p:nvPr/>
        </p:nvSpPr>
        <p:spPr>
          <a:xfrm>
            <a:off x="4617720" y="4983480"/>
            <a:ext cx="2880360" cy="822960"/>
          </a:xfrm>
          <a:prstGeom prst="rect">
            <a:avLst/>
          </a:prstGeom>
          <a:noFill/>
          <a:ln/>
        </p:spPr>
        <p:txBody>
          <a:bodyPr wrap="square" lIns="0" tIns="0" rIns="0" bIns="0" rtlCol="0" anchor="ctr"/>
          <a:lstStyle/>
          <a:p>
            <a:pPr indent="0" marL="0">
              <a:lnSpc>
                <a:spcPts val="1600"/>
              </a:lnSpc>
              <a:buNone/>
            </a:pPr>
            <a:r>
              <a:rPr lang="en-US" sz="1200" dirty="0">
                <a:solidFill>
                  <a:srgbClr val="9AA4C7"/>
                </a:solidFill>
                <a:latin typeface="Calibri" pitchFamily="34" charset="0"/>
                <a:ea typeface="Calibri" pitchFamily="34" charset="-122"/>
                <a:cs typeface="Calibri" pitchFamily="34" charset="-120"/>
              </a:rPr>
              <a:t>One extra multiply. The O(1) cost and the exact-to-every-digit precision from the thesis both carry over unchanged.</a:t>
            </a:r>
            <a:endParaRPr lang="en-US" sz="1200" dirty="0"/>
          </a:p>
        </p:txBody>
      </p:sp>
      <p:sp>
        <p:nvSpPr>
          <p:cNvPr id="87" name="Shape 85"/>
          <p:cNvSpPr/>
          <p:nvPr/>
        </p:nvSpPr>
        <p:spPr>
          <a:xfrm>
            <a:off x="8046720" y="3611880"/>
            <a:ext cx="3429000" cy="2286000"/>
          </a:xfrm>
          <a:prstGeom prst="roundRect">
            <a:avLst>
              <a:gd name="adj" fmla="val 3600"/>
            </a:avLst>
          </a:prstGeom>
          <a:solidFill>
            <a:srgbClr val="141A33"/>
          </a:solidFill>
          <a:ln w="12700">
            <a:solidFill>
              <a:srgbClr val="2A3358"/>
            </a:solidFill>
            <a:prstDash val="solid"/>
          </a:ln>
          <a:effectLst>
            <a:outerShdw sx="100000" sy="100000" kx="0" ky="0" algn="bl" rotWithShape="0" blurRad="114300" dist="38100" dir="5400000">
              <a:srgbClr val="000000">
                <a:alpha val="35000"/>
              </a:srgbClr>
            </a:outerShdw>
          </a:effectLst>
        </p:spPr>
      </p:sp>
      <p:sp>
        <p:nvSpPr>
          <p:cNvPr id="88" name="Shape 86"/>
          <p:cNvSpPr/>
          <p:nvPr/>
        </p:nvSpPr>
        <p:spPr>
          <a:xfrm>
            <a:off x="8321040" y="3886200"/>
            <a:ext cx="457200" cy="457200"/>
          </a:xfrm>
          <a:prstGeom prst="ellipse">
            <a:avLst/>
          </a:prstGeom>
          <a:solidFill>
            <a:srgbClr val="5BD6A0"/>
          </a:solidFill>
          <a:ln/>
        </p:spPr>
      </p:sp>
      <p:sp>
        <p:nvSpPr>
          <p:cNvPr id="89" name="Text 87"/>
          <p:cNvSpPr/>
          <p:nvPr/>
        </p:nvSpPr>
        <p:spPr>
          <a:xfrm>
            <a:off x="8321040" y="3886200"/>
            <a:ext cx="457200" cy="457200"/>
          </a:xfrm>
          <a:prstGeom prst="rect">
            <a:avLst/>
          </a:prstGeom>
          <a:noFill/>
          <a:ln/>
        </p:spPr>
        <p:txBody>
          <a:bodyPr wrap="square" lIns="0" tIns="0" rIns="0" bIns="0" rtlCol="0" anchor="ctr"/>
          <a:lstStyle/>
          <a:p>
            <a:pPr algn="ctr" indent="0" marL="0">
              <a:buNone/>
            </a:pPr>
            <a:r>
              <a:rPr lang="en-US" sz="1700" b="1" dirty="0">
                <a:solidFill>
                  <a:srgbClr val="080B1A"/>
                </a:solidFill>
                <a:latin typeface="Cambria" pitchFamily="34" charset="0"/>
                <a:ea typeface="Cambria" pitchFamily="34" charset="-122"/>
                <a:cs typeface="Cambria" pitchFamily="34" charset="-120"/>
              </a:rPr>
              <a:t>3</a:t>
            </a:r>
            <a:endParaRPr lang="en-US" sz="1700" dirty="0"/>
          </a:p>
        </p:txBody>
      </p:sp>
      <p:sp>
        <p:nvSpPr>
          <p:cNvPr id="90" name="Text 88"/>
          <p:cNvSpPr/>
          <p:nvPr/>
        </p:nvSpPr>
        <p:spPr>
          <a:xfrm>
            <a:off x="8321040" y="4480560"/>
            <a:ext cx="2880360" cy="548640"/>
          </a:xfrm>
          <a:prstGeom prst="rect">
            <a:avLst/>
          </a:prstGeom>
          <a:noFill/>
          <a:ln/>
        </p:spPr>
        <p:txBody>
          <a:bodyPr wrap="square" lIns="0" tIns="0" rIns="0" bIns="0" rtlCol="0" anchor="ctr"/>
          <a:lstStyle/>
          <a:p>
            <a:pPr indent="0" marL="0">
              <a:buNone/>
            </a:pPr>
            <a:r>
              <a:rPr lang="en-US" sz="1600" b="1" dirty="0">
                <a:solidFill>
                  <a:srgbClr val="F5F7FF"/>
                </a:solidFill>
                <a:latin typeface="Cambria" pitchFamily="34" charset="0"/>
                <a:ea typeface="Cambria" pitchFamily="34" charset="-122"/>
                <a:cs typeface="Cambria" pitchFamily="34" charset="-120"/>
              </a:rPr>
              <a:t>Real sequences fit</a:t>
            </a:r>
            <a:endParaRPr lang="en-US" sz="1600" dirty="0"/>
          </a:p>
        </p:txBody>
      </p:sp>
      <p:sp>
        <p:nvSpPr>
          <p:cNvPr id="91" name="Text 89"/>
          <p:cNvSpPr/>
          <p:nvPr/>
        </p:nvSpPr>
        <p:spPr>
          <a:xfrm>
            <a:off x="8321040" y="4983480"/>
            <a:ext cx="2880360" cy="822960"/>
          </a:xfrm>
          <a:prstGeom prst="rect">
            <a:avLst/>
          </a:prstGeom>
          <a:noFill/>
          <a:ln/>
        </p:spPr>
        <p:txBody>
          <a:bodyPr wrap="square" lIns="0" tIns="0" rIns="0" bIns="0" rtlCol="0" anchor="ctr"/>
          <a:lstStyle/>
          <a:p>
            <a:pPr indent="0" marL="0">
              <a:lnSpc>
                <a:spcPts val="1600"/>
              </a:lnSpc>
              <a:buNone/>
            </a:pPr>
            <a:r>
              <a:rPr lang="en-US" sz="1200" dirty="0">
                <a:solidFill>
                  <a:srgbClr val="9AA4C7"/>
                </a:solidFill>
                <a:latin typeface="Calibri" pitchFamily="34" charset="0"/>
                <a:ea typeface="Calibri" pitchFamily="34" charset="-122"/>
                <a:cs typeface="Calibri" pitchFamily="34" charset="-120"/>
              </a:rPr>
              <a:t>Evenly-spaced grids — every 2nd cell, every 5th layer, sampled lattices — are now first-class, not a special case.</a:t>
            </a:r>
            <a:endParaRPr lang="en-US" sz="1200" dirty="0"/>
          </a:p>
        </p:txBody>
      </p:sp>
      <p:sp>
        <p:nvSpPr>
          <p:cNvPr id="92" name="Text 90"/>
          <p:cNvSpPr/>
          <p:nvPr/>
        </p:nvSpPr>
        <p:spPr>
          <a:xfrm>
            <a:off x="640080" y="6172200"/>
            <a:ext cx="10881360" cy="411480"/>
          </a:xfrm>
          <a:prstGeom prst="rect">
            <a:avLst/>
          </a:prstGeom>
          <a:noFill/>
          <a:ln/>
        </p:spPr>
        <p:txBody>
          <a:bodyPr wrap="square" lIns="0" tIns="0" rIns="0" bIns="0" rtlCol="0" anchor="ctr"/>
          <a:lstStyle/>
          <a:p>
            <a:pPr algn="ctr" indent="0" marL="0">
              <a:buNone/>
            </a:pPr>
            <a:r>
              <a:rPr lang="en-US" sz="1250" i="1" dirty="0">
                <a:solidFill>
                  <a:srgbClr val="9AA4C7"/>
                </a:solidFill>
                <a:latin typeface="Calibri" pitchFamily="34" charset="0"/>
                <a:ea typeface="Calibri" pitchFamily="34" charset="-122"/>
                <a:cs typeface="Calibri" pitchFamily="34" charset="-120"/>
              </a:rPr>
              <a:t>Spacing is factored, not baked into the moments — the one line that extends the whole thesis to unevenly-started, evenly-spaced series.</a:t>
            </a:r>
            <a:endParaRPr lang="en-US" sz="1250" dirty="0"/>
          </a:p>
        </p:txBody>
      </p:sp>
      <p:sp>
        <p:nvSpPr>
          <p:cNvPr id="93" name="Text 91"/>
          <p:cNvSpPr/>
          <p:nvPr/>
        </p:nvSpPr>
        <p:spPr>
          <a:xfrm>
            <a:off x="11475720" y="6355080"/>
            <a:ext cx="502920" cy="320040"/>
          </a:xfrm>
          <a:prstGeom prst="rect">
            <a:avLst/>
          </a:prstGeom>
          <a:noFill/>
          <a:ln/>
        </p:spPr>
        <p:txBody>
          <a:bodyPr wrap="square" lIns="0" tIns="0" rIns="0" bIns="0" rtlCol="0" anchor="ctr"/>
          <a:lstStyle/>
          <a:p>
            <a:pPr algn="r" indent="0" marL="0">
              <a:buNone/>
            </a:pPr>
            <a:r>
              <a:rPr lang="en-US" sz="1100" dirty="0">
                <a:solidFill>
                  <a:srgbClr val="9AA4C7"/>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2026-07-16T05:08:20Z</dcterms:created>
  <dcterms:modified xsi:type="dcterms:W3CDTF">2026-07-16T05:08:20Z</dcterms:modified>
</cp:coreProperties>
</file>