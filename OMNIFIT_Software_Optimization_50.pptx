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5523" y="2829993"/>
            <a:ext cx="21921" cy="21921"/>
          </a:xfrm>
          <a:prstGeom prst="ellipse">
            <a:avLst/>
          </a:prstGeom>
          <a:solidFill>
            <a:srgbClr val="FFFFFF">
              <a:alpha val="36961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26829" y="672901"/>
            <a:ext cx="15010" cy="15010"/>
          </a:xfrm>
          <a:prstGeom prst="ellipse">
            <a:avLst/>
          </a:prstGeom>
          <a:solidFill>
            <a:srgbClr val="FFFFFF">
              <a:alpha val="36718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562573" y="6552057"/>
            <a:ext cx="15023" cy="15023"/>
          </a:xfrm>
          <a:prstGeom prst="ellipse">
            <a:avLst/>
          </a:prstGeom>
          <a:solidFill>
            <a:srgbClr val="FFFFFF">
              <a:alpha val="1512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52755" y="317761"/>
            <a:ext cx="21951" cy="21951"/>
          </a:xfrm>
          <a:prstGeom prst="ellipse">
            <a:avLst/>
          </a:prstGeom>
          <a:solidFill>
            <a:srgbClr val="FFFFFF">
              <a:alpha val="11507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082275" y="989107"/>
            <a:ext cx="16166" cy="16166"/>
          </a:xfrm>
          <a:prstGeom prst="ellipse">
            <a:avLst/>
          </a:prstGeom>
          <a:solidFill>
            <a:srgbClr val="FFFFFF">
              <a:alpha val="19733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949391" y="2023036"/>
            <a:ext cx="20054" cy="20054"/>
          </a:xfrm>
          <a:prstGeom prst="ellipse">
            <a:avLst/>
          </a:prstGeom>
          <a:solidFill>
            <a:srgbClr val="FFFFFF">
              <a:alpha val="37132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25217" y="1133484"/>
            <a:ext cx="19158" cy="19158"/>
          </a:xfrm>
          <a:prstGeom prst="ellipse">
            <a:avLst/>
          </a:prstGeom>
          <a:solidFill>
            <a:srgbClr val="FFFFFF">
              <a:alpha val="38039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740348" y="4178101"/>
            <a:ext cx="14437" cy="14437"/>
          </a:xfrm>
          <a:prstGeom prst="ellipse">
            <a:avLst/>
          </a:prstGeom>
          <a:solidFill>
            <a:srgbClr val="FFFFFF">
              <a:alpha val="2530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075024" y="4579546"/>
            <a:ext cx="6604" cy="6604"/>
          </a:xfrm>
          <a:prstGeom prst="ellipse">
            <a:avLst/>
          </a:prstGeom>
          <a:solidFill>
            <a:srgbClr val="FFFFFF">
              <a:alpha val="38125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564724" y="6700654"/>
            <a:ext cx="15141" cy="15141"/>
          </a:xfrm>
          <a:prstGeom prst="ellipse">
            <a:avLst/>
          </a:prstGeom>
          <a:solidFill>
            <a:srgbClr val="FFFFFF">
              <a:alpha val="14469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863593" y="6480015"/>
            <a:ext cx="21802" cy="21802"/>
          </a:xfrm>
          <a:prstGeom prst="ellipse">
            <a:avLst/>
          </a:prstGeom>
          <a:solidFill>
            <a:srgbClr val="FFFFFF">
              <a:alpha val="30094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849684" y="4373496"/>
            <a:ext cx="13642" cy="13642"/>
          </a:xfrm>
          <a:prstGeom prst="ellipse">
            <a:avLst/>
          </a:prstGeom>
          <a:solidFill>
            <a:srgbClr val="FFFFFF">
              <a:alpha val="10658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713634" y="3409325"/>
            <a:ext cx="18469" cy="18469"/>
          </a:xfrm>
          <a:prstGeom prst="ellipse">
            <a:avLst/>
          </a:prstGeom>
          <a:solidFill>
            <a:srgbClr val="FFFFFF">
              <a:alpha val="32544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999967" y="5226254"/>
            <a:ext cx="18604" cy="18604"/>
          </a:xfrm>
          <a:prstGeom prst="ellipse">
            <a:avLst/>
          </a:prstGeom>
          <a:solidFill>
            <a:srgbClr val="FFFFFF">
              <a:alpha val="13845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799999" y="1333366"/>
            <a:ext cx="12904" cy="12904"/>
          </a:xfrm>
          <a:prstGeom prst="ellipse">
            <a:avLst/>
          </a:prstGeom>
          <a:solidFill>
            <a:srgbClr val="FFFFFF">
              <a:alpha val="12241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483848" y="5341529"/>
            <a:ext cx="8971" cy="8971"/>
          </a:xfrm>
          <a:prstGeom prst="ellipse">
            <a:avLst/>
          </a:prstGeom>
          <a:solidFill>
            <a:srgbClr val="FFFFFF">
              <a:alpha val="28237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285154" y="533303"/>
            <a:ext cx="7869" cy="7869"/>
          </a:xfrm>
          <a:prstGeom prst="ellipse">
            <a:avLst/>
          </a:prstGeom>
          <a:solidFill>
            <a:srgbClr val="FFFFFF">
              <a:alpha val="37552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961019" y="6610621"/>
            <a:ext cx="10378" cy="10378"/>
          </a:xfrm>
          <a:prstGeom prst="ellipse">
            <a:avLst/>
          </a:prstGeom>
          <a:solidFill>
            <a:srgbClr val="FFFFFF">
              <a:alpha val="31594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784857" y="1267892"/>
            <a:ext cx="17713" cy="17713"/>
          </a:xfrm>
          <a:prstGeom prst="ellipse">
            <a:avLst/>
          </a:prstGeom>
          <a:solidFill>
            <a:srgbClr val="FFFFFF">
              <a:alpha val="38922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536237" y="5899003"/>
            <a:ext cx="21194" cy="21194"/>
          </a:xfrm>
          <a:prstGeom prst="ellipse">
            <a:avLst/>
          </a:prstGeom>
          <a:solidFill>
            <a:srgbClr val="FFFFFF">
              <a:alpha val="39984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416249" y="4086131"/>
            <a:ext cx="23112" cy="23112"/>
          </a:xfrm>
          <a:prstGeom prst="ellipse">
            <a:avLst/>
          </a:prstGeom>
          <a:solidFill>
            <a:srgbClr val="FFFFFF">
              <a:alpha val="1366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968084" y="3962662"/>
            <a:ext cx="20349" cy="20349"/>
          </a:xfrm>
          <a:prstGeom prst="ellipse">
            <a:avLst/>
          </a:prstGeom>
          <a:solidFill>
            <a:srgbClr val="FFFFFF">
              <a:alpha val="9928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887745" y="42180"/>
            <a:ext cx="22870" cy="22870"/>
          </a:xfrm>
          <a:prstGeom prst="ellipse">
            <a:avLst/>
          </a:prstGeom>
          <a:solidFill>
            <a:srgbClr val="FFFFFF">
              <a:alpha val="23589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504627" y="5953266"/>
            <a:ext cx="16932" cy="16932"/>
          </a:xfrm>
          <a:prstGeom prst="ellipse">
            <a:avLst/>
          </a:prstGeom>
          <a:solidFill>
            <a:srgbClr val="FFFFFF">
              <a:alpha val="22291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287459" y="2795008"/>
            <a:ext cx="18670" cy="18670"/>
          </a:xfrm>
          <a:prstGeom prst="ellipse">
            <a:avLst/>
          </a:prstGeom>
          <a:solidFill>
            <a:srgbClr val="FFFFFF">
              <a:alpha val="34392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427005" y="249337"/>
            <a:ext cx="18174" cy="18174"/>
          </a:xfrm>
          <a:prstGeom prst="ellipse">
            <a:avLst/>
          </a:prstGeom>
          <a:solidFill>
            <a:srgbClr val="FFFFFF">
              <a:alpha val="21681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756499" y="6030382"/>
            <a:ext cx="10101" cy="10101"/>
          </a:xfrm>
          <a:prstGeom prst="ellipse">
            <a:avLst/>
          </a:prstGeom>
          <a:solidFill>
            <a:srgbClr val="FFFFFF">
              <a:alpha val="28421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326116" y="187240"/>
            <a:ext cx="20702" cy="20702"/>
          </a:xfrm>
          <a:prstGeom prst="ellipse">
            <a:avLst/>
          </a:prstGeom>
          <a:solidFill>
            <a:srgbClr val="FFFFFF">
              <a:alpha val="16805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410416" y="1303998"/>
            <a:ext cx="5643" cy="5643"/>
          </a:xfrm>
          <a:prstGeom prst="ellipse">
            <a:avLst/>
          </a:prstGeom>
          <a:solidFill>
            <a:srgbClr val="FFFFFF">
              <a:alpha val="37541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046938" y="5432331"/>
            <a:ext cx="9917" cy="9917"/>
          </a:xfrm>
          <a:prstGeom prst="ellipse">
            <a:avLst/>
          </a:prstGeom>
          <a:solidFill>
            <a:srgbClr val="FFFFFF">
              <a:alpha val="22705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315287" y="1851110"/>
            <a:ext cx="13701" cy="13701"/>
          </a:xfrm>
          <a:prstGeom prst="ellipse">
            <a:avLst/>
          </a:prstGeom>
          <a:solidFill>
            <a:srgbClr val="FFFFFF">
              <a:alpha val="28843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595717" y="1298613"/>
            <a:ext cx="19720" cy="19720"/>
          </a:xfrm>
          <a:prstGeom prst="ellipse">
            <a:avLst/>
          </a:prstGeom>
          <a:solidFill>
            <a:srgbClr val="FFFFFF">
              <a:alpha val="21398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030819" y="4148522"/>
            <a:ext cx="15426" cy="15426"/>
          </a:xfrm>
          <a:prstGeom prst="ellipse">
            <a:avLst/>
          </a:prstGeom>
          <a:solidFill>
            <a:srgbClr val="FFFFFF">
              <a:alpha val="23909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068890" y="6361069"/>
            <a:ext cx="19690" cy="19690"/>
          </a:xfrm>
          <a:prstGeom prst="ellipse">
            <a:avLst/>
          </a:prstGeom>
          <a:solidFill>
            <a:srgbClr val="FFFFFF">
              <a:alpha val="38658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520557" y="1210800"/>
            <a:ext cx="11992" cy="11992"/>
          </a:xfrm>
          <a:prstGeom prst="ellipse">
            <a:avLst/>
          </a:prstGeom>
          <a:solidFill>
            <a:srgbClr val="FFFFFF">
              <a:alpha val="9719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006782" y="4310310"/>
            <a:ext cx="15341" cy="15341"/>
          </a:xfrm>
          <a:prstGeom prst="ellipse">
            <a:avLst/>
          </a:prstGeom>
          <a:solidFill>
            <a:srgbClr val="FFFFFF">
              <a:alpha val="108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92866" y="847660"/>
            <a:ext cx="20961" cy="20961"/>
          </a:xfrm>
          <a:prstGeom prst="ellipse">
            <a:avLst/>
          </a:prstGeom>
          <a:solidFill>
            <a:srgbClr val="FFFFFF">
              <a:alpha val="22782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420398" y="337500"/>
            <a:ext cx="21777" cy="21777"/>
          </a:xfrm>
          <a:prstGeom prst="ellipse">
            <a:avLst/>
          </a:prstGeom>
          <a:solidFill>
            <a:srgbClr val="FFFFFF">
              <a:alpha val="29883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784244" y="4317413"/>
            <a:ext cx="13827" cy="13827"/>
          </a:xfrm>
          <a:prstGeom prst="ellipse">
            <a:avLst/>
          </a:prstGeom>
          <a:solidFill>
            <a:srgbClr val="FFFFFF">
              <a:alpha val="23922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629649" y="6728470"/>
            <a:ext cx="14921" cy="14921"/>
          </a:xfrm>
          <a:prstGeom prst="ellipse">
            <a:avLst/>
          </a:prstGeom>
          <a:solidFill>
            <a:srgbClr val="FFFFFF">
              <a:alpha val="32537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549529" y="4769278"/>
            <a:ext cx="12083" cy="12083"/>
          </a:xfrm>
          <a:prstGeom prst="ellipse">
            <a:avLst/>
          </a:prstGeom>
          <a:solidFill>
            <a:srgbClr val="FFFFFF">
              <a:alpha val="25572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1632463" y="5528628"/>
            <a:ext cx="16058" cy="16058"/>
          </a:xfrm>
          <a:prstGeom prst="ellipse">
            <a:avLst/>
          </a:prstGeom>
          <a:solidFill>
            <a:srgbClr val="FFFFFF">
              <a:alpha val="28564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567848" y="1709310"/>
            <a:ext cx="11806" cy="11806"/>
          </a:xfrm>
          <a:prstGeom prst="ellipse">
            <a:avLst/>
          </a:prstGeom>
          <a:solidFill>
            <a:srgbClr val="FFFFFF">
              <a:alpha val="28561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23779" y="3707280"/>
            <a:ext cx="9488" cy="9488"/>
          </a:xfrm>
          <a:prstGeom prst="ellipse">
            <a:avLst/>
          </a:prstGeom>
          <a:solidFill>
            <a:srgbClr val="FFFFFF">
              <a:alpha val="36348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092004" y="691820"/>
            <a:ext cx="9739" cy="9739"/>
          </a:xfrm>
          <a:prstGeom prst="ellipse">
            <a:avLst/>
          </a:prstGeom>
          <a:solidFill>
            <a:srgbClr val="FFFFFF">
              <a:alpha val="9801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63464" y="6173104"/>
            <a:ext cx="13450" cy="13450"/>
          </a:xfrm>
          <a:prstGeom prst="ellipse">
            <a:avLst/>
          </a:prstGeom>
          <a:solidFill>
            <a:srgbClr val="FFFFFF">
              <a:alpha val="2790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758771" y="3967877"/>
            <a:ext cx="9284" cy="9284"/>
          </a:xfrm>
          <a:prstGeom prst="ellipse">
            <a:avLst/>
          </a:prstGeom>
          <a:solidFill>
            <a:srgbClr val="FFFFFF">
              <a:alpha val="15371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662782" y="180821"/>
            <a:ext cx="22744" cy="22744"/>
          </a:xfrm>
          <a:prstGeom prst="ellipse">
            <a:avLst/>
          </a:prstGeom>
          <a:solidFill>
            <a:srgbClr val="FFFFFF">
              <a:alpha val="26142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365146" y="5991339"/>
            <a:ext cx="16728" cy="16728"/>
          </a:xfrm>
          <a:prstGeom prst="ellipse">
            <a:avLst/>
          </a:prstGeom>
          <a:solidFill>
            <a:srgbClr val="FFFFFF">
              <a:alpha val="25947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630380" y="1730651"/>
            <a:ext cx="20233" cy="20233"/>
          </a:xfrm>
          <a:prstGeom prst="ellipse">
            <a:avLst/>
          </a:prstGeom>
          <a:solidFill>
            <a:srgbClr val="FFFFFF">
              <a:alpha val="21014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611142" y="4035429"/>
            <a:ext cx="14884" cy="14884"/>
          </a:xfrm>
          <a:prstGeom prst="ellipse">
            <a:avLst/>
          </a:prstGeom>
          <a:solidFill>
            <a:srgbClr val="FFFFFF">
              <a:alpha val="1077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025938" y="1623655"/>
            <a:ext cx="11663" cy="11663"/>
          </a:xfrm>
          <a:prstGeom prst="ellipse">
            <a:avLst/>
          </a:prstGeom>
          <a:solidFill>
            <a:srgbClr val="FFFFFF">
              <a:alpha val="9567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383712" y="3487621"/>
            <a:ext cx="7908" cy="7908"/>
          </a:xfrm>
          <a:prstGeom prst="ellipse">
            <a:avLst/>
          </a:prstGeom>
          <a:solidFill>
            <a:srgbClr val="FFFFFF">
              <a:alpha val="1668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299485" y="5258248"/>
            <a:ext cx="15820" cy="15820"/>
          </a:xfrm>
          <a:prstGeom prst="ellipse">
            <a:avLst/>
          </a:prstGeom>
          <a:solidFill>
            <a:srgbClr val="FFFFFF">
              <a:alpha val="39443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326106" y="5114989"/>
            <a:ext cx="11601" cy="11601"/>
          </a:xfrm>
          <a:prstGeom prst="ellipse">
            <a:avLst/>
          </a:prstGeom>
          <a:solidFill>
            <a:srgbClr val="FFFFFF">
              <a:alpha val="30179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715148" y="1615198"/>
            <a:ext cx="22253" cy="22253"/>
          </a:xfrm>
          <a:prstGeom prst="ellipse">
            <a:avLst/>
          </a:prstGeom>
          <a:solidFill>
            <a:srgbClr val="FFFFFF">
              <a:alpha val="25108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2552888" y="555746"/>
            <a:ext cx="15456" cy="15456"/>
          </a:xfrm>
          <a:prstGeom prst="ellipse">
            <a:avLst/>
          </a:prstGeom>
          <a:solidFill>
            <a:srgbClr val="FFFFFF">
              <a:alpha val="19102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2762240" y="1745620"/>
            <a:ext cx="12133" cy="12133"/>
          </a:xfrm>
          <a:prstGeom prst="ellipse">
            <a:avLst/>
          </a:prstGeom>
          <a:solidFill>
            <a:srgbClr val="FFFFFF">
              <a:alpha val="23419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067810" y="930176"/>
            <a:ext cx="18162" cy="18162"/>
          </a:xfrm>
          <a:prstGeom prst="ellipse">
            <a:avLst/>
          </a:prstGeom>
          <a:solidFill>
            <a:srgbClr val="FFFFFF">
              <a:alpha val="17452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504768" y="6585397"/>
            <a:ext cx="16995" cy="16995"/>
          </a:xfrm>
          <a:prstGeom prst="ellipse">
            <a:avLst/>
          </a:prstGeom>
          <a:solidFill>
            <a:srgbClr val="FFFFFF">
              <a:alpha val="25101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281257" y="2166653"/>
            <a:ext cx="7283" cy="7283"/>
          </a:xfrm>
          <a:prstGeom prst="ellipse">
            <a:avLst/>
          </a:prstGeom>
          <a:solidFill>
            <a:srgbClr val="FFFFFF">
              <a:alpha val="22551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884683" y="5508161"/>
            <a:ext cx="5870" cy="5870"/>
          </a:xfrm>
          <a:prstGeom prst="ellipse">
            <a:avLst/>
          </a:prstGeom>
          <a:solidFill>
            <a:srgbClr val="FFFFFF">
              <a:alpha val="38105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0479976" y="3192722"/>
            <a:ext cx="5956" cy="5956"/>
          </a:xfrm>
          <a:prstGeom prst="ellipse">
            <a:avLst/>
          </a:prstGeom>
          <a:solidFill>
            <a:srgbClr val="FFFFFF">
              <a:alpha val="25563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4266675" y="2123908"/>
            <a:ext cx="16271" cy="16271"/>
          </a:xfrm>
          <a:prstGeom prst="ellipse">
            <a:avLst/>
          </a:prstGeom>
          <a:solidFill>
            <a:srgbClr val="FFFFFF">
              <a:alpha val="32984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1892892" y="6205839"/>
            <a:ext cx="20488" cy="20488"/>
          </a:xfrm>
          <a:prstGeom prst="ellipse">
            <a:avLst/>
          </a:prstGeom>
          <a:solidFill>
            <a:srgbClr val="FFFFFF">
              <a:alpha val="21113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3207811" y="5324682"/>
            <a:ext cx="8076" cy="8076"/>
          </a:xfrm>
          <a:prstGeom prst="ellipse">
            <a:avLst/>
          </a:prstGeom>
          <a:solidFill>
            <a:srgbClr val="FFFFFF">
              <a:alpha val="34025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2853905" y="3078572"/>
            <a:ext cx="16237" cy="16237"/>
          </a:xfrm>
          <a:prstGeom prst="ellipse">
            <a:avLst/>
          </a:prstGeom>
          <a:solidFill>
            <a:srgbClr val="FFFFFF">
              <a:alpha val="17892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854174" y="6113117"/>
            <a:ext cx="16914" cy="16914"/>
          </a:xfrm>
          <a:prstGeom prst="ellipse">
            <a:avLst/>
          </a:prstGeom>
          <a:solidFill>
            <a:srgbClr val="FFFFFF">
              <a:alpha val="36828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6085967" y="4690680"/>
            <a:ext cx="6869" cy="6869"/>
          </a:xfrm>
          <a:prstGeom prst="ellipse">
            <a:avLst/>
          </a:prstGeom>
          <a:solidFill>
            <a:srgbClr val="FFFFFF">
              <a:alpha val="32318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188387" y="5733916"/>
            <a:ext cx="15435" cy="15435"/>
          </a:xfrm>
          <a:prstGeom prst="ellipse">
            <a:avLst/>
          </a:prstGeom>
          <a:solidFill>
            <a:srgbClr val="FFFFFF">
              <a:alpha val="28972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10524127" y="6288526"/>
            <a:ext cx="7956" cy="7956"/>
          </a:xfrm>
          <a:prstGeom prst="ellipse">
            <a:avLst/>
          </a:prstGeom>
          <a:solidFill>
            <a:srgbClr val="FFFFFF">
              <a:alpha val="9656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2739415" y="2114383"/>
            <a:ext cx="14269" cy="14269"/>
          </a:xfrm>
          <a:prstGeom prst="ellipse">
            <a:avLst/>
          </a:prstGeom>
          <a:solidFill>
            <a:srgbClr val="FFFFFF">
              <a:alpha val="20739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7437947" y="6427349"/>
            <a:ext cx="19059" cy="19059"/>
          </a:xfrm>
          <a:prstGeom prst="ellipse">
            <a:avLst/>
          </a:prstGeom>
          <a:solidFill>
            <a:srgbClr val="FFFFFF">
              <a:alpha val="29281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8274055" y="254346"/>
            <a:ext cx="11329" cy="11329"/>
          </a:xfrm>
          <a:prstGeom prst="ellipse">
            <a:avLst/>
          </a:prstGeom>
          <a:solidFill>
            <a:srgbClr val="FFFFFF">
              <a:alpha val="1991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12161196" y="4668232"/>
            <a:ext cx="16849" cy="16849"/>
          </a:xfrm>
          <a:prstGeom prst="ellipse">
            <a:avLst/>
          </a:prstGeom>
          <a:solidFill>
            <a:srgbClr val="FFFFFF">
              <a:alpha val="31799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783292" y="5672997"/>
            <a:ext cx="13656" cy="13656"/>
          </a:xfrm>
          <a:prstGeom prst="ellipse">
            <a:avLst/>
          </a:prstGeom>
          <a:solidFill>
            <a:srgbClr val="FFFFFF">
              <a:alpha val="24072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10897211" y="684500"/>
            <a:ext cx="17198" cy="17198"/>
          </a:xfrm>
          <a:prstGeom prst="ellipse">
            <a:avLst/>
          </a:prstGeom>
          <a:solidFill>
            <a:srgbClr val="FFFFFF">
              <a:alpha val="16954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11413925" y="6269912"/>
            <a:ext cx="9135" cy="9135"/>
          </a:xfrm>
          <a:prstGeom prst="ellipse">
            <a:avLst/>
          </a:prstGeom>
          <a:solidFill>
            <a:srgbClr val="FFFFFF">
              <a:alpha val="2745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2526055" y="5601641"/>
            <a:ext cx="10113" cy="10113"/>
          </a:xfrm>
          <a:prstGeom prst="ellipse">
            <a:avLst/>
          </a:prstGeom>
          <a:solidFill>
            <a:srgbClr val="FFFFFF">
              <a:alpha val="9997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2144268" y="986250"/>
            <a:ext cx="14257" cy="14257"/>
          </a:xfrm>
          <a:prstGeom prst="ellipse">
            <a:avLst/>
          </a:prstGeom>
          <a:solidFill>
            <a:srgbClr val="FFFFFF">
              <a:alpha val="3777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11492158" y="2843664"/>
            <a:ext cx="15786" cy="15786"/>
          </a:xfrm>
          <a:prstGeom prst="ellipse">
            <a:avLst/>
          </a:prstGeom>
          <a:solidFill>
            <a:srgbClr val="FFFFFF">
              <a:alpha val="13637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4085583" y="352279"/>
            <a:ext cx="11874" cy="11874"/>
          </a:xfrm>
          <a:prstGeom prst="ellipse">
            <a:avLst/>
          </a:prstGeom>
          <a:solidFill>
            <a:srgbClr val="FFFFFF">
              <a:alpha val="16452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9307208" y="4363234"/>
            <a:ext cx="12255" cy="12255"/>
          </a:xfrm>
          <a:prstGeom prst="ellipse">
            <a:avLst/>
          </a:prstGeom>
          <a:solidFill>
            <a:srgbClr val="FFFFFF">
              <a:alpha val="39615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4939216" y="5593807"/>
            <a:ext cx="11056" cy="11056"/>
          </a:xfrm>
          <a:prstGeom prst="ellipse">
            <a:avLst/>
          </a:prstGeom>
          <a:solidFill>
            <a:srgbClr val="FFFFFF">
              <a:alpha val="11325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8346872" y="4062108"/>
            <a:ext cx="7206" cy="7206"/>
          </a:xfrm>
          <a:prstGeom prst="ellipse">
            <a:avLst/>
          </a:prstGeom>
          <a:solidFill>
            <a:srgbClr val="FFFFFF">
              <a:alpha val="1177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5378899" y="5393410"/>
            <a:ext cx="6059" cy="6059"/>
          </a:xfrm>
          <a:prstGeom prst="ellipse">
            <a:avLst/>
          </a:prstGeom>
          <a:solidFill>
            <a:srgbClr val="FFFFFF">
              <a:alpha val="37369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6740428" y="130725"/>
            <a:ext cx="17348" cy="17348"/>
          </a:xfrm>
          <a:prstGeom prst="ellipse">
            <a:avLst/>
          </a:prstGeom>
          <a:solidFill>
            <a:srgbClr val="FFFFFF">
              <a:alpha val="39361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3417241" y="783763"/>
            <a:ext cx="10377" cy="10377"/>
          </a:xfrm>
          <a:prstGeom prst="ellipse">
            <a:avLst/>
          </a:prstGeom>
          <a:solidFill>
            <a:srgbClr val="FFFFFF">
              <a:alpha val="3393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3115746" y="2337586"/>
            <a:ext cx="13973" cy="13973"/>
          </a:xfrm>
          <a:prstGeom prst="ellipse">
            <a:avLst/>
          </a:prstGeom>
          <a:solidFill>
            <a:srgbClr val="FFFFFF">
              <a:alpha val="22466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8688941" y="1978570"/>
            <a:ext cx="10924" cy="10924"/>
          </a:xfrm>
          <a:prstGeom prst="ellipse">
            <a:avLst/>
          </a:prstGeom>
          <a:solidFill>
            <a:srgbClr val="FFFFFF">
              <a:alpha val="36479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9006840" y="777240"/>
            <a:ext cx="2103120" cy="914"/>
          </a:xfrm>
          <a:prstGeom prst="line">
            <a:avLst/>
          </a:prstGeom>
          <a:noFill/>
          <a:ln w="17780">
            <a:solidFill>
              <a:srgbClr val="22D3EE">
                <a:alpha val="72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109960" y="777240"/>
            <a:ext cx="914" cy="2103120"/>
          </a:xfrm>
          <a:prstGeom prst="line">
            <a:avLst/>
          </a:prstGeom>
          <a:noFill/>
          <a:ln w="17780">
            <a:solidFill>
              <a:srgbClr val="22D3EE">
                <a:alpha val="72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9006840" y="2880360"/>
            <a:ext cx="2103120" cy="914"/>
          </a:xfrm>
          <a:prstGeom prst="line">
            <a:avLst/>
          </a:prstGeom>
          <a:noFill/>
          <a:ln w="17780">
            <a:solidFill>
              <a:srgbClr val="22D3EE">
                <a:alpha val="72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9006840" y="777240"/>
            <a:ext cx="914" cy="2103120"/>
          </a:xfrm>
          <a:prstGeom prst="line">
            <a:avLst/>
          </a:prstGeom>
          <a:noFill/>
          <a:ln w="17780">
            <a:solidFill>
              <a:srgbClr val="22D3EE">
                <a:alpha val="72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800768" y="992810"/>
            <a:ext cx="1093622" cy="914"/>
          </a:xfrm>
          <a:prstGeom prst="line">
            <a:avLst/>
          </a:prstGeom>
          <a:noFill/>
          <a:ln w="17780">
            <a:solidFill>
              <a:srgbClr val="22D3EE">
                <a:alpha val="72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894390" y="992810"/>
            <a:ext cx="914" cy="1093622"/>
          </a:xfrm>
          <a:prstGeom prst="line">
            <a:avLst/>
          </a:prstGeom>
          <a:noFill/>
          <a:ln w="17780">
            <a:solidFill>
              <a:srgbClr val="22D3EE">
                <a:alpha val="72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V="1">
            <a:off x="9800768" y="2086432"/>
            <a:ext cx="1093622" cy="914"/>
          </a:xfrm>
          <a:prstGeom prst="line">
            <a:avLst/>
          </a:prstGeom>
          <a:noFill/>
          <a:ln w="17780">
            <a:solidFill>
              <a:srgbClr val="22D3EE">
                <a:alpha val="72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9800768" y="992810"/>
            <a:ext cx="914" cy="1093622"/>
          </a:xfrm>
          <a:prstGeom prst="line">
            <a:avLst/>
          </a:prstGeom>
          <a:noFill/>
          <a:ln w="17780">
            <a:solidFill>
              <a:srgbClr val="22D3EE">
                <a:alpha val="72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006840" y="777240"/>
            <a:ext cx="793928" cy="215570"/>
          </a:xfrm>
          <a:prstGeom prst="line">
            <a:avLst/>
          </a:prstGeom>
          <a:noFill/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V="1">
            <a:off x="10894390" y="777240"/>
            <a:ext cx="215570" cy="215570"/>
          </a:xfrm>
          <a:prstGeom prst="line">
            <a:avLst/>
          </a:prstGeom>
          <a:noFill/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894390" y="2086432"/>
            <a:ext cx="215570" cy="793928"/>
          </a:xfrm>
          <a:prstGeom prst="line">
            <a:avLst/>
          </a:prstGeom>
          <a:noFill/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V="1">
            <a:off x="9006840" y="2086432"/>
            <a:ext cx="793928" cy="793928"/>
          </a:xfrm>
          <a:prstGeom prst="line">
            <a:avLst/>
          </a:prstGeom>
          <a:noFill/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974836" y="745236"/>
            <a:ext cx="64008" cy="64008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11077956" y="745236"/>
            <a:ext cx="64008" cy="64008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11077956" y="2848356"/>
            <a:ext cx="64008" cy="64008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8974836" y="2848356"/>
            <a:ext cx="64008" cy="64008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9768764" y="960806"/>
            <a:ext cx="64008" cy="64008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10862386" y="960806"/>
            <a:ext cx="64008" cy="64008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10862386" y="2054428"/>
            <a:ext cx="64008" cy="64008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9768764" y="2054428"/>
            <a:ext cx="64008" cy="64008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1188720" y="4480560"/>
            <a:ext cx="1280160" cy="914"/>
          </a:xfrm>
          <a:prstGeom prst="line">
            <a:avLst/>
          </a:prstGeom>
          <a:noFill/>
          <a:ln w="1778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468880" y="4480560"/>
            <a:ext cx="914" cy="1280160"/>
          </a:xfrm>
          <a:prstGeom prst="line">
            <a:avLst/>
          </a:prstGeom>
          <a:noFill/>
          <a:ln w="1778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flipV="1">
            <a:off x="1188720" y="5760720"/>
            <a:ext cx="1280160" cy="914"/>
          </a:xfrm>
          <a:prstGeom prst="line">
            <a:avLst/>
          </a:prstGeom>
          <a:noFill/>
          <a:ln w="1778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V="1">
            <a:off x="1188720" y="4480560"/>
            <a:ext cx="914" cy="1280160"/>
          </a:xfrm>
          <a:prstGeom prst="line">
            <a:avLst/>
          </a:prstGeom>
          <a:noFill/>
          <a:ln w="1778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671980" y="4611776"/>
            <a:ext cx="665683" cy="914"/>
          </a:xfrm>
          <a:prstGeom prst="line">
            <a:avLst/>
          </a:prstGeom>
          <a:noFill/>
          <a:ln w="1778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337664" y="4611776"/>
            <a:ext cx="914" cy="665683"/>
          </a:xfrm>
          <a:prstGeom prst="line">
            <a:avLst/>
          </a:prstGeom>
          <a:noFill/>
          <a:ln w="1778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1671980" y="5277460"/>
            <a:ext cx="665683" cy="914"/>
          </a:xfrm>
          <a:prstGeom prst="line">
            <a:avLst/>
          </a:prstGeom>
          <a:noFill/>
          <a:ln w="1778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V="1">
            <a:off x="1671980" y="4611776"/>
            <a:ext cx="914" cy="665683"/>
          </a:xfrm>
          <a:prstGeom prst="line">
            <a:avLst/>
          </a:prstGeom>
          <a:noFill/>
          <a:ln w="1778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188720" y="4480560"/>
            <a:ext cx="483260" cy="131216"/>
          </a:xfrm>
          <a:prstGeom prst="line">
            <a:avLst/>
          </a:prstGeom>
          <a:noFill/>
          <a:ln w="12700">
            <a:solidFill>
              <a:srgbClr val="A78BFA">
                <a:alpha val="2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V="1">
            <a:off x="2337664" y="4480560"/>
            <a:ext cx="131216" cy="131216"/>
          </a:xfrm>
          <a:prstGeom prst="line">
            <a:avLst/>
          </a:prstGeom>
          <a:noFill/>
          <a:ln w="12700">
            <a:solidFill>
              <a:srgbClr val="A78BFA">
                <a:alpha val="2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337664" y="5277460"/>
            <a:ext cx="131216" cy="483260"/>
          </a:xfrm>
          <a:prstGeom prst="line">
            <a:avLst/>
          </a:prstGeom>
          <a:noFill/>
          <a:ln w="12700">
            <a:solidFill>
              <a:srgbClr val="A78BFA">
                <a:alpha val="2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V="1">
            <a:off x="1188720" y="5277460"/>
            <a:ext cx="483260" cy="483260"/>
          </a:xfrm>
          <a:prstGeom prst="line">
            <a:avLst/>
          </a:prstGeom>
          <a:noFill/>
          <a:ln w="12700">
            <a:solidFill>
              <a:srgbClr val="A78BFA">
                <a:alpha val="2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156716" y="4448556"/>
            <a:ext cx="64008" cy="64008"/>
          </a:xfrm>
          <a:prstGeom prst="ellipse">
            <a:avLst/>
          </a:prstGeom>
          <a:solidFill>
            <a:srgbClr val="A78BFA">
              <a:alpha val="58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2436876" y="4448556"/>
            <a:ext cx="64008" cy="64008"/>
          </a:xfrm>
          <a:prstGeom prst="ellipse">
            <a:avLst/>
          </a:prstGeom>
          <a:solidFill>
            <a:srgbClr val="A78BFA">
              <a:alpha val="58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2436876" y="5728716"/>
            <a:ext cx="64008" cy="64008"/>
          </a:xfrm>
          <a:prstGeom prst="ellipse">
            <a:avLst/>
          </a:prstGeom>
          <a:solidFill>
            <a:srgbClr val="A78BFA">
              <a:alpha val="58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>
            <a:off x="1156716" y="5728716"/>
            <a:ext cx="64008" cy="64008"/>
          </a:xfrm>
          <a:prstGeom prst="ellipse">
            <a:avLst/>
          </a:prstGeom>
          <a:solidFill>
            <a:srgbClr val="A78BFA">
              <a:alpha val="58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1639976" y="4579772"/>
            <a:ext cx="64008" cy="64008"/>
          </a:xfrm>
          <a:prstGeom prst="ellipse">
            <a:avLst/>
          </a:prstGeom>
          <a:solidFill>
            <a:srgbClr val="A78BFA">
              <a:alpha val="58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>
            <a:off x="2305660" y="4579772"/>
            <a:ext cx="64008" cy="64008"/>
          </a:xfrm>
          <a:prstGeom prst="ellipse">
            <a:avLst/>
          </a:prstGeom>
          <a:solidFill>
            <a:srgbClr val="A78BFA">
              <a:alpha val="58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>
            <a:off x="2305660" y="5245456"/>
            <a:ext cx="64008" cy="64008"/>
          </a:xfrm>
          <a:prstGeom prst="ellipse">
            <a:avLst/>
          </a:prstGeom>
          <a:solidFill>
            <a:srgbClr val="A78BFA">
              <a:alpha val="58000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>
            <a:off x="1639976" y="5245456"/>
            <a:ext cx="64008" cy="64008"/>
          </a:xfrm>
          <a:prstGeom prst="ellipse">
            <a:avLst/>
          </a:prstGeom>
          <a:solidFill>
            <a:srgbClr val="A78BFA">
              <a:alpha val="58000"/>
            </a:srgbClr>
          </a:solidFill>
          <a:ln/>
        </p:spPr>
      </p:sp>
      <p:sp>
        <p:nvSpPr>
          <p:cNvPr id="132" name="Text 130"/>
          <p:cNvSpPr/>
          <p:nvPr/>
        </p:nvSpPr>
        <p:spPr>
          <a:xfrm>
            <a:off x="82296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</a:t>
            </a:r>
            <a:endParaRPr lang="en-US" sz="1600" dirty="0"/>
          </a:p>
        </p:txBody>
      </p:sp>
      <p:sp>
        <p:nvSpPr>
          <p:cNvPr id="133" name="Text 131"/>
          <p:cNvSpPr/>
          <p:nvPr/>
        </p:nvSpPr>
        <p:spPr>
          <a:xfrm>
            <a:off x="777240" y="169164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Constant-time math as a</a:t>
            </a:r>
            <a:endParaRPr lang="en-US" sz="38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&amp; systems optimizer</a:t>
            </a:r>
            <a:endParaRPr lang="en-US" sz="3800" dirty="0"/>
          </a:p>
        </p:txBody>
      </p:sp>
      <p:sp>
        <p:nvSpPr>
          <p:cNvPr id="134" name="Text 132"/>
          <p:cNvSpPr/>
          <p:nvPr/>
        </p:nvSpPr>
        <p:spPr>
          <a:xfrm>
            <a:off x="822960" y="34290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omnidimensional O(1) aggregation formula optimizes web pages, mobile apps, network packets &amp; embedded software — with a clear model and honest numbers.</a:t>
            </a:r>
            <a:endParaRPr lang="en-US" sz="1700" dirty="0"/>
          </a:p>
        </p:txBody>
      </p:sp>
      <p:sp>
        <p:nvSpPr>
          <p:cNvPr id="135" name="Shape 133"/>
          <p:cNvSpPr/>
          <p:nvPr/>
        </p:nvSpPr>
        <p:spPr>
          <a:xfrm>
            <a:off x="822960" y="4297680"/>
            <a:ext cx="613745" cy="384048"/>
          </a:xfrm>
          <a:prstGeom prst="roundRect">
            <a:avLst>
              <a:gd name="adj" fmla="val 40476"/>
            </a:avLst>
          </a:prstGeom>
          <a:solidFill>
            <a:srgbClr val="22D3EE"/>
          </a:solidFill>
          <a:ln/>
        </p:spPr>
      </p:sp>
      <p:sp>
        <p:nvSpPr>
          <p:cNvPr id="136" name="Text 134"/>
          <p:cNvSpPr/>
          <p:nvPr/>
        </p:nvSpPr>
        <p:spPr>
          <a:xfrm>
            <a:off x="822960" y="4297680"/>
            <a:ext cx="6137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060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00" dirty="0"/>
          </a:p>
        </p:txBody>
      </p:sp>
      <p:sp>
        <p:nvSpPr>
          <p:cNvPr id="137" name="Text 135"/>
          <p:cNvSpPr/>
          <p:nvPr/>
        </p:nvSpPr>
        <p:spPr>
          <a:xfrm>
            <a:off x="1564721" y="4297680"/>
            <a:ext cx="283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38" name="Shape 136"/>
          <p:cNvSpPr/>
          <p:nvPr/>
        </p:nvSpPr>
        <p:spPr>
          <a:xfrm>
            <a:off x="1848185" y="4297680"/>
            <a:ext cx="916595" cy="384048"/>
          </a:xfrm>
          <a:prstGeom prst="roundRect">
            <a:avLst>
              <a:gd name="adj" fmla="val 40476"/>
            </a:avLst>
          </a:prstGeom>
          <a:solidFill>
            <a:srgbClr val="A3E635"/>
          </a:solidFill>
          <a:ln/>
        </p:spPr>
      </p:sp>
      <p:sp>
        <p:nvSpPr>
          <p:cNvPr id="139" name="Text 137"/>
          <p:cNvSpPr/>
          <p:nvPr/>
        </p:nvSpPr>
        <p:spPr>
          <a:xfrm>
            <a:off x="1848185" y="4297680"/>
            <a:ext cx="9165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060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200" dirty="0"/>
          </a:p>
        </p:txBody>
      </p:sp>
      <p:sp>
        <p:nvSpPr>
          <p:cNvPr id="140" name="Text 138"/>
          <p:cNvSpPr/>
          <p:nvPr/>
        </p:nvSpPr>
        <p:spPr>
          <a:xfrm>
            <a:off x="2892796" y="4297680"/>
            <a:ext cx="283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41" name="Shape 139"/>
          <p:cNvSpPr/>
          <p:nvPr/>
        </p:nvSpPr>
        <p:spPr>
          <a:xfrm>
            <a:off x="3176260" y="4297680"/>
            <a:ext cx="1017544" cy="384048"/>
          </a:xfrm>
          <a:prstGeom prst="roundRect">
            <a:avLst>
              <a:gd name="adj" fmla="val 40476"/>
            </a:avLst>
          </a:prstGeom>
          <a:solidFill>
            <a:srgbClr val="A78BFA"/>
          </a:solidFill>
          <a:ln/>
        </p:spPr>
      </p:sp>
      <p:sp>
        <p:nvSpPr>
          <p:cNvPr id="142" name="Text 140"/>
          <p:cNvSpPr/>
          <p:nvPr/>
        </p:nvSpPr>
        <p:spPr>
          <a:xfrm>
            <a:off x="3176260" y="4297680"/>
            <a:ext cx="101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060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00" dirty="0"/>
          </a:p>
        </p:txBody>
      </p:sp>
      <p:sp>
        <p:nvSpPr>
          <p:cNvPr id="143" name="Text 141"/>
          <p:cNvSpPr/>
          <p:nvPr/>
        </p:nvSpPr>
        <p:spPr>
          <a:xfrm>
            <a:off x="4321820" y="4297680"/>
            <a:ext cx="283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44" name="Shape 142"/>
          <p:cNvSpPr/>
          <p:nvPr/>
        </p:nvSpPr>
        <p:spPr>
          <a:xfrm>
            <a:off x="4605284" y="4297680"/>
            <a:ext cx="1118494" cy="384048"/>
          </a:xfrm>
          <a:prstGeom prst="roundRect">
            <a:avLst>
              <a:gd name="adj" fmla="val 40476"/>
            </a:avLst>
          </a:prstGeom>
          <a:solidFill>
            <a:srgbClr val="F5B942"/>
          </a:solidFill>
          <a:ln/>
        </p:spPr>
      </p:sp>
      <p:sp>
        <p:nvSpPr>
          <p:cNvPr id="145" name="Text 143"/>
          <p:cNvSpPr/>
          <p:nvPr/>
        </p:nvSpPr>
        <p:spPr>
          <a:xfrm>
            <a:off x="4605284" y="4297680"/>
            <a:ext cx="11184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060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1200" dirty="0"/>
          </a:p>
        </p:txBody>
      </p:sp>
      <p:sp>
        <p:nvSpPr>
          <p:cNvPr id="146" name="Text 144"/>
          <p:cNvSpPr/>
          <p:nvPr/>
        </p:nvSpPr>
        <p:spPr>
          <a:xfrm>
            <a:off x="5851794" y="4297680"/>
            <a:ext cx="283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47" name="Shape 145"/>
          <p:cNvSpPr/>
          <p:nvPr/>
        </p:nvSpPr>
        <p:spPr>
          <a:xfrm>
            <a:off x="6135258" y="4297680"/>
            <a:ext cx="1623243" cy="384048"/>
          </a:xfrm>
          <a:prstGeom prst="roundRect">
            <a:avLst>
              <a:gd name="adj" fmla="val 40476"/>
            </a:avLst>
          </a:prstGeom>
          <a:solidFill>
            <a:srgbClr val="FB7185"/>
          </a:solidFill>
          <a:ln/>
        </p:spPr>
      </p:sp>
      <p:sp>
        <p:nvSpPr>
          <p:cNvPr id="148" name="Text 146"/>
          <p:cNvSpPr/>
          <p:nvPr/>
        </p:nvSpPr>
        <p:spPr>
          <a:xfrm>
            <a:off x="6135258" y="4297680"/>
            <a:ext cx="16232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060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+ Auto</a:t>
            </a:r>
            <a:endParaRPr lang="en-US" sz="1200" dirty="0"/>
          </a:p>
        </p:txBody>
      </p:sp>
      <p:sp>
        <p:nvSpPr>
          <p:cNvPr id="149" name="Text 147"/>
          <p:cNvSpPr/>
          <p:nvPr/>
        </p:nvSpPr>
        <p:spPr>
          <a:xfrm>
            <a:off x="822960" y="4983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illustrative order-of-magnitude estimates with stated assumptions — not measured benchmarks.</a:t>
            </a:r>
            <a:endParaRPr lang="en-US" sz="1250" dirty="0"/>
          </a:p>
        </p:txBody>
      </p:sp>
      <p:sp>
        <p:nvSpPr>
          <p:cNvPr id="150" name="Text 148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958657" cy="310896"/>
          </a:xfrm>
          <a:prstGeom prst="roundRect">
            <a:avLst>
              <a:gd name="adj" fmla="val 50000"/>
            </a:avLst>
          </a:prstGeom>
          <a:solidFill>
            <a:srgbClr val="67E8F9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9586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67E8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94560"/>
            <a:ext cx="2594610" cy="3200400"/>
          </a:xfrm>
          <a:prstGeom prst="roundRect">
            <a:avLst>
              <a:gd name="adj" fmla="val 3172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35049" y="2468880"/>
            <a:ext cx="621792" cy="621792"/>
          </a:xfrm>
          <a:prstGeom prst="ellipse">
            <a:avLst/>
          </a:prstGeom>
          <a:solidFill>
            <a:srgbClr val="67E8F9">
              <a:alpha val="18000"/>
            </a:srgbClr>
          </a:solidFill>
          <a:ln w="16510">
            <a:solidFill>
              <a:srgbClr val="67E8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35049" y="24688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E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" y="3218688"/>
            <a:ext cx="23751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931920"/>
            <a:ext cx="232029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O(1) aggregation idea and the cost model behind every number.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24962" y="3566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380994" y="2194560"/>
            <a:ext cx="2594610" cy="3200400"/>
          </a:xfrm>
          <a:prstGeom prst="roundRect">
            <a:avLst>
              <a:gd name="adj" fmla="val 3172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67403" y="2468880"/>
            <a:ext cx="621792" cy="621792"/>
          </a:xfrm>
          <a:prstGeom prst="ellipse">
            <a:avLst/>
          </a:prstGeom>
          <a:solidFill>
            <a:srgbClr val="22D3EE">
              <a:alpha val="18000"/>
            </a:srgbClr>
          </a:solidFill>
          <a:ln w="1651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67403" y="24688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90722" y="3218688"/>
            <a:ext cx="23751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domains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18154" y="3931920"/>
            <a:ext cx="232029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mobile · network · embedded — where it helps, with numbers.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57316" y="3566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13348" y="2194560"/>
            <a:ext cx="2594610" cy="3200400"/>
          </a:xfrm>
          <a:prstGeom prst="roundRect">
            <a:avLst>
              <a:gd name="adj" fmla="val 3172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99757" y="2468880"/>
            <a:ext cx="621792" cy="621792"/>
          </a:xfrm>
          <a:prstGeom prst="ellipse">
            <a:avLst/>
          </a:prstGeom>
          <a:solidFill>
            <a:srgbClr val="FB7185">
              <a:alpha val="18000"/>
            </a:srgbClr>
          </a:solidFill>
          <a:ln w="16510">
            <a:solidFill>
              <a:srgbClr val="FB71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99757" y="24688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23076" y="3218688"/>
            <a:ext cx="23751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50508" y="3931920"/>
            <a:ext cx="232029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Brand-new · existing-improvement · auto (both), with estimates.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89670" y="3566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045702" y="2194560"/>
            <a:ext cx="2594610" cy="3200400"/>
          </a:xfrm>
          <a:prstGeom prst="roundRect">
            <a:avLst>
              <a:gd name="adj" fmla="val 3172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32111" y="2468880"/>
            <a:ext cx="621792" cy="621792"/>
          </a:xfrm>
          <a:prstGeom prst="ellipse">
            <a:avLst/>
          </a:prstGeom>
          <a:solidFill>
            <a:srgbClr val="F5B942">
              <a:alpha val="18000"/>
            </a:srgbClr>
          </a:solidFill>
          <a:ln w="16510">
            <a:solidFill>
              <a:srgbClr val="F5B9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32111" y="24688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55430" y="3218688"/>
            <a:ext cx="23751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ceiling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82862" y="3931920"/>
            <a:ext cx="232029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Amdahl’s law: how local wins become end-to-end wins.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thread throughout: this accelerates the structured-aggregation fraction of software; it never claims to speed up everything.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43732" cy="310896"/>
          </a:xfrm>
          <a:prstGeom prst="roundRect">
            <a:avLst>
              <a:gd name="adj" fmla="val 50000"/>
            </a:avLst>
          </a:prstGeom>
          <a:solidFill>
            <a:srgbClr val="67E8F9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143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idea, in plain words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67E8F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constantly adds things up — totals, offsets, averages, cumulative sizes, moving windows. When the data has structure (fixed steps, regular grids, cumulative counters), those sums have closed forms, so an O(N) loop becomes an O(1) formula that touches a few numbers instead of all of them.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5806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/ average / moment over N items → O(1) closed form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sub-range = prefix(b) − prefix(a)  (one subtraction)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the structure; falls back to a normal loop if none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operations → less CPU, less memory traffic, less energy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720840" y="1874520"/>
            <a:ext cx="4983480" cy="4023360"/>
          </a:xfrm>
          <a:prstGeom prst="roundRect">
            <a:avLst>
              <a:gd name="adj" fmla="val 1364"/>
            </a:avLst>
          </a:prstGeom>
          <a:solidFill>
            <a:srgbClr val="060612"/>
          </a:solidFill>
          <a:ln w="12700">
            <a:solidFill>
              <a:srgbClr val="67E8F9">
                <a:alpha val="38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22008" y="2020824"/>
            <a:ext cx="4581144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67E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 over N items</a:t>
            </a:r>
            <a:endParaRPr lang="en-US" sz="1800" dirty="0"/>
          </a:p>
          <a:p>
            <a:pPr algn="ctr"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67E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⇓  if structured</a:t>
            </a:r>
            <a:endParaRPr lang="en-US" sz="1800" dirty="0"/>
          </a:p>
          <a:p>
            <a:pPr algn="ctr"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67E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closed-form value</a:t>
            </a:r>
            <a:endParaRPr lang="en-US" sz="1800" dirty="0"/>
          </a:p>
          <a:p>
            <a:pPr algn="ctr"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67E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⇓</a:t>
            </a:r>
            <a:endParaRPr lang="en-US" sz="1800" dirty="0"/>
          </a:p>
          <a:p>
            <a:pPr algn="ctr"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67E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 · fixed time · less energy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43732" cy="310896"/>
          </a:xfrm>
          <a:prstGeom prst="roundRect">
            <a:avLst>
              <a:gd name="adj" fmla="val 50000"/>
            </a:avLst>
          </a:prstGeom>
          <a:solidFill>
            <a:srgbClr val="67E8F9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143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model behind every number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67E8F9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965960"/>
            <a:ext cx="10149840" cy="2560320"/>
          </a:xfrm>
          <a:prstGeom prst="roundRect">
            <a:avLst>
              <a:gd name="adj" fmla="val 2143"/>
            </a:avLst>
          </a:prstGeom>
          <a:solidFill>
            <a:srgbClr val="060612"/>
          </a:solidFill>
          <a:ln w="12700">
            <a:solidFill>
              <a:srgbClr val="67E8F9">
                <a:alpha val="38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07008" y="2112264"/>
            <a:ext cx="974750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2200" dirty="0">
                <a:solidFill>
                  <a:srgbClr val="67E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Speed-up  S  =  N / k</a:t>
            </a:r>
            <a:endParaRPr lang="en-US" sz="2200" dirty="0"/>
          </a:p>
          <a:p>
            <a:pPr algn="ctr"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700" i="1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items a naïve pass touches · k = a few ops for the closed form (k ≈ 2–8)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47548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in this deck uses this simple model: a naïve aggregation touches N items; the closed form touches k operations (≈2 for a range query, ≈8 for a moment). So the per-operation speed-up is about N/k. Building a prefix table, when needed, is a one-time O(N); each later query is O(1). Assumptions are stated on every table.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97280" y="5943600"/>
            <a:ext cx="1522293" cy="365760"/>
          </a:xfrm>
          <a:prstGeom prst="roundRect">
            <a:avLst>
              <a:gd name="adj" fmla="val 42500"/>
            </a:avLst>
          </a:prstGeom>
          <a:solidFill>
            <a:srgbClr val="67E8F9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943600"/>
            <a:ext cx="15222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060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84165" y="5943600"/>
            <a:ext cx="2127992" cy="365760"/>
          </a:xfrm>
          <a:prstGeom prst="roundRect">
            <a:avLst>
              <a:gd name="adj" fmla="val 42500"/>
            </a:avLst>
          </a:prstGeom>
          <a:solidFill>
            <a:srgbClr val="67E8F9"/>
          </a:solidFill>
          <a:ln/>
        </p:spPr>
      </p:sp>
      <p:sp>
        <p:nvSpPr>
          <p:cNvPr id="12" name="Text 10"/>
          <p:cNvSpPr/>
          <p:nvPr/>
        </p:nvSpPr>
        <p:spPr>
          <a:xfrm>
            <a:off x="2784165" y="5943600"/>
            <a:ext cx="212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060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stated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76749" y="5943600"/>
            <a:ext cx="1825142" cy="365760"/>
          </a:xfrm>
          <a:prstGeom prst="roundRect">
            <a:avLst>
              <a:gd name="adj" fmla="val 42500"/>
            </a:avLst>
          </a:prstGeom>
          <a:solidFill>
            <a:srgbClr val="67E8F9"/>
          </a:solidFill>
          <a:ln/>
        </p:spPr>
      </p:sp>
      <p:sp>
        <p:nvSpPr>
          <p:cNvPr id="14" name="Text 12"/>
          <p:cNvSpPr/>
          <p:nvPr/>
        </p:nvSpPr>
        <p:spPr>
          <a:xfrm>
            <a:off x="5076749" y="5943600"/>
            <a:ext cx="18251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060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benchmark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3582" cy="310896"/>
          </a:xfrm>
          <a:prstGeom prst="roundRect">
            <a:avLst>
              <a:gd name="adj" fmla="val 50000"/>
            </a:avLst>
          </a:prstGeom>
          <a:solidFill>
            <a:srgbClr val="67E8F9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735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applies — and where it does not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67E8F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signature to look for is “an aggregate over structured or streamed data.” That pattern is common, but far from everything a program does.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5806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Applies: totals, offsets, cumulative sizes, moving windows, roll-ups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Applies: uniform/regular layouts, quantized or gridded data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apply: cryptographic hashing, arbitrary branching logic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apply: truly unstructured, data-dependent work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720840" y="1874520"/>
            <a:ext cx="4983480" cy="4023360"/>
          </a:xfrm>
          <a:prstGeom prst="roundRect">
            <a:avLst>
              <a:gd name="adj" fmla="val 2045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95160" y="21031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7E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tell-tale pattern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13448" y="2743200"/>
            <a:ext cx="4434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reduction (sum, mean, variance, min-prefix)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data with a rule (step, grid, counter)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Queried or updated repeatedly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replace the loop with a formula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28258" y="6083097"/>
            <a:ext cx="22706" cy="22706"/>
          </a:xfrm>
          <a:prstGeom prst="ellipse">
            <a:avLst/>
          </a:prstGeom>
          <a:solidFill>
            <a:srgbClr val="FFFFFF">
              <a:alpha val="802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68729" y="4681080"/>
            <a:ext cx="12189" cy="12189"/>
          </a:xfrm>
          <a:prstGeom prst="ellipse">
            <a:avLst/>
          </a:prstGeom>
          <a:solidFill>
            <a:srgbClr val="FFFFFF">
              <a:alpha val="1396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344211" y="1784497"/>
            <a:ext cx="17528" cy="17528"/>
          </a:xfrm>
          <a:prstGeom prst="ellipse">
            <a:avLst/>
          </a:prstGeom>
          <a:solidFill>
            <a:srgbClr val="FFFFFF">
              <a:alpha val="21283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81797" y="638378"/>
            <a:ext cx="7596" cy="7596"/>
          </a:xfrm>
          <a:prstGeom prst="ellipse">
            <a:avLst/>
          </a:prstGeom>
          <a:solidFill>
            <a:srgbClr val="FFFFFF">
              <a:alpha val="1568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561007" y="2447198"/>
            <a:ext cx="19652" cy="19652"/>
          </a:xfrm>
          <a:prstGeom prst="ellipse">
            <a:avLst/>
          </a:prstGeom>
          <a:solidFill>
            <a:srgbClr val="FFFFFF">
              <a:alpha val="2666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430907" y="6360952"/>
            <a:ext cx="14411" cy="14411"/>
          </a:xfrm>
          <a:prstGeom prst="ellipse">
            <a:avLst/>
          </a:prstGeom>
          <a:solidFill>
            <a:srgbClr val="FFFFFF">
              <a:alpha val="19713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31929" y="5579180"/>
            <a:ext cx="23470" cy="23470"/>
          </a:xfrm>
          <a:prstGeom prst="ellipse">
            <a:avLst/>
          </a:prstGeom>
          <a:solidFill>
            <a:srgbClr val="FFFFFF">
              <a:alpha val="36417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481702" y="1223880"/>
            <a:ext cx="15043" cy="15043"/>
          </a:xfrm>
          <a:prstGeom prst="ellipse">
            <a:avLst/>
          </a:prstGeom>
          <a:solidFill>
            <a:srgbClr val="FFFFFF">
              <a:alpha val="14031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155847" y="6388166"/>
            <a:ext cx="16108" cy="16108"/>
          </a:xfrm>
          <a:prstGeom prst="ellipse">
            <a:avLst/>
          </a:prstGeom>
          <a:solidFill>
            <a:srgbClr val="FFFFFF">
              <a:alpha val="18059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957708" y="5903400"/>
            <a:ext cx="8038" cy="8038"/>
          </a:xfrm>
          <a:prstGeom prst="ellipse">
            <a:avLst/>
          </a:prstGeom>
          <a:solidFill>
            <a:srgbClr val="FFFFFF">
              <a:alpha val="2295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957813" y="2705502"/>
            <a:ext cx="19167" cy="19167"/>
          </a:xfrm>
          <a:prstGeom prst="ellipse">
            <a:avLst/>
          </a:prstGeom>
          <a:solidFill>
            <a:srgbClr val="FFFFFF">
              <a:alpha val="1893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794749" y="5260684"/>
            <a:ext cx="20168" cy="20168"/>
          </a:xfrm>
          <a:prstGeom prst="ellipse">
            <a:avLst/>
          </a:prstGeom>
          <a:solidFill>
            <a:srgbClr val="FFFFFF">
              <a:alpha val="12351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67597" y="2659072"/>
            <a:ext cx="11031" cy="11031"/>
          </a:xfrm>
          <a:prstGeom prst="ellipse">
            <a:avLst/>
          </a:prstGeom>
          <a:solidFill>
            <a:srgbClr val="FFFFFF">
              <a:alpha val="37827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490247" y="2938649"/>
            <a:ext cx="14940" cy="14940"/>
          </a:xfrm>
          <a:prstGeom prst="ellipse">
            <a:avLst/>
          </a:prstGeom>
          <a:solidFill>
            <a:srgbClr val="FFFFFF">
              <a:alpha val="27395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658163" y="1611003"/>
            <a:ext cx="12699" cy="12699"/>
          </a:xfrm>
          <a:prstGeom prst="ellipse">
            <a:avLst/>
          </a:prstGeom>
          <a:solidFill>
            <a:srgbClr val="FFFFFF">
              <a:alpha val="36165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194348" y="6681477"/>
            <a:ext cx="8491" cy="8491"/>
          </a:xfrm>
          <a:prstGeom prst="ellipse">
            <a:avLst/>
          </a:prstGeom>
          <a:solidFill>
            <a:srgbClr val="FFFFFF">
              <a:alpha val="27249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791270" y="1313910"/>
            <a:ext cx="20215" cy="20215"/>
          </a:xfrm>
          <a:prstGeom prst="ellipse">
            <a:avLst/>
          </a:prstGeom>
          <a:solidFill>
            <a:srgbClr val="FFFFFF">
              <a:alpha val="17653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736732" y="3770033"/>
            <a:ext cx="13908" cy="13908"/>
          </a:xfrm>
          <a:prstGeom prst="ellipse">
            <a:avLst/>
          </a:prstGeom>
          <a:solidFill>
            <a:srgbClr val="FFFFFF">
              <a:alpha val="33191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901945" y="1311671"/>
            <a:ext cx="8079" cy="8079"/>
          </a:xfrm>
          <a:prstGeom prst="ellipse">
            <a:avLst/>
          </a:prstGeom>
          <a:solidFill>
            <a:srgbClr val="FFFFFF">
              <a:alpha val="29018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018572" y="6747725"/>
            <a:ext cx="16156" cy="16156"/>
          </a:xfrm>
          <a:prstGeom prst="ellipse">
            <a:avLst/>
          </a:prstGeom>
          <a:solidFill>
            <a:srgbClr val="FFFFFF">
              <a:alpha val="9718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57637" y="5122500"/>
            <a:ext cx="19620" cy="19620"/>
          </a:xfrm>
          <a:prstGeom prst="ellipse">
            <a:avLst/>
          </a:prstGeom>
          <a:solidFill>
            <a:srgbClr val="FFFFFF">
              <a:alpha val="2591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22566" y="5510975"/>
            <a:ext cx="6896" cy="6896"/>
          </a:xfrm>
          <a:prstGeom prst="ellipse">
            <a:avLst/>
          </a:prstGeom>
          <a:solidFill>
            <a:srgbClr val="FFFFFF">
              <a:alpha val="14707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194277" y="5687820"/>
            <a:ext cx="23204" cy="23204"/>
          </a:xfrm>
          <a:prstGeom prst="ellipse">
            <a:avLst/>
          </a:prstGeom>
          <a:solidFill>
            <a:srgbClr val="FFFFFF">
              <a:alpha val="9357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59012" y="2567875"/>
            <a:ext cx="16623" cy="16623"/>
          </a:xfrm>
          <a:prstGeom prst="ellipse">
            <a:avLst/>
          </a:prstGeom>
          <a:solidFill>
            <a:srgbClr val="FFFFFF">
              <a:alpha val="33584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400432" y="2846775"/>
            <a:ext cx="15937" cy="15937"/>
          </a:xfrm>
          <a:prstGeom prst="ellipse">
            <a:avLst/>
          </a:prstGeom>
          <a:solidFill>
            <a:srgbClr val="FFFFFF">
              <a:alpha val="37422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267058" y="1943805"/>
            <a:ext cx="15497" cy="15497"/>
          </a:xfrm>
          <a:prstGeom prst="ellipse">
            <a:avLst/>
          </a:prstGeom>
          <a:solidFill>
            <a:srgbClr val="FFFFFF">
              <a:alpha val="21411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848260" y="2416979"/>
            <a:ext cx="17408" cy="17408"/>
          </a:xfrm>
          <a:prstGeom prst="ellipse">
            <a:avLst/>
          </a:prstGeom>
          <a:solidFill>
            <a:srgbClr val="FFFFFF">
              <a:alpha val="15615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454951" y="4634108"/>
            <a:ext cx="17973" cy="17973"/>
          </a:xfrm>
          <a:prstGeom prst="ellipse">
            <a:avLst/>
          </a:prstGeom>
          <a:solidFill>
            <a:srgbClr val="FFFFFF">
              <a:alpha val="37969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297628" y="5034227"/>
            <a:ext cx="16355" cy="16355"/>
          </a:xfrm>
          <a:prstGeom prst="ellipse">
            <a:avLst/>
          </a:prstGeom>
          <a:solidFill>
            <a:srgbClr val="FFFFFF">
              <a:alpha val="14977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2088789" y="1762879"/>
            <a:ext cx="10149" cy="10149"/>
          </a:xfrm>
          <a:prstGeom prst="ellipse">
            <a:avLst/>
          </a:prstGeom>
          <a:solidFill>
            <a:srgbClr val="FFFFFF">
              <a:alpha val="29058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553979" y="1975223"/>
            <a:ext cx="20748" cy="20748"/>
          </a:xfrm>
          <a:prstGeom prst="ellipse">
            <a:avLst/>
          </a:prstGeom>
          <a:solidFill>
            <a:srgbClr val="FFFFFF">
              <a:alpha val="34165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624371" y="5488599"/>
            <a:ext cx="13787" cy="13787"/>
          </a:xfrm>
          <a:prstGeom prst="ellipse">
            <a:avLst/>
          </a:prstGeom>
          <a:solidFill>
            <a:srgbClr val="FFFFFF">
              <a:alpha val="22805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224859" y="1244713"/>
            <a:ext cx="9373" cy="9373"/>
          </a:xfrm>
          <a:prstGeom prst="ellipse">
            <a:avLst/>
          </a:prstGeom>
          <a:solidFill>
            <a:srgbClr val="FFFFFF">
              <a:alpha val="9327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43341" y="5162187"/>
            <a:ext cx="16057" cy="16057"/>
          </a:xfrm>
          <a:prstGeom prst="ellipse">
            <a:avLst/>
          </a:prstGeom>
          <a:solidFill>
            <a:srgbClr val="FFFFFF">
              <a:alpha val="38839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864259" y="2056581"/>
            <a:ext cx="12666" cy="12666"/>
          </a:xfrm>
          <a:prstGeom prst="ellipse">
            <a:avLst/>
          </a:prstGeom>
          <a:solidFill>
            <a:srgbClr val="FFFFFF">
              <a:alpha val="3343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420232" y="4933868"/>
            <a:ext cx="6240" cy="6240"/>
          </a:xfrm>
          <a:prstGeom prst="ellipse">
            <a:avLst/>
          </a:prstGeom>
          <a:solidFill>
            <a:srgbClr val="FFFFFF">
              <a:alpha val="38382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1514830" y="2457891"/>
            <a:ext cx="9130" cy="9130"/>
          </a:xfrm>
          <a:prstGeom prst="ellipse">
            <a:avLst/>
          </a:prstGeom>
          <a:solidFill>
            <a:srgbClr val="FFFFFF">
              <a:alpha val="22539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60284" y="1374510"/>
            <a:ext cx="18009" cy="18009"/>
          </a:xfrm>
          <a:prstGeom prst="ellipse">
            <a:avLst/>
          </a:prstGeom>
          <a:solidFill>
            <a:srgbClr val="FFFFFF">
              <a:alpha val="3133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44183" y="5980031"/>
            <a:ext cx="10031" cy="10031"/>
          </a:xfrm>
          <a:prstGeom prst="ellipse">
            <a:avLst/>
          </a:prstGeom>
          <a:solidFill>
            <a:srgbClr val="FFFFFF">
              <a:alpha val="14009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513560" y="1791529"/>
            <a:ext cx="14767" cy="14767"/>
          </a:xfrm>
          <a:prstGeom prst="ellipse">
            <a:avLst/>
          </a:prstGeom>
          <a:solidFill>
            <a:srgbClr val="FFFFFF">
              <a:alpha val="17204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898710" y="4466669"/>
            <a:ext cx="12523" cy="12523"/>
          </a:xfrm>
          <a:prstGeom prst="ellipse">
            <a:avLst/>
          </a:prstGeom>
          <a:solidFill>
            <a:srgbClr val="FFFFFF">
              <a:alpha val="29779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2270767" y="6465640"/>
            <a:ext cx="11532" cy="11532"/>
          </a:xfrm>
          <a:prstGeom prst="ellipse">
            <a:avLst/>
          </a:prstGeom>
          <a:solidFill>
            <a:srgbClr val="FFFFFF">
              <a:alpha val="16537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933278" y="3406278"/>
            <a:ext cx="17059" cy="17059"/>
          </a:xfrm>
          <a:prstGeom prst="ellipse">
            <a:avLst/>
          </a:prstGeom>
          <a:solidFill>
            <a:srgbClr val="FFFFFF">
              <a:alpha val="322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99901" y="1902083"/>
            <a:ext cx="15819" cy="15819"/>
          </a:xfrm>
          <a:prstGeom prst="ellipse">
            <a:avLst/>
          </a:prstGeom>
          <a:solidFill>
            <a:srgbClr val="FFFFFF">
              <a:alpha val="12878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457577" y="4648478"/>
            <a:ext cx="6691" cy="6691"/>
          </a:xfrm>
          <a:prstGeom prst="ellipse">
            <a:avLst/>
          </a:prstGeom>
          <a:solidFill>
            <a:srgbClr val="FFFFFF">
              <a:alpha val="31128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1351363" y="3281"/>
            <a:ext cx="17995" cy="17995"/>
          </a:xfrm>
          <a:prstGeom prst="ellipse">
            <a:avLst/>
          </a:prstGeom>
          <a:solidFill>
            <a:srgbClr val="FFFFFF">
              <a:alpha val="247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222712" y="6169828"/>
            <a:ext cx="13233" cy="13233"/>
          </a:xfrm>
          <a:prstGeom prst="ellipse">
            <a:avLst/>
          </a:prstGeom>
          <a:solidFill>
            <a:srgbClr val="FFFFFF">
              <a:alpha val="10803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3464353" y="5361713"/>
            <a:ext cx="15932" cy="15932"/>
          </a:xfrm>
          <a:prstGeom prst="ellipse">
            <a:avLst/>
          </a:prstGeom>
          <a:solidFill>
            <a:srgbClr val="FFFFFF">
              <a:alpha val="11415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58132" y="5533118"/>
            <a:ext cx="8883" cy="8883"/>
          </a:xfrm>
          <a:prstGeom prst="ellipse">
            <a:avLst/>
          </a:prstGeom>
          <a:solidFill>
            <a:srgbClr val="FFFFFF">
              <a:alpha val="13382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2839175" y="3699304"/>
            <a:ext cx="11752" cy="11752"/>
          </a:xfrm>
          <a:prstGeom prst="ellipse">
            <a:avLst/>
          </a:prstGeom>
          <a:solidFill>
            <a:srgbClr val="FFFFFF">
              <a:alpha val="39121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1748648" y="1398843"/>
            <a:ext cx="19281" cy="19281"/>
          </a:xfrm>
          <a:prstGeom prst="ellipse">
            <a:avLst/>
          </a:prstGeom>
          <a:solidFill>
            <a:srgbClr val="FFFFFF">
              <a:alpha val="3636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2893897" y="4586007"/>
            <a:ext cx="13807" cy="13807"/>
          </a:xfrm>
          <a:prstGeom prst="ellipse">
            <a:avLst/>
          </a:prstGeom>
          <a:solidFill>
            <a:srgbClr val="FFFFFF">
              <a:alpha val="3097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361707" y="6670602"/>
            <a:ext cx="13379" cy="13379"/>
          </a:xfrm>
          <a:prstGeom prst="ellipse">
            <a:avLst/>
          </a:prstGeom>
          <a:solidFill>
            <a:srgbClr val="FFFFFF">
              <a:alpha val="2476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513867" y="4376001"/>
            <a:ext cx="22616" cy="22616"/>
          </a:xfrm>
          <a:prstGeom prst="ellipse">
            <a:avLst/>
          </a:prstGeom>
          <a:solidFill>
            <a:srgbClr val="FFFFFF">
              <a:alpha val="255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88931" y="4183164"/>
            <a:ext cx="9392" cy="9392"/>
          </a:xfrm>
          <a:prstGeom prst="ellipse">
            <a:avLst/>
          </a:prstGeom>
          <a:solidFill>
            <a:srgbClr val="FFFFFF">
              <a:alpha val="20553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595360" y="2057400"/>
            <a:ext cx="2743200" cy="914"/>
          </a:xfrm>
          <a:prstGeom prst="line">
            <a:avLst/>
          </a:prstGeom>
          <a:noFill/>
          <a:ln w="17780">
            <a:solidFill>
              <a:srgbClr val="22D3EE">
                <a:alpha val="66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338560" y="2057400"/>
            <a:ext cx="914" cy="2743200"/>
          </a:xfrm>
          <a:prstGeom prst="line">
            <a:avLst/>
          </a:prstGeom>
          <a:noFill/>
          <a:ln w="17780">
            <a:solidFill>
              <a:srgbClr val="22D3EE">
                <a:alpha val="66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8595360" y="4800600"/>
            <a:ext cx="2743200" cy="914"/>
          </a:xfrm>
          <a:prstGeom prst="line">
            <a:avLst/>
          </a:prstGeom>
          <a:noFill/>
          <a:ln w="17780">
            <a:solidFill>
              <a:srgbClr val="22D3EE">
                <a:alpha val="66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8595360" y="2057400"/>
            <a:ext cx="914" cy="2743200"/>
          </a:xfrm>
          <a:prstGeom prst="line">
            <a:avLst/>
          </a:prstGeom>
          <a:noFill/>
          <a:ln w="17780">
            <a:solidFill>
              <a:srgbClr val="22D3EE">
                <a:alpha val="66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630918" y="2338578"/>
            <a:ext cx="1426464" cy="914"/>
          </a:xfrm>
          <a:prstGeom prst="line">
            <a:avLst/>
          </a:prstGeom>
          <a:noFill/>
          <a:ln w="17780">
            <a:solidFill>
              <a:srgbClr val="22D3EE">
                <a:alpha val="66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057382" y="2338578"/>
            <a:ext cx="914" cy="1426464"/>
          </a:xfrm>
          <a:prstGeom prst="line">
            <a:avLst/>
          </a:prstGeom>
          <a:noFill/>
          <a:ln w="17780">
            <a:solidFill>
              <a:srgbClr val="22D3EE">
                <a:alpha val="66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9630918" y="3765042"/>
            <a:ext cx="1426464" cy="914"/>
          </a:xfrm>
          <a:prstGeom prst="line">
            <a:avLst/>
          </a:prstGeom>
          <a:noFill/>
          <a:ln w="17780">
            <a:solidFill>
              <a:srgbClr val="22D3EE">
                <a:alpha val="66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9630918" y="2338578"/>
            <a:ext cx="914" cy="1426464"/>
          </a:xfrm>
          <a:prstGeom prst="line">
            <a:avLst/>
          </a:prstGeom>
          <a:noFill/>
          <a:ln w="17780">
            <a:solidFill>
              <a:srgbClr val="22D3EE">
                <a:alpha val="66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595360" y="2057400"/>
            <a:ext cx="1035558" cy="281178"/>
          </a:xfrm>
          <a:prstGeom prst="line">
            <a:avLst/>
          </a:prstGeom>
          <a:noFill/>
          <a:ln w="12700">
            <a:solidFill>
              <a:srgbClr val="22D3EE">
                <a:alpha val="44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11057382" y="2057400"/>
            <a:ext cx="281178" cy="281178"/>
          </a:xfrm>
          <a:prstGeom prst="line">
            <a:avLst/>
          </a:prstGeom>
          <a:noFill/>
          <a:ln w="12700">
            <a:solidFill>
              <a:srgbClr val="22D3EE">
                <a:alpha val="44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057382" y="3765042"/>
            <a:ext cx="281178" cy="1035558"/>
          </a:xfrm>
          <a:prstGeom prst="line">
            <a:avLst/>
          </a:prstGeom>
          <a:noFill/>
          <a:ln w="12700">
            <a:solidFill>
              <a:srgbClr val="22D3EE">
                <a:alpha val="44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8595360" y="3765042"/>
            <a:ext cx="1035558" cy="1035558"/>
          </a:xfrm>
          <a:prstGeom prst="line">
            <a:avLst/>
          </a:prstGeom>
          <a:noFill/>
          <a:ln w="12700">
            <a:solidFill>
              <a:srgbClr val="22D3EE">
                <a:alpha val="44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563356" y="2025396"/>
            <a:ext cx="64008" cy="64008"/>
          </a:xfrm>
          <a:prstGeom prst="ellipse">
            <a:avLst/>
          </a:prstGeom>
          <a:solidFill>
            <a:srgbClr val="22D3EE">
              <a:alpha val="74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1306556" y="2025396"/>
            <a:ext cx="64008" cy="64008"/>
          </a:xfrm>
          <a:prstGeom prst="ellipse">
            <a:avLst/>
          </a:prstGeom>
          <a:solidFill>
            <a:srgbClr val="22D3EE">
              <a:alpha val="74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1306556" y="4768596"/>
            <a:ext cx="64008" cy="64008"/>
          </a:xfrm>
          <a:prstGeom prst="ellipse">
            <a:avLst/>
          </a:prstGeom>
          <a:solidFill>
            <a:srgbClr val="22D3EE">
              <a:alpha val="74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563356" y="4768596"/>
            <a:ext cx="64008" cy="64008"/>
          </a:xfrm>
          <a:prstGeom prst="ellipse">
            <a:avLst/>
          </a:prstGeom>
          <a:solidFill>
            <a:srgbClr val="22D3EE">
              <a:alpha val="74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598914" y="2306574"/>
            <a:ext cx="64008" cy="64008"/>
          </a:xfrm>
          <a:prstGeom prst="ellipse">
            <a:avLst/>
          </a:prstGeom>
          <a:solidFill>
            <a:srgbClr val="22D3EE">
              <a:alpha val="74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11025378" y="2306574"/>
            <a:ext cx="64008" cy="64008"/>
          </a:xfrm>
          <a:prstGeom prst="ellipse">
            <a:avLst/>
          </a:prstGeom>
          <a:solidFill>
            <a:srgbClr val="22D3EE">
              <a:alpha val="74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11025378" y="3733038"/>
            <a:ext cx="64008" cy="64008"/>
          </a:xfrm>
          <a:prstGeom prst="ellipse">
            <a:avLst/>
          </a:prstGeom>
          <a:solidFill>
            <a:srgbClr val="22D3EE">
              <a:alpha val="74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598914" y="3733038"/>
            <a:ext cx="64008" cy="64008"/>
          </a:xfrm>
          <a:prstGeom prst="ellipse">
            <a:avLst/>
          </a:prstGeom>
          <a:solidFill>
            <a:srgbClr val="22D3EE">
              <a:alpha val="74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822960" y="1965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777240" y="2377440"/>
            <a:ext cx="8869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pages &amp; web apps</a:t>
            </a:r>
            <a:endParaRPr lang="en-US" sz="4000" dirty="0"/>
          </a:p>
        </p:txBody>
      </p:sp>
      <p:sp>
        <p:nvSpPr>
          <p:cNvPr id="79" name="Text 77"/>
          <p:cNvSpPr/>
          <p:nvPr/>
        </p:nvSpPr>
        <p:spPr>
          <a:xfrm>
            <a:off x="822960" y="3611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aggregation hides in the browser — layout heights, scroll offsets, track sizing, big tables and charts — and how closed forms cut the per-frame work.</a:t>
            </a:r>
            <a:endParaRPr lang="en-US" sz="1700" dirty="0"/>
          </a:p>
        </p:txBody>
      </p:sp>
      <p:sp>
        <p:nvSpPr>
          <p:cNvPr id="80" name="Text 78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88508" cy="310896"/>
          </a:xfrm>
          <a:prstGeom prst="roundRect">
            <a:avLst>
              <a:gd name="adj" fmla="val 50000"/>
            </a:avLst>
          </a:prstGeom>
          <a:solidFill>
            <a:srgbClr val="22D3EE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8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aggregation hides in the browser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is not only paint and GPU work. Between frames the engine and your app repeatedly add things up: total content height, the offset of row i, flex/grid track sizes, cumulative positions, and data roll-ups in tables and charts.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5806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Virtualized lists: the pixel offset of row i is a prefix sum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Layout: total height = sum of block heights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Flex/Grid: track sizes are cumulative sums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tables &amp; charts: sums/averages over many cells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720840" y="1874520"/>
            <a:ext cx="4983480" cy="4023360"/>
          </a:xfrm>
          <a:prstGeom prst="roundRect">
            <a:avLst>
              <a:gd name="adj" fmla="val 2045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95160" y="21031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Per-frame budget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13448" y="2743200"/>
            <a:ext cx="4434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fps = 16.7 ms per frame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O(N) sum can blow the budget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offset keeps scrolling smooth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main-thread time = less jank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88508" cy="310896"/>
          </a:xfrm>
          <a:prstGeom prst="roundRect">
            <a:avLst>
              <a:gd name="adj" fmla="val 50000"/>
            </a:avLst>
          </a:prstGeom>
          <a:solidFill>
            <a:srgbClr val="22D3EE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8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Virtualized lists &amp; infinite scroll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hot path: to render a virtualized list you must know the pixel offset of the first visible row. With variable row heights that is a prefix sum; naïvely it is recomputed by scanning rows. A prefix/closed form makes each offset query O(1).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5806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Offset(i) = prefix sum of heights up to i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rows → offset = i × height (pure O(1), no table)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rows → one-time prefix table, then O(1) queries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scrolling even at 100k+ rows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720840" y="1874520"/>
            <a:ext cx="4983480" cy="4023360"/>
          </a:xfrm>
          <a:prstGeom prst="roundRect">
            <a:avLst>
              <a:gd name="adj" fmla="val 2045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03720" y="265176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~50,000×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086600" y="4114800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ops per offset query at 100k rows (N/k with k≈2) — illustrative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88508" cy="310896"/>
          </a:xfrm>
          <a:prstGeom prst="roundRect">
            <a:avLst>
              <a:gd name="adj" fmla="val 50000"/>
            </a:avLst>
          </a:prstGeom>
          <a:solidFill>
            <a:srgbClr val="22D3EE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8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Layout, flex &amp; grid sizing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total content height, or resolving flexible track sizes, are sums over many boxes — recomputed on every resize or content change. Where box sizes follow a regular pattern, the cumulative size is a closed form rather than a loop.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5806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height = Σ block heights → O(1) for regular content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track offsets = cumulative sums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Re-layout on resize reuses prefix subtraction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repeated full passes over the box tree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720840" y="1874520"/>
            <a:ext cx="4983480" cy="4023360"/>
          </a:xfrm>
          <a:prstGeom prst="roundRect">
            <a:avLst>
              <a:gd name="adj" fmla="val 1364"/>
            </a:avLst>
          </a:prstGeom>
          <a:solidFill>
            <a:srgbClr val="060612"/>
          </a:solidFill>
          <a:ln w="12700">
            <a:solidFill>
              <a:srgbClr val="22D3EE">
                <a:alpha val="38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22008" y="2020824"/>
            <a:ext cx="4581144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resize event</a:t>
            </a:r>
            <a:endParaRPr lang="en-US" sz="1800" dirty="0"/>
          </a:p>
          <a:p>
            <a:pPr algn="ctr"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naïve: re-sum all N boxes</a:t>
            </a:r>
            <a:endParaRPr lang="en-US" sz="1800" dirty="0"/>
          </a:p>
          <a:p>
            <a:pPr algn="ctr"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form: prefix(b) − prefix(a)</a:t>
            </a:r>
            <a:endParaRPr lang="en-US" sz="1800" dirty="0"/>
          </a:p>
          <a:p>
            <a:pPr algn="ctr"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⇒ O(1) re-layout math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88508" cy="310896"/>
          </a:xfrm>
          <a:prstGeom prst="roundRect">
            <a:avLst>
              <a:gd name="adj" fmla="val 50000"/>
            </a:avLst>
          </a:prstGeom>
          <a:solidFill>
            <a:srgbClr val="22D3EE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8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tables, charts &amp; app state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sum and average over thousands to millions of cells; state libraries recompute derived totals (selectors/memoized reductions) on every change. Structured columns and cumulative counters make these roll-ups O(1) range queries.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5806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sum/avg over a structured range → O(1)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aggregates over a window → prefix subtraction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Memoized selectors recompute less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zoom/pan reuses the same prefix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720840" y="1874520"/>
            <a:ext cx="4983480" cy="4023360"/>
          </a:xfrm>
          <a:prstGeom prst="roundRect">
            <a:avLst>
              <a:gd name="adj" fmla="val 2045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03720" y="265176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~125,000×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086600" y="4114800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ops for a 1M-cell column aggregate (k≈8) — illustrative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513881" cy="310896"/>
          </a:xfrm>
          <a:prstGeom prst="roundRect">
            <a:avLst>
              <a:gd name="adj" fmla="val 50000"/>
            </a:avLst>
          </a:prstGeom>
          <a:solidFill>
            <a:srgbClr val="22D3EE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5138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NUMBERS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scenarios — illustrative speed-ups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3566160" cy="512064"/>
          </a:xfrm>
          <a:prstGeom prst="roundRect">
            <a:avLst>
              <a:gd name="adj" fmla="val 16071"/>
            </a:avLst>
          </a:prstGeom>
          <a:solidFill>
            <a:srgbClr val="060612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7452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B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scenario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0" y="1874520"/>
            <a:ext cx="1828800" cy="512064"/>
          </a:xfrm>
          <a:prstGeom prst="roundRect">
            <a:avLst>
              <a:gd name="adj" fmla="val 16071"/>
            </a:avLst>
          </a:prstGeom>
          <a:solidFill>
            <a:srgbClr val="1D1F3D"/>
          </a:solidFill>
          <a:ln/>
        </p:spPr>
      </p:sp>
      <p:sp>
        <p:nvSpPr>
          <p:cNvPr id="9" name="Text 7"/>
          <p:cNvSpPr/>
          <p:nvPr/>
        </p:nvSpPr>
        <p:spPr>
          <a:xfrm>
            <a:off x="4224528" y="187452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1874520"/>
            <a:ext cx="2011680" cy="512064"/>
          </a:xfrm>
          <a:prstGeom prst="roundRect">
            <a:avLst>
              <a:gd name="adj" fmla="val 16071"/>
            </a:avLst>
          </a:prstGeom>
          <a:solidFill>
            <a:srgbClr val="1D1F3D"/>
          </a:solidFill>
          <a:ln/>
        </p:spPr>
      </p:sp>
      <p:sp>
        <p:nvSpPr>
          <p:cNvPr id="11" name="Text 9"/>
          <p:cNvSpPr/>
          <p:nvPr/>
        </p:nvSpPr>
        <p:spPr>
          <a:xfrm>
            <a:off x="6053328" y="187452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Naïve O(N)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1874520"/>
            <a:ext cx="2011680" cy="512064"/>
          </a:xfrm>
          <a:prstGeom prst="roundRect">
            <a:avLst>
              <a:gd name="adj" fmla="val 16071"/>
            </a:avLst>
          </a:prstGeom>
          <a:solidFill>
            <a:srgbClr val="1D1F3D"/>
          </a:solidFill>
          <a:ln/>
        </p:spPr>
      </p:sp>
      <p:sp>
        <p:nvSpPr>
          <p:cNvPr id="13" name="Text 11"/>
          <p:cNvSpPr/>
          <p:nvPr/>
        </p:nvSpPr>
        <p:spPr>
          <a:xfrm>
            <a:off x="8065008" y="187452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OmniFit O(1)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966960" y="1874520"/>
            <a:ext cx="1673352" cy="512064"/>
          </a:xfrm>
          <a:prstGeom prst="roundRect">
            <a:avLst>
              <a:gd name="adj" fmla="val 16071"/>
            </a:avLst>
          </a:prstGeom>
          <a:solidFill>
            <a:srgbClr val="1D1F3D"/>
          </a:solidFill>
          <a:ln/>
        </p:spPr>
      </p:sp>
      <p:sp>
        <p:nvSpPr>
          <p:cNvPr id="15" name="Text 13"/>
          <p:cNvSpPr/>
          <p:nvPr/>
        </p:nvSpPr>
        <p:spPr>
          <a:xfrm>
            <a:off x="10076688" y="1874520"/>
            <a:ext cx="1490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Speed-up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459736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459736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Virtual-list scroll offset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0" y="2459736"/>
            <a:ext cx="182880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19" name="Text 17"/>
          <p:cNvSpPr/>
          <p:nvPr/>
        </p:nvSpPr>
        <p:spPr>
          <a:xfrm>
            <a:off x="4224528" y="2459736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 rows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2459736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1" name="Text 19"/>
          <p:cNvSpPr/>
          <p:nvPr/>
        </p:nvSpPr>
        <p:spPr>
          <a:xfrm>
            <a:off x="6053328" y="245973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955280" y="2459736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3" name="Text 21"/>
          <p:cNvSpPr/>
          <p:nvPr/>
        </p:nvSpPr>
        <p:spPr>
          <a:xfrm>
            <a:off x="8065008" y="245973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ops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966960" y="2459736"/>
            <a:ext cx="167335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5" name="Text 23"/>
          <p:cNvSpPr/>
          <p:nvPr/>
        </p:nvSpPr>
        <p:spPr>
          <a:xfrm>
            <a:off x="10076688" y="2459736"/>
            <a:ext cx="1490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~50,000×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026664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026664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column sum / average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14800" y="3026664"/>
            <a:ext cx="182880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9" name="Text 27"/>
          <p:cNvSpPr/>
          <p:nvPr/>
        </p:nvSpPr>
        <p:spPr>
          <a:xfrm>
            <a:off x="4224528" y="3026664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1,000,000 cells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0" y="3026664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31" name="Text 29"/>
          <p:cNvSpPr/>
          <p:nvPr/>
        </p:nvSpPr>
        <p:spPr>
          <a:xfrm>
            <a:off x="6053328" y="3026664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1,000,000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955280" y="3026664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33" name="Text 31"/>
          <p:cNvSpPr/>
          <p:nvPr/>
        </p:nvSpPr>
        <p:spPr>
          <a:xfrm>
            <a:off x="8065008" y="3026664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 ops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966960" y="3026664"/>
            <a:ext cx="167335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35" name="Text 33"/>
          <p:cNvSpPr/>
          <p:nvPr/>
        </p:nvSpPr>
        <p:spPr>
          <a:xfrm>
            <a:off x="10076688" y="3026664"/>
            <a:ext cx="1490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~125,000×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3593592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" y="359359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layout height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114800" y="3593592"/>
            <a:ext cx="182880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39" name="Text 37"/>
          <p:cNvSpPr/>
          <p:nvPr/>
        </p:nvSpPr>
        <p:spPr>
          <a:xfrm>
            <a:off x="4224528" y="359359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 blocks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943600" y="3593592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41" name="Text 39"/>
          <p:cNvSpPr/>
          <p:nvPr/>
        </p:nvSpPr>
        <p:spPr>
          <a:xfrm>
            <a:off x="6053328" y="359359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955280" y="3593592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43" name="Text 41"/>
          <p:cNvSpPr/>
          <p:nvPr/>
        </p:nvSpPr>
        <p:spPr>
          <a:xfrm>
            <a:off x="8065008" y="359359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 ops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966960" y="3593592"/>
            <a:ext cx="167335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45" name="Text 43"/>
          <p:cNvSpPr/>
          <p:nvPr/>
        </p:nvSpPr>
        <p:spPr>
          <a:xfrm>
            <a:off x="10076688" y="3593592"/>
            <a:ext cx="1490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~1,250×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4160520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47" name="Text 45"/>
          <p:cNvSpPr/>
          <p:nvPr/>
        </p:nvSpPr>
        <p:spPr>
          <a:xfrm>
            <a:off x="658368" y="4160520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/ grid track sizing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114800" y="4160520"/>
            <a:ext cx="182880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49" name="Text 47"/>
          <p:cNvSpPr/>
          <p:nvPr/>
        </p:nvSpPr>
        <p:spPr>
          <a:xfrm>
            <a:off x="4224528" y="4160520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 tracks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943600" y="4160520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51" name="Text 49"/>
          <p:cNvSpPr/>
          <p:nvPr/>
        </p:nvSpPr>
        <p:spPr>
          <a:xfrm>
            <a:off x="6053328" y="416052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955280" y="4160520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53" name="Text 51"/>
          <p:cNvSpPr/>
          <p:nvPr/>
        </p:nvSpPr>
        <p:spPr>
          <a:xfrm>
            <a:off x="8065008" y="416052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 ops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966960" y="4160520"/>
            <a:ext cx="167335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55" name="Text 53"/>
          <p:cNvSpPr/>
          <p:nvPr/>
        </p:nvSpPr>
        <p:spPr>
          <a:xfrm>
            <a:off x="10076688" y="4160520"/>
            <a:ext cx="1490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~625×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48640" y="4727448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57" name="Text 55"/>
          <p:cNvSpPr/>
          <p:nvPr/>
        </p:nvSpPr>
        <p:spPr>
          <a:xfrm>
            <a:off x="658368" y="4727448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range aggregate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114800" y="4727448"/>
            <a:ext cx="182880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59" name="Text 57"/>
          <p:cNvSpPr/>
          <p:nvPr/>
        </p:nvSpPr>
        <p:spPr>
          <a:xfrm>
            <a:off x="4224528" y="4727448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500,000 pts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943600" y="4727448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61" name="Text 59"/>
          <p:cNvSpPr/>
          <p:nvPr/>
        </p:nvSpPr>
        <p:spPr>
          <a:xfrm>
            <a:off x="6053328" y="472744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500,000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955280" y="4727448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63" name="Text 61"/>
          <p:cNvSpPr/>
          <p:nvPr/>
        </p:nvSpPr>
        <p:spPr>
          <a:xfrm>
            <a:off x="8065008" y="472744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ops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9966960" y="4727448"/>
            <a:ext cx="167335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65" name="Text 63"/>
          <p:cNvSpPr/>
          <p:nvPr/>
        </p:nvSpPr>
        <p:spPr>
          <a:xfrm>
            <a:off x="10076688" y="4727448"/>
            <a:ext cx="1490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~250,000×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Illustrative, per query, structured inputs. A prefix table (when needed) is a one-time O(N); each later query is O(1). Uniform sizes need no table. End-to-end frame gain depends on how much of the frame is this math (see Amdahl, slide 48).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328806" cy="310896"/>
          </a:xfrm>
          <a:prstGeom prst="roundRect">
            <a:avLst>
              <a:gd name="adj" fmla="val 50000"/>
            </a:avLst>
          </a:prstGeom>
          <a:solidFill>
            <a:srgbClr val="22D3EE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328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— what to remember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57400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05740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Offsets &amp; cumulative sizes are prefix sums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53512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95351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95351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lists get O(1) row offsets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49624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849624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849624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Layout/track math reuses prefix subtraction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745736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74573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745736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&amp; chart roll-ups become range queries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63640" y="2057400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19" name="Text 17"/>
          <p:cNvSpPr/>
          <p:nvPr/>
        </p:nvSpPr>
        <p:spPr>
          <a:xfrm>
            <a:off x="6464808" y="205740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95160" y="205740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Smoother frames, less main-thread time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63640" y="2953512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295351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95160" y="295351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where the app is data/scroll heavy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63640" y="3849624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25" name="Text 23"/>
          <p:cNvSpPr/>
          <p:nvPr/>
        </p:nvSpPr>
        <p:spPr>
          <a:xfrm>
            <a:off x="6464808" y="3849624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95160" y="3849624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Paint/GPU work is untouched — be honest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263640" y="4745736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28" name="Text 26"/>
          <p:cNvSpPr/>
          <p:nvPr/>
        </p:nvSpPr>
        <p:spPr>
          <a:xfrm>
            <a:off x="6464808" y="474573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95160" y="4745736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frame breakdown first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34842" y="1042958"/>
            <a:ext cx="20078" cy="20078"/>
          </a:xfrm>
          <a:prstGeom prst="ellipse">
            <a:avLst/>
          </a:prstGeom>
          <a:solidFill>
            <a:srgbClr val="FFFFFF">
              <a:alpha val="15159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56973" y="5743653"/>
            <a:ext cx="23318" cy="23318"/>
          </a:xfrm>
          <a:prstGeom prst="ellipse">
            <a:avLst/>
          </a:prstGeom>
          <a:solidFill>
            <a:srgbClr val="FFFFFF">
              <a:alpha val="39168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216114" y="1235226"/>
            <a:ext cx="7708" cy="7708"/>
          </a:xfrm>
          <a:prstGeom prst="ellipse">
            <a:avLst/>
          </a:prstGeom>
          <a:solidFill>
            <a:srgbClr val="FFFFFF">
              <a:alpha val="16925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857326" y="4335345"/>
            <a:ext cx="13295" cy="13295"/>
          </a:xfrm>
          <a:prstGeom prst="ellipse">
            <a:avLst/>
          </a:prstGeom>
          <a:solidFill>
            <a:srgbClr val="FFFFFF">
              <a:alpha val="32445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47898" y="5475535"/>
            <a:ext cx="11780" cy="11780"/>
          </a:xfrm>
          <a:prstGeom prst="ellipse">
            <a:avLst/>
          </a:prstGeom>
          <a:solidFill>
            <a:srgbClr val="FFFFFF">
              <a:alpha val="18779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872689" y="5909339"/>
            <a:ext cx="7332" cy="7332"/>
          </a:xfrm>
          <a:prstGeom prst="ellipse">
            <a:avLst/>
          </a:prstGeom>
          <a:solidFill>
            <a:srgbClr val="FFFFFF">
              <a:alpha val="28844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68207" y="6798260"/>
            <a:ext cx="12243" cy="12243"/>
          </a:xfrm>
          <a:prstGeom prst="ellipse">
            <a:avLst/>
          </a:prstGeom>
          <a:solidFill>
            <a:srgbClr val="FFFFFF">
              <a:alpha val="36743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607034" y="6603719"/>
            <a:ext cx="12036" cy="12036"/>
          </a:xfrm>
          <a:prstGeom prst="ellipse">
            <a:avLst/>
          </a:prstGeom>
          <a:solidFill>
            <a:srgbClr val="FFFFFF">
              <a:alpha val="13742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693729" y="292235"/>
            <a:ext cx="11377" cy="11377"/>
          </a:xfrm>
          <a:prstGeom prst="ellipse">
            <a:avLst/>
          </a:prstGeom>
          <a:solidFill>
            <a:srgbClr val="FFFFFF">
              <a:alpha val="14275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792361" y="1336308"/>
            <a:ext cx="16050" cy="16050"/>
          </a:xfrm>
          <a:prstGeom prst="ellipse">
            <a:avLst/>
          </a:prstGeom>
          <a:solidFill>
            <a:srgbClr val="FFFFFF">
              <a:alpha val="3554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672234" y="4705296"/>
            <a:ext cx="15650" cy="15650"/>
          </a:xfrm>
          <a:prstGeom prst="ellipse">
            <a:avLst/>
          </a:prstGeom>
          <a:solidFill>
            <a:srgbClr val="FFFFFF">
              <a:alpha val="15981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192438" y="4097945"/>
            <a:ext cx="15082" cy="15082"/>
          </a:xfrm>
          <a:prstGeom prst="ellipse">
            <a:avLst/>
          </a:prstGeom>
          <a:solidFill>
            <a:srgbClr val="FFFFFF">
              <a:alpha val="21018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6783" y="1415172"/>
            <a:ext cx="13304" cy="13304"/>
          </a:xfrm>
          <a:prstGeom prst="ellipse">
            <a:avLst/>
          </a:prstGeom>
          <a:solidFill>
            <a:srgbClr val="FFFFFF">
              <a:alpha val="34652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797462" y="6228513"/>
            <a:ext cx="20383" cy="20383"/>
          </a:xfrm>
          <a:prstGeom prst="ellipse">
            <a:avLst/>
          </a:prstGeom>
          <a:solidFill>
            <a:srgbClr val="FFFFFF">
              <a:alpha val="36344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40855" y="1480146"/>
            <a:ext cx="5988" cy="5988"/>
          </a:xfrm>
          <a:prstGeom prst="ellipse">
            <a:avLst/>
          </a:prstGeom>
          <a:solidFill>
            <a:srgbClr val="FFFFFF">
              <a:alpha val="1576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910406" y="4447202"/>
            <a:ext cx="23460" cy="23460"/>
          </a:xfrm>
          <a:prstGeom prst="ellipse">
            <a:avLst/>
          </a:prstGeom>
          <a:solidFill>
            <a:srgbClr val="FFFFFF">
              <a:alpha val="22508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097400" y="5150510"/>
            <a:ext cx="9739" cy="9739"/>
          </a:xfrm>
          <a:prstGeom prst="ellipse">
            <a:avLst/>
          </a:prstGeom>
          <a:solidFill>
            <a:srgbClr val="FFFFFF">
              <a:alpha val="28634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97079" y="452551"/>
            <a:ext cx="13810" cy="13810"/>
          </a:xfrm>
          <a:prstGeom prst="ellipse">
            <a:avLst/>
          </a:prstGeom>
          <a:solidFill>
            <a:srgbClr val="FFFFFF">
              <a:alpha val="29428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661598" y="5940342"/>
            <a:ext cx="20443" cy="20443"/>
          </a:xfrm>
          <a:prstGeom prst="ellipse">
            <a:avLst/>
          </a:prstGeom>
          <a:solidFill>
            <a:srgbClr val="FFFFFF">
              <a:alpha val="1635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00280" y="2531051"/>
            <a:ext cx="9270" cy="9270"/>
          </a:xfrm>
          <a:prstGeom prst="ellipse">
            <a:avLst/>
          </a:prstGeom>
          <a:solidFill>
            <a:srgbClr val="FFFFFF">
              <a:alpha val="26869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24846" y="6395131"/>
            <a:ext cx="15006" cy="15006"/>
          </a:xfrm>
          <a:prstGeom prst="ellipse">
            <a:avLst/>
          </a:prstGeom>
          <a:solidFill>
            <a:srgbClr val="FFFFFF">
              <a:alpha val="23593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300391" y="4135695"/>
            <a:ext cx="22005" cy="22005"/>
          </a:xfrm>
          <a:prstGeom prst="ellipse">
            <a:avLst/>
          </a:prstGeom>
          <a:solidFill>
            <a:srgbClr val="FFFFFF">
              <a:alpha val="16289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357750" y="4646966"/>
            <a:ext cx="23405" cy="23405"/>
          </a:xfrm>
          <a:prstGeom prst="ellipse">
            <a:avLst/>
          </a:prstGeom>
          <a:solidFill>
            <a:srgbClr val="FFFFFF">
              <a:alpha val="32795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041251" y="6481542"/>
            <a:ext cx="9157" cy="9157"/>
          </a:xfrm>
          <a:prstGeom prst="ellipse">
            <a:avLst/>
          </a:prstGeom>
          <a:solidFill>
            <a:srgbClr val="FFFFFF">
              <a:alpha val="14594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19446" y="1124355"/>
            <a:ext cx="17124" cy="17124"/>
          </a:xfrm>
          <a:prstGeom prst="ellipse">
            <a:avLst/>
          </a:prstGeom>
          <a:solidFill>
            <a:srgbClr val="FFFFFF">
              <a:alpha val="18329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151694" y="4492797"/>
            <a:ext cx="6882" cy="6882"/>
          </a:xfrm>
          <a:prstGeom prst="ellipse">
            <a:avLst/>
          </a:prstGeom>
          <a:solidFill>
            <a:srgbClr val="FFFFFF">
              <a:alpha val="876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429998" y="887945"/>
            <a:ext cx="11259" cy="11259"/>
          </a:xfrm>
          <a:prstGeom prst="ellipse">
            <a:avLst/>
          </a:prstGeom>
          <a:solidFill>
            <a:srgbClr val="FFFFFF">
              <a:alpha val="12072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682756" y="80572"/>
            <a:ext cx="22676" cy="22676"/>
          </a:xfrm>
          <a:prstGeom prst="ellipse">
            <a:avLst/>
          </a:prstGeom>
          <a:solidFill>
            <a:srgbClr val="FFFFFF">
              <a:alpha val="10497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68856" y="1227338"/>
            <a:ext cx="15649" cy="15649"/>
          </a:xfrm>
          <a:prstGeom prst="ellipse">
            <a:avLst/>
          </a:prstGeom>
          <a:solidFill>
            <a:srgbClr val="FFFFFF">
              <a:alpha val="25552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785123" y="1515305"/>
            <a:ext cx="22125" cy="22125"/>
          </a:xfrm>
          <a:prstGeom prst="ellipse">
            <a:avLst/>
          </a:prstGeom>
          <a:solidFill>
            <a:srgbClr val="FFFFFF">
              <a:alpha val="12318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250766" y="1512205"/>
            <a:ext cx="20263" cy="20263"/>
          </a:xfrm>
          <a:prstGeom prst="ellipse">
            <a:avLst/>
          </a:prstGeom>
          <a:solidFill>
            <a:srgbClr val="FFFFFF">
              <a:alpha val="35947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95749" y="1252757"/>
            <a:ext cx="22339" cy="22339"/>
          </a:xfrm>
          <a:prstGeom prst="ellipse">
            <a:avLst/>
          </a:prstGeom>
          <a:solidFill>
            <a:srgbClr val="FFFFFF">
              <a:alpha val="8219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85146" y="3358762"/>
            <a:ext cx="11034" cy="11034"/>
          </a:xfrm>
          <a:prstGeom prst="ellipse">
            <a:avLst/>
          </a:prstGeom>
          <a:solidFill>
            <a:srgbClr val="FFFFFF">
              <a:alpha val="25591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300355" y="552618"/>
            <a:ext cx="11059" cy="11059"/>
          </a:xfrm>
          <a:prstGeom prst="ellipse">
            <a:avLst/>
          </a:prstGeom>
          <a:solidFill>
            <a:srgbClr val="FFFFFF">
              <a:alpha val="39239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65911" y="5442259"/>
            <a:ext cx="5545" cy="5545"/>
          </a:xfrm>
          <a:prstGeom prst="ellipse">
            <a:avLst/>
          </a:prstGeom>
          <a:solidFill>
            <a:srgbClr val="FFFFFF">
              <a:alpha val="2198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558498" y="5544533"/>
            <a:ext cx="7340" cy="7340"/>
          </a:xfrm>
          <a:prstGeom prst="ellipse">
            <a:avLst/>
          </a:prstGeom>
          <a:solidFill>
            <a:srgbClr val="FFFFFF">
              <a:alpha val="30813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649982" y="1834966"/>
            <a:ext cx="19017" cy="19017"/>
          </a:xfrm>
          <a:prstGeom prst="ellipse">
            <a:avLst/>
          </a:prstGeom>
          <a:solidFill>
            <a:srgbClr val="FFFFFF">
              <a:alpha val="32434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039602" y="11006"/>
            <a:ext cx="14247" cy="14247"/>
          </a:xfrm>
          <a:prstGeom prst="ellipse">
            <a:avLst/>
          </a:prstGeom>
          <a:solidFill>
            <a:srgbClr val="FFFFFF">
              <a:alpha val="3005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71046" y="6750290"/>
            <a:ext cx="12126" cy="12126"/>
          </a:xfrm>
          <a:prstGeom prst="ellipse">
            <a:avLst/>
          </a:prstGeom>
          <a:solidFill>
            <a:srgbClr val="FFFFFF">
              <a:alpha val="20999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457349" y="5808224"/>
            <a:ext cx="20956" cy="20956"/>
          </a:xfrm>
          <a:prstGeom prst="ellipse">
            <a:avLst/>
          </a:prstGeom>
          <a:solidFill>
            <a:srgbClr val="FFFFFF">
              <a:alpha val="30297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1448202" y="1616966"/>
            <a:ext cx="8962" cy="8962"/>
          </a:xfrm>
          <a:prstGeom prst="ellipse">
            <a:avLst/>
          </a:prstGeom>
          <a:solidFill>
            <a:srgbClr val="FFFFFF">
              <a:alpha val="3497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486683" y="3508535"/>
            <a:ext cx="19437" cy="19437"/>
          </a:xfrm>
          <a:prstGeom prst="ellipse">
            <a:avLst/>
          </a:prstGeom>
          <a:solidFill>
            <a:srgbClr val="FFFFFF">
              <a:alpha val="17457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786453" y="433685"/>
            <a:ext cx="17014" cy="17014"/>
          </a:xfrm>
          <a:prstGeom prst="ellipse">
            <a:avLst/>
          </a:prstGeom>
          <a:solidFill>
            <a:srgbClr val="FFFFFF">
              <a:alpha val="1905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135782" y="5949656"/>
            <a:ext cx="22336" cy="22336"/>
          </a:xfrm>
          <a:prstGeom prst="ellipse">
            <a:avLst/>
          </a:prstGeom>
          <a:solidFill>
            <a:srgbClr val="FFFFFF">
              <a:alpha val="24234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282813" y="1864012"/>
            <a:ext cx="16734" cy="16734"/>
          </a:xfrm>
          <a:prstGeom prst="ellipse">
            <a:avLst/>
          </a:prstGeom>
          <a:solidFill>
            <a:srgbClr val="FFFFFF">
              <a:alpha val="17902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690110" y="36914"/>
            <a:ext cx="13535" cy="13535"/>
          </a:xfrm>
          <a:prstGeom prst="ellipse">
            <a:avLst/>
          </a:prstGeom>
          <a:solidFill>
            <a:srgbClr val="FFFFFF">
              <a:alpha val="11158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239707" y="4837770"/>
            <a:ext cx="19783" cy="19783"/>
          </a:xfrm>
          <a:prstGeom prst="ellipse">
            <a:avLst/>
          </a:prstGeom>
          <a:solidFill>
            <a:srgbClr val="FFFFFF">
              <a:alpha val="11333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386248" y="52897"/>
            <a:ext cx="7583" cy="7583"/>
          </a:xfrm>
          <a:prstGeom prst="ellipse">
            <a:avLst/>
          </a:prstGeom>
          <a:solidFill>
            <a:srgbClr val="FFFFFF">
              <a:alpha val="28705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48219" y="4968939"/>
            <a:ext cx="12943" cy="12943"/>
          </a:xfrm>
          <a:prstGeom prst="ellipse">
            <a:avLst/>
          </a:prstGeom>
          <a:solidFill>
            <a:srgbClr val="FFFFFF">
              <a:alpha val="1364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30383" y="3425499"/>
            <a:ext cx="12861" cy="12861"/>
          </a:xfrm>
          <a:prstGeom prst="ellipse">
            <a:avLst/>
          </a:prstGeom>
          <a:solidFill>
            <a:srgbClr val="FFFFFF">
              <a:alpha val="32374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1579404" y="1875293"/>
            <a:ext cx="16266" cy="16266"/>
          </a:xfrm>
          <a:prstGeom prst="ellipse">
            <a:avLst/>
          </a:prstGeom>
          <a:solidFill>
            <a:srgbClr val="FFFFFF">
              <a:alpha val="33871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431337" y="4116751"/>
            <a:ext cx="22990" cy="22990"/>
          </a:xfrm>
          <a:prstGeom prst="ellipse">
            <a:avLst/>
          </a:prstGeom>
          <a:solidFill>
            <a:srgbClr val="FFFFFF">
              <a:alpha val="22868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91794" y="905051"/>
            <a:ext cx="18263" cy="18263"/>
          </a:xfrm>
          <a:prstGeom prst="ellipse">
            <a:avLst/>
          </a:prstGeom>
          <a:solidFill>
            <a:srgbClr val="FFFFFF">
              <a:alpha val="11242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519089" y="4657262"/>
            <a:ext cx="6580" cy="6580"/>
          </a:xfrm>
          <a:prstGeom prst="ellipse">
            <a:avLst/>
          </a:prstGeom>
          <a:solidFill>
            <a:srgbClr val="FFFFFF">
              <a:alpha val="27124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13527" y="2571833"/>
            <a:ext cx="16411" cy="16411"/>
          </a:xfrm>
          <a:prstGeom prst="ellipse">
            <a:avLst/>
          </a:prstGeom>
          <a:solidFill>
            <a:srgbClr val="FFFFFF">
              <a:alpha val="19274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595360" y="2057400"/>
            <a:ext cx="2743200" cy="914"/>
          </a:xfrm>
          <a:prstGeom prst="line">
            <a:avLst/>
          </a:prstGeom>
          <a:noFill/>
          <a:ln w="17780">
            <a:solidFill>
              <a:srgbClr val="A3E635">
                <a:alpha val="66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338560" y="2057400"/>
            <a:ext cx="914" cy="2743200"/>
          </a:xfrm>
          <a:prstGeom prst="line">
            <a:avLst/>
          </a:prstGeom>
          <a:noFill/>
          <a:ln w="17780">
            <a:solidFill>
              <a:srgbClr val="A3E635">
                <a:alpha val="66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8595360" y="4800600"/>
            <a:ext cx="2743200" cy="914"/>
          </a:xfrm>
          <a:prstGeom prst="line">
            <a:avLst/>
          </a:prstGeom>
          <a:noFill/>
          <a:ln w="17780">
            <a:solidFill>
              <a:srgbClr val="A3E635">
                <a:alpha val="66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8595360" y="2057400"/>
            <a:ext cx="914" cy="2743200"/>
          </a:xfrm>
          <a:prstGeom prst="line">
            <a:avLst/>
          </a:prstGeom>
          <a:noFill/>
          <a:ln w="17780">
            <a:solidFill>
              <a:srgbClr val="A3E635">
                <a:alpha val="66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630918" y="2338578"/>
            <a:ext cx="1426464" cy="914"/>
          </a:xfrm>
          <a:prstGeom prst="line">
            <a:avLst/>
          </a:prstGeom>
          <a:noFill/>
          <a:ln w="17780">
            <a:solidFill>
              <a:srgbClr val="A3E635">
                <a:alpha val="66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057382" y="2338578"/>
            <a:ext cx="914" cy="1426464"/>
          </a:xfrm>
          <a:prstGeom prst="line">
            <a:avLst/>
          </a:prstGeom>
          <a:noFill/>
          <a:ln w="17780">
            <a:solidFill>
              <a:srgbClr val="A3E635">
                <a:alpha val="66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9630918" y="3765042"/>
            <a:ext cx="1426464" cy="914"/>
          </a:xfrm>
          <a:prstGeom prst="line">
            <a:avLst/>
          </a:prstGeom>
          <a:noFill/>
          <a:ln w="17780">
            <a:solidFill>
              <a:srgbClr val="A3E635">
                <a:alpha val="66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9630918" y="2338578"/>
            <a:ext cx="914" cy="1426464"/>
          </a:xfrm>
          <a:prstGeom prst="line">
            <a:avLst/>
          </a:prstGeom>
          <a:noFill/>
          <a:ln w="17780">
            <a:solidFill>
              <a:srgbClr val="A3E635">
                <a:alpha val="66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595360" y="2057400"/>
            <a:ext cx="1035558" cy="281178"/>
          </a:xfrm>
          <a:prstGeom prst="line">
            <a:avLst/>
          </a:prstGeom>
          <a:noFill/>
          <a:ln w="12700">
            <a:solidFill>
              <a:srgbClr val="A3E635">
                <a:alpha val="44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11057382" y="2057400"/>
            <a:ext cx="281178" cy="281178"/>
          </a:xfrm>
          <a:prstGeom prst="line">
            <a:avLst/>
          </a:prstGeom>
          <a:noFill/>
          <a:ln w="12700">
            <a:solidFill>
              <a:srgbClr val="A3E635">
                <a:alpha val="44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057382" y="3765042"/>
            <a:ext cx="281178" cy="1035558"/>
          </a:xfrm>
          <a:prstGeom prst="line">
            <a:avLst/>
          </a:prstGeom>
          <a:noFill/>
          <a:ln w="12700">
            <a:solidFill>
              <a:srgbClr val="A3E635">
                <a:alpha val="44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8595360" y="3765042"/>
            <a:ext cx="1035558" cy="1035558"/>
          </a:xfrm>
          <a:prstGeom prst="line">
            <a:avLst/>
          </a:prstGeom>
          <a:noFill/>
          <a:ln w="12700">
            <a:solidFill>
              <a:srgbClr val="A3E635">
                <a:alpha val="44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563356" y="2025396"/>
            <a:ext cx="64008" cy="64008"/>
          </a:xfrm>
          <a:prstGeom prst="ellipse">
            <a:avLst/>
          </a:prstGeom>
          <a:solidFill>
            <a:srgbClr val="A3E635">
              <a:alpha val="74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1306556" y="2025396"/>
            <a:ext cx="64008" cy="64008"/>
          </a:xfrm>
          <a:prstGeom prst="ellipse">
            <a:avLst/>
          </a:prstGeom>
          <a:solidFill>
            <a:srgbClr val="A3E635">
              <a:alpha val="74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1306556" y="4768596"/>
            <a:ext cx="64008" cy="64008"/>
          </a:xfrm>
          <a:prstGeom prst="ellipse">
            <a:avLst/>
          </a:prstGeom>
          <a:solidFill>
            <a:srgbClr val="A3E635">
              <a:alpha val="74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563356" y="4768596"/>
            <a:ext cx="64008" cy="64008"/>
          </a:xfrm>
          <a:prstGeom prst="ellipse">
            <a:avLst/>
          </a:prstGeom>
          <a:solidFill>
            <a:srgbClr val="A3E635">
              <a:alpha val="74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598914" y="2306574"/>
            <a:ext cx="64008" cy="64008"/>
          </a:xfrm>
          <a:prstGeom prst="ellipse">
            <a:avLst/>
          </a:prstGeom>
          <a:solidFill>
            <a:srgbClr val="A3E635">
              <a:alpha val="74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11025378" y="2306574"/>
            <a:ext cx="64008" cy="64008"/>
          </a:xfrm>
          <a:prstGeom prst="ellipse">
            <a:avLst/>
          </a:prstGeom>
          <a:solidFill>
            <a:srgbClr val="A3E635">
              <a:alpha val="74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11025378" y="3733038"/>
            <a:ext cx="64008" cy="64008"/>
          </a:xfrm>
          <a:prstGeom prst="ellipse">
            <a:avLst/>
          </a:prstGeom>
          <a:solidFill>
            <a:srgbClr val="A3E635">
              <a:alpha val="74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598914" y="3733038"/>
            <a:ext cx="64008" cy="64008"/>
          </a:xfrm>
          <a:prstGeom prst="ellipse">
            <a:avLst/>
          </a:prstGeom>
          <a:solidFill>
            <a:srgbClr val="A3E635">
              <a:alpha val="74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822960" y="1965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4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2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777240" y="2377440"/>
            <a:ext cx="8869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apps</a:t>
            </a:r>
            <a:endParaRPr lang="en-US" sz="4000" dirty="0"/>
          </a:p>
        </p:txBody>
      </p:sp>
      <p:sp>
        <p:nvSpPr>
          <p:cNvPr id="79" name="Text 77"/>
          <p:cNvSpPr/>
          <p:nvPr/>
        </p:nvSpPr>
        <p:spPr>
          <a:xfrm>
            <a:off x="822960" y="3611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phones the constraints are battery, memory bandwidth and a strict frame budget. Fewer operations translate directly into less energy and smoother UIs.</a:t>
            </a:r>
            <a:endParaRPr lang="en-US" sz="1700" dirty="0"/>
          </a:p>
        </p:txBody>
      </p:sp>
      <p:sp>
        <p:nvSpPr>
          <p:cNvPr id="80" name="Text 78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6120" cy="310896"/>
          </a:xfrm>
          <a:prstGeom prst="roundRect">
            <a:avLst>
              <a:gd name="adj" fmla="val 50000"/>
            </a:avLst>
          </a:prstGeom>
          <a:solidFill>
            <a:srgbClr val="A3E635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86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mobile amplifies the win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pays for every operation in battery and heat, and must hit its frame budget on a small CPU. Removing an O(N) pass is not just faster — it is measurably less energy, because energy tracks the number of operations and bytes moved.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5806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≈ operations × energy-per-op → fewer ops, less drain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frame budget → O(1) keeps scrolling at 60/120 fps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memory traffic → less power on the bus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Cooler device → less thermal throttling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720840" y="1874520"/>
            <a:ext cx="4983480" cy="4023360"/>
          </a:xfrm>
          <a:prstGeom prst="roundRect">
            <a:avLst>
              <a:gd name="adj" fmla="val 2045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03720" y="265176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 → mAh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086600" y="4114800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structured path, cutting operations cuts energy in roughly the same proportion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6120" cy="310896"/>
          </a:xfrm>
          <a:prstGeom prst="roundRect">
            <a:avLst>
              <a:gd name="adj" fmla="val 50000"/>
            </a:avLst>
          </a:prstGeom>
          <a:solidFill>
            <a:srgbClr val="A3E635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86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Lists, scrolling &amp; on-device analytics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RecyclerView/List scroll offsets are prefix sums, just like the web. On-device analytics and health/fitness features aggregate long sensor streams — steps, heart-rate windows, accelerometer moments — which are exactly the O(1) moment computations.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5806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scroll offset → O(1) range query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Step/activity totals → prefix subtraction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mean/variance of sensors → O(1) moments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Re-window stats without re-scanning history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720840" y="1874520"/>
            <a:ext cx="4983480" cy="4023360"/>
          </a:xfrm>
          <a:prstGeom prst="roundRect">
            <a:avLst>
              <a:gd name="adj" fmla="val 2045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95160" y="21031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hot paths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13448" y="2743200"/>
            <a:ext cx="4434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feeds &amp; chat lists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&amp; health aggregates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for AR/UX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dashboards &amp; reports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791492" cy="310896"/>
          </a:xfrm>
          <a:prstGeom prst="roundRect">
            <a:avLst>
              <a:gd name="adj" fmla="val 50000"/>
            </a:avLst>
          </a:prstGeom>
          <a:solidFill>
            <a:srgbClr val="A3E635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7914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NUMBERS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scenarios — illustrative speed-ups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3566160" cy="512064"/>
          </a:xfrm>
          <a:prstGeom prst="roundRect">
            <a:avLst>
              <a:gd name="adj" fmla="val 16071"/>
            </a:avLst>
          </a:prstGeom>
          <a:solidFill>
            <a:srgbClr val="060612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7452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B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scenario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0" y="1874520"/>
            <a:ext cx="1828800" cy="512064"/>
          </a:xfrm>
          <a:prstGeom prst="roundRect">
            <a:avLst>
              <a:gd name="adj" fmla="val 16071"/>
            </a:avLst>
          </a:prstGeom>
          <a:solidFill>
            <a:srgbClr val="1D1F3D"/>
          </a:solidFill>
          <a:ln/>
        </p:spPr>
      </p:sp>
      <p:sp>
        <p:nvSpPr>
          <p:cNvPr id="9" name="Text 7"/>
          <p:cNvSpPr/>
          <p:nvPr/>
        </p:nvSpPr>
        <p:spPr>
          <a:xfrm>
            <a:off x="4224528" y="187452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1874520"/>
            <a:ext cx="2011680" cy="512064"/>
          </a:xfrm>
          <a:prstGeom prst="roundRect">
            <a:avLst>
              <a:gd name="adj" fmla="val 16071"/>
            </a:avLst>
          </a:prstGeom>
          <a:solidFill>
            <a:srgbClr val="1D1F3D"/>
          </a:solidFill>
          <a:ln/>
        </p:spPr>
      </p:sp>
      <p:sp>
        <p:nvSpPr>
          <p:cNvPr id="11" name="Text 9"/>
          <p:cNvSpPr/>
          <p:nvPr/>
        </p:nvSpPr>
        <p:spPr>
          <a:xfrm>
            <a:off x="6053328" y="187452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Naïve O(N)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1874520"/>
            <a:ext cx="2011680" cy="512064"/>
          </a:xfrm>
          <a:prstGeom prst="roundRect">
            <a:avLst>
              <a:gd name="adj" fmla="val 16071"/>
            </a:avLst>
          </a:prstGeom>
          <a:solidFill>
            <a:srgbClr val="1D1F3D"/>
          </a:solidFill>
          <a:ln/>
        </p:spPr>
      </p:sp>
      <p:sp>
        <p:nvSpPr>
          <p:cNvPr id="13" name="Text 11"/>
          <p:cNvSpPr/>
          <p:nvPr/>
        </p:nvSpPr>
        <p:spPr>
          <a:xfrm>
            <a:off x="8065008" y="187452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OmniFit O(1)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966960" y="1874520"/>
            <a:ext cx="1673352" cy="512064"/>
          </a:xfrm>
          <a:prstGeom prst="roundRect">
            <a:avLst>
              <a:gd name="adj" fmla="val 16071"/>
            </a:avLst>
          </a:prstGeom>
          <a:solidFill>
            <a:srgbClr val="1D1F3D"/>
          </a:solidFill>
          <a:ln/>
        </p:spPr>
      </p:sp>
      <p:sp>
        <p:nvSpPr>
          <p:cNvPr id="15" name="Text 13"/>
          <p:cNvSpPr/>
          <p:nvPr/>
        </p:nvSpPr>
        <p:spPr>
          <a:xfrm>
            <a:off x="10076688" y="1874520"/>
            <a:ext cx="1490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Speed-up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459736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459736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scroll offset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0" y="2459736"/>
            <a:ext cx="182880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19" name="Text 17"/>
          <p:cNvSpPr/>
          <p:nvPr/>
        </p:nvSpPr>
        <p:spPr>
          <a:xfrm>
            <a:off x="4224528" y="2459736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 items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2459736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1" name="Text 19"/>
          <p:cNvSpPr/>
          <p:nvPr/>
        </p:nvSpPr>
        <p:spPr>
          <a:xfrm>
            <a:off x="6053328" y="245973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955280" y="2459736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3" name="Text 21"/>
          <p:cNvSpPr/>
          <p:nvPr/>
        </p:nvSpPr>
        <p:spPr>
          <a:xfrm>
            <a:off x="8065008" y="245973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ops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966960" y="2459736"/>
            <a:ext cx="167335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5" name="Text 23"/>
          <p:cNvSpPr/>
          <p:nvPr/>
        </p:nvSpPr>
        <p:spPr>
          <a:xfrm>
            <a:off x="10076688" y="2459736"/>
            <a:ext cx="1490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~25,000×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026664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026664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/ IMU moving stats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14800" y="3026664"/>
            <a:ext cx="182880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9" name="Text 27"/>
          <p:cNvSpPr/>
          <p:nvPr/>
        </p:nvSpPr>
        <p:spPr>
          <a:xfrm>
            <a:off x="4224528" y="3026664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1,000,000 samples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0" y="3026664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31" name="Text 29"/>
          <p:cNvSpPr/>
          <p:nvPr/>
        </p:nvSpPr>
        <p:spPr>
          <a:xfrm>
            <a:off x="6053328" y="3026664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1,000,000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955280" y="3026664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33" name="Text 31"/>
          <p:cNvSpPr/>
          <p:nvPr/>
        </p:nvSpPr>
        <p:spPr>
          <a:xfrm>
            <a:off x="8065008" y="3026664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 ops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966960" y="3026664"/>
            <a:ext cx="167335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35" name="Text 33"/>
          <p:cNvSpPr/>
          <p:nvPr/>
        </p:nvSpPr>
        <p:spPr>
          <a:xfrm>
            <a:off x="10076688" y="3026664"/>
            <a:ext cx="1490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~125,000×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3593592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" y="359359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roll-up (range)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114800" y="3593592"/>
            <a:ext cx="182880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39" name="Text 37"/>
          <p:cNvSpPr/>
          <p:nvPr/>
        </p:nvSpPr>
        <p:spPr>
          <a:xfrm>
            <a:off x="4224528" y="359359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2,000,000 rows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943600" y="3593592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41" name="Text 39"/>
          <p:cNvSpPr/>
          <p:nvPr/>
        </p:nvSpPr>
        <p:spPr>
          <a:xfrm>
            <a:off x="6053328" y="359359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2,000,000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955280" y="3593592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43" name="Text 41"/>
          <p:cNvSpPr/>
          <p:nvPr/>
        </p:nvSpPr>
        <p:spPr>
          <a:xfrm>
            <a:off x="8065008" y="359359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ops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966960" y="3593592"/>
            <a:ext cx="167335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45" name="Text 43"/>
          <p:cNvSpPr/>
          <p:nvPr/>
        </p:nvSpPr>
        <p:spPr>
          <a:xfrm>
            <a:off x="10076688" y="3593592"/>
            <a:ext cx="1490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~1,000,000×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4160520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47" name="Text 45"/>
          <p:cNvSpPr/>
          <p:nvPr/>
        </p:nvSpPr>
        <p:spPr>
          <a:xfrm>
            <a:off x="658368" y="4160520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momentum integral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114800" y="4160520"/>
            <a:ext cx="182880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49" name="Text 47"/>
          <p:cNvSpPr/>
          <p:nvPr/>
        </p:nvSpPr>
        <p:spPr>
          <a:xfrm>
            <a:off x="4224528" y="4160520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 frames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943600" y="4160520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51" name="Text 49"/>
          <p:cNvSpPr/>
          <p:nvPr/>
        </p:nvSpPr>
        <p:spPr>
          <a:xfrm>
            <a:off x="6053328" y="416052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955280" y="4160520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53" name="Text 51"/>
          <p:cNvSpPr/>
          <p:nvPr/>
        </p:nvSpPr>
        <p:spPr>
          <a:xfrm>
            <a:off x="8065008" y="416052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 ops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966960" y="4160520"/>
            <a:ext cx="167335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55" name="Text 53"/>
          <p:cNvSpPr/>
          <p:nvPr/>
        </p:nvSpPr>
        <p:spPr>
          <a:xfrm>
            <a:off x="10076688" y="4160520"/>
            <a:ext cx="1490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~2,500×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48640" y="48737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Illustrative. Energy on the structured path falls by roughly the same factor as operations (E ≈ ops × e-per-op). GPU rendering and network I/O are unaffected. The felt benefit is smoother UI and longer battery on aggregate-heavy features.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606418" cy="310896"/>
          </a:xfrm>
          <a:prstGeom prst="roundRect">
            <a:avLst>
              <a:gd name="adj" fmla="val 50000"/>
            </a:avLst>
          </a:prstGeom>
          <a:solidFill>
            <a:srgbClr val="A3E635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6064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— what to remember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57400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05740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 costs battery — fewer ops help twice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53512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95351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95351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offsets are O(1) prefix sums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49624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849624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849624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Sensor/stream stats are O(1) moments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745736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74573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745736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Re-window analytics without re-scanning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63640" y="2057400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19" name="Text 17"/>
          <p:cNvSpPr/>
          <p:nvPr/>
        </p:nvSpPr>
        <p:spPr>
          <a:xfrm>
            <a:off x="6464808" y="205740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95160" y="205740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memory traffic = less power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63640" y="2953512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295351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95160" y="295351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Cooler device = less throttling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63640" y="3849624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25" name="Text 23"/>
          <p:cNvSpPr/>
          <p:nvPr/>
        </p:nvSpPr>
        <p:spPr>
          <a:xfrm>
            <a:off x="6464808" y="3849624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95160" y="3849624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concentrate on data/sensor features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263640" y="4745736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28" name="Text 26"/>
          <p:cNvSpPr/>
          <p:nvPr/>
        </p:nvSpPr>
        <p:spPr>
          <a:xfrm>
            <a:off x="6464808" y="474573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95160" y="4745736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energy per feature first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20111" y="5130410"/>
            <a:ext cx="12891" cy="12891"/>
          </a:xfrm>
          <a:prstGeom prst="ellipse">
            <a:avLst/>
          </a:prstGeom>
          <a:solidFill>
            <a:srgbClr val="FFFFFF">
              <a:alpha val="1357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779405" y="898975"/>
            <a:ext cx="10338" cy="10338"/>
          </a:xfrm>
          <a:prstGeom prst="ellipse">
            <a:avLst/>
          </a:prstGeom>
          <a:solidFill>
            <a:srgbClr val="FFFFFF">
              <a:alpha val="26153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0903" y="6093069"/>
            <a:ext cx="9186" cy="9186"/>
          </a:xfrm>
          <a:prstGeom prst="ellipse">
            <a:avLst/>
          </a:prstGeom>
          <a:solidFill>
            <a:srgbClr val="FFFFFF">
              <a:alpha val="21319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558905" y="693181"/>
            <a:ext cx="12166" cy="12166"/>
          </a:xfrm>
          <a:prstGeom prst="ellipse">
            <a:avLst/>
          </a:prstGeom>
          <a:solidFill>
            <a:srgbClr val="FFFFFF">
              <a:alpha val="2467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502936" y="302122"/>
            <a:ext cx="23530" cy="23530"/>
          </a:xfrm>
          <a:prstGeom prst="ellipse">
            <a:avLst/>
          </a:prstGeom>
          <a:solidFill>
            <a:srgbClr val="FFFFFF">
              <a:alpha val="38264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537220" y="529325"/>
            <a:ext cx="19383" cy="19383"/>
          </a:xfrm>
          <a:prstGeom prst="ellipse">
            <a:avLst/>
          </a:prstGeom>
          <a:solidFill>
            <a:srgbClr val="FFFFFF">
              <a:alpha val="36594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314840" y="5566143"/>
            <a:ext cx="16121" cy="16121"/>
          </a:xfrm>
          <a:prstGeom prst="ellipse">
            <a:avLst/>
          </a:prstGeom>
          <a:solidFill>
            <a:srgbClr val="FFFFFF">
              <a:alpha val="17374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04562" y="3734421"/>
            <a:ext cx="20669" cy="20669"/>
          </a:xfrm>
          <a:prstGeom prst="ellipse">
            <a:avLst/>
          </a:prstGeom>
          <a:solidFill>
            <a:srgbClr val="FFFFFF">
              <a:alpha val="14117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26286" y="5130949"/>
            <a:ext cx="15829" cy="15829"/>
          </a:xfrm>
          <a:prstGeom prst="ellipse">
            <a:avLst/>
          </a:prstGeom>
          <a:solidFill>
            <a:srgbClr val="FFFFFF">
              <a:alpha val="25413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786448" y="1779453"/>
            <a:ext cx="23234" cy="23234"/>
          </a:xfrm>
          <a:prstGeom prst="ellipse">
            <a:avLst/>
          </a:prstGeom>
          <a:solidFill>
            <a:srgbClr val="FFFFFF">
              <a:alpha val="11883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815505" y="6359139"/>
            <a:ext cx="19039" cy="19039"/>
          </a:xfrm>
          <a:prstGeom prst="ellipse">
            <a:avLst/>
          </a:prstGeom>
          <a:solidFill>
            <a:srgbClr val="FFFFFF">
              <a:alpha val="24729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754100" y="6588765"/>
            <a:ext cx="9912" cy="9912"/>
          </a:xfrm>
          <a:prstGeom prst="ellipse">
            <a:avLst/>
          </a:prstGeom>
          <a:solidFill>
            <a:srgbClr val="FFFFFF">
              <a:alpha val="9401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773756" y="2020251"/>
            <a:ext cx="21877" cy="21877"/>
          </a:xfrm>
          <a:prstGeom prst="ellipse">
            <a:avLst/>
          </a:prstGeom>
          <a:solidFill>
            <a:srgbClr val="FFFFFF">
              <a:alpha val="31527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007900" y="3641406"/>
            <a:ext cx="14910" cy="14910"/>
          </a:xfrm>
          <a:prstGeom prst="ellipse">
            <a:avLst/>
          </a:prstGeom>
          <a:solidFill>
            <a:srgbClr val="FFFFFF">
              <a:alpha val="33022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784213" y="2626347"/>
            <a:ext cx="20873" cy="20873"/>
          </a:xfrm>
          <a:prstGeom prst="ellipse">
            <a:avLst/>
          </a:prstGeom>
          <a:solidFill>
            <a:srgbClr val="FFFFFF">
              <a:alpha val="15144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078301" y="4648469"/>
            <a:ext cx="22385" cy="22385"/>
          </a:xfrm>
          <a:prstGeom prst="ellipse">
            <a:avLst/>
          </a:prstGeom>
          <a:solidFill>
            <a:srgbClr val="FFFFFF">
              <a:alpha val="10462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611191" y="2246222"/>
            <a:ext cx="14625" cy="14625"/>
          </a:xfrm>
          <a:prstGeom prst="ellipse">
            <a:avLst/>
          </a:prstGeom>
          <a:solidFill>
            <a:srgbClr val="FFFFFF">
              <a:alpha val="24864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246293" y="4547517"/>
            <a:ext cx="18562" cy="18562"/>
          </a:xfrm>
          <a:prstGeom prst="ellipse">
            <a:avLst/>
          </a:prstGeom>
          <a:solidFill>
            <a:srgbClr val="FFFFFF">
              <a:alpha val="25499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268134" y="5035330"/>
            <a:ext cx="19107" cy="19107"/>
          </a:xfrm>
          <a:prstGeom prst="ellipse">
            <a:avLst/>
          </a:prstGeom>
          <a:solidFill>
            <a:srgbClr val="FFFFFF">
              <a:alpha val="10615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052402" y="4475871"/>
            <a:ext cx="19974" cy="19974"/>
          </a:xfrm>
          <a:prstGeom prst="ellipse">
            <a:avLst/>
          </a:prstGeom>
          <a:solidFill>
            <a:srgbClr val="FFFFFF">
              <a:alpha val="22505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716006" y="145407"/>
            <a:ext cx="14237" cy="14237"/>
          </a:xfrm>
          <a:prstGeom prst="ellipse">
            <a:avLst/>
          </a:prstGeom>
          <a:solidFill>
            <a:srgbClr val="FFFFFF">
              <a:alpha val="37913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087188" y="1916029"/>
            <a:ext cx="19085" cy="19085"/>
          </a:xfrm>
          <a:prstGeom prst="ellipse">
            <a:avLst/>
          </a:prstGeom>
          <a:solidFill>
            <a:srgbClr val="FFFFFF">
              <a:alpha val="23954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116501" y="3034710"/>
            <a:ext cx="12399" cy="12399"/>
          </a:xfrm>
          <a:prstGeom prst="ellipse">
            <a:avLst/>
          </a:prstGeom>
          <a:solidFill>
            <a:srgbClr val="FFFFFF">
              <a:alpha val="31027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348962" y="5179727"/>
            <a:ext cx="17885" cy="17885"/>
          </a:xfrm>
          <a:prstGeom prst="ellipse">
            <a:avLst/>
          </a:prstGeom>
          <a:solidFill>
            <a:srgbClr val="FFFFFF">
              <a:alpha val="9899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425708" y="4357417"/>
            <a:ext cx="5802" cy="5802"/>
          </a:xfrm>
          <a:prstGeom prst="ellipse">
            <a:avLst/>
          </a:prstGeom>
          <a:solidFill>
            <a:srgbClr val="FFFFFF">
              <a:alpha val="14934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783063" y="5023455"/>
            <a:ext cx="22349" cy="22349"/>
          </a:xfrm>
          <a:prstGeom prst="ellipse">
            <a:avLst/>
          </a:prstGeom>
          <a:solidFill>
            <a:srgbClr val="FFFFFF">
              <a:alpha val="20933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829019" y="2580747"/>
            <a:ext cx="11686" cy="11686"/>
          </a:xfrm>
          <a:prstGeom prst="ellipse">
            <a:avLst/>
          </a:prstGeom>
          <a:solidFill>
            <a:srgbClr val="FFFFFF">
              <a:alpha val="828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468025" y="1710248"/>
            <a:ext cx="9971" cy="9971"/>
          </a:xfrm>
          <a:prstGeom prst="ellipse">
            <a:avLst/>
          </a:prstGeom>
          <a:solidFill>
            <a:srgbClr val="FFFFFF">
              <a:alpha val="9245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19663" y="1908542"/>
            <a:ext cx="15772" cy="15772"/>
          </a:xfrm>
          <a:prstGeom prst="ellipse">
            <a:avLst/>
          </a:prstGeom>
          <a:solidFill>
            <a:srgbClr val="FFFFFF">
              <a:alpha val="14274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152702" y="1332775"/>
            <a:ext cx="17999" cy="17999"/>
          </a:xfrm>
          <a:prstGeom prst="ellipse">
            <a:avLst/>
          </a:prstGeom>
          <a:solidFill>
            <a:srgbClr val="FFFFFF">
              <a:alpha val="2922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437292" y="1027448"/>
            <a:ext cx="13901" cy="13901"/>
          </a:xfrm>
          <a:prstGeom prst="ellipse">
            <a:avLst/>
          </a:prstGeom>
          <a:solidFill>
            <a:srgbClr val="FFFFFF">
              <a:alpha val="11177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832705" y="2691065"/>
            <a:ext cx="20927" cy="20927"/>
          </a:xfrm>
          <a:prstGeom prst="ellipse">
            <a:avLst/>
          </a:prstGeom>
          <a:solidFill>
            <a:srgbClr val="FFFFFF">
              <a:alpha val="35121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903346" y="5056370"/>
            <a:ext cx="23039" cy="23039"/>
          </a:xfrm>
          <a:prstGeom prst="ellipse">
            <a:avLst/>
          </a:prstGeom>
          <a:solidFill>
            <a:srgbClr val="FFFFFF">
              <a:alpha val="38997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403546" y="5764149"/>
            <a:ext cx="14840" cy="14840"/>
          </a:xfrm>
          <a:prstGeom prst="ellipse">
            <a:avLst/>
          </a:prstGeom>
          <a:solidFill>
            <a:srgbClr val="FFFFFF">
              <a:alpha val="871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29833" y="4186860"/>
            <a:ext cx="7792" cy="7792"/>
          </a:xfrm>
          <a:prstGeom prst="ellipse">
            <a:avLst/>
          </a:prstGeom>
          <a:solidFill>
            <a:srgbClr val="FFFFFF">
              <a:alpha val="26863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847548" y="3183926"/>
            <a:ext cx="7800" cy="7800"/>
          </a:xfrm>
          <a:prstGeom prst="ellipse">
            <a:avLst/>
          </a:prstGeom>
          <a:solidFill>
            <a:srgbClr val="FFFFFF">
              <a:alpha val="15332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317131" y="2148222"/>
            <a:ext cx="15326" cy="15326"/>
          </a:xfrm>
          <a:prstGeom prst="ellipse">
            <a:avLst/>
          </a:prstGeom>
          <a:solidFill>
            <a:srgbClr val="FFFFFF">
              <a:alpha val="1211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711908" y="5543996"/>
            <a:ext cx="22948" cy="22948"/>
          </a:xfrm>
          <a:prstGeom prst="ellipse">
            <a:avLst/>
          </a:prstGeom>
          <a:solidFill>
            <a:srgbClr val="FFFFFF">
              <a:alpha val="12147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992426" y="4802408"/>
            <a:ext cx="14953" cy="14953"/>
          </a:xfrm>
          <a:prstGeom prst="ellipse">
            <a:avLst/>
          </a:prstGeom>
          <a:solidFill>
            <a:srgbClr val="FFFFFF">
              <a:alpha val="34597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377723" y="5366355"/>
            <a:ext cx="16839" cy="16839"/>
          </a:xfrm>
          <a:prstGeom prst="ellipse">
            <a:avLst/>
          </a:prstGeom>
          <a:solidFill>
            <a:srgbClr val="FFFFFF">
              <a:alpha val="16022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177712" y="4767860"/>
            <a:ext cx="6352" cy="6352"/>
          </a:xfrm>
          <a:prstGeom prst="ellipse">
            <a:avLst/>
          </a:prstGeom>
          <a:solidFill>
            <a:srgbClr val="FFFFFF">
              <a:alpha val="24383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2611371" y="5355194"/>
            <a:ext cx="15085" cy="15085"/>
          </a:xfrm>
          <a:prstGeom prst="ellipse">
            <a:avLst/>
          </a:prstGeom>
          <a:solidFill>
            <a:srgbClr val="FFFFFF">
              <a:alpha val="15405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08805" y="376046"/>
            <a:ext cx="16237" cy="16237"/>
          </a:xfrm>
          <a:prstGeom prst="ellipse">
            <a:avLst/>
          </a:prstGeom>
          <a:solidFill>
            <a:srgbClr val="FFFFFF">
              <a:alpha val="37512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147081" y="134682"/>
            <a:ext cx="18152" cy="18152"/>
          </a:xfrm>
          <a:prstGeom prst="ellipse">
            <a:avLst/>
          </a:prstGeom>
          <a:solidFill>
            <a:srgbClr val="FFFFFF">
              <a:alpha val="2278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782466" y="415162"/>
            <a:ext cx="19490" cy="19490"/>
          </a:xfrm>
          <a:prstGeom prst="ellipse">
            <a:avLst/>
          </a:prstGeom>
          <a:solidFill>
            <a:srgbClr val="FFFFFF">
              <a:alpha val="30698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472369" y="547616"/>
            <a:ext cx="23541" cy="23541"/>
          </a:xfrm>
          <a:prstGeom prst="ellipse">
            <a:avLst/>
          </a:prstGeom>
          <a:solidFill>
            <a:srgbClr val="FFFFFF">
              <a:alpha val="26659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554894" y="6615713"/>
            <a:ext cx="18861" cy="18861"/>
          </a:xfrm>
          <a:prstGeom prst="ellipse">
            <a:avLst/>
          </a:prstGeom>
          <a:solidFill>
            <a:srgbClr val="FFFFFF">
              <a:alpha val="2752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025013" y="1806368"/>
            <a:ext cx="22367" cy="22367"/>
          </a:xfrm>
          <a:prstGeom prst="ellipse">
            <a:avLst/>
          </a:prstGeom>
          <a:solidFill>
            <a:srgbClr val="FFFFFF">
              <a:alpha val="26568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326061" y="6527483"/>
            <a:ext cx="7244" cy="7244"/>
          </a:xfrm>
          <a:prstGeom prst="ellipse">
            <a:avLst/>
          </a:prstGeom>
          <a:solidFill>
            <a:srgbClr val="FFFFFF">
              <a:alpha val="1247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408306" y="5596592"/>
            <a:ext cx="11948" cy="11948"/>
          </a:xfrm>
          <a:prstGeom prst="ellipse">
            <a:avLst/>
          </a:prstGeom>
          <a:solidFill>
            <a:srgbClr val="FFFFFF">
              <a:alpha val="3649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132202" y="4195652"/>
            <a:ext cx="6933" cy="6933"/>
          </a:xfrm>
          <a:prstGeom prst="ellipse">
            <a:avLst/>
          </a:prstGeom>
          <a:solidFill>
            <a:srgbClr val="FFFFFF">
              <a:alpha val="9565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071572" y="2547977"/>
            <a:ext cx="14771" cy="14771"/>
          </a:xfrm>
          <a:prstGeom prst="ellipse">
            <a:avLst/>
          </a:prstGeom>
          <a:solidFill>
            <a:srgbClr val="FFFFFF">
              <a:alpha val="37827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797357" y="222827"/>
            <a:ext cx="16799" cy="16799"/>
          </a:xfrm>
          <a:prstGeom prst="ellipse">
            <a:avLst/>
          </a:prstGeom>
          <a:solidFill>
            <a:srgbClr val="FFFFFF">
              <a:alpha val="20834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368166" y="4408529"/>
            <a:ext cx="16429" cy="16429"/>
          </a:xfrm>
          <a:prstGeom prst="ellipse">
            <a:avLst/>
          </a:prstGeom>
          <a:solidFill>
            <a:srgbClr val="FFFFFF">
              <a:alpha val="940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1598464" y="3030286"/>
            <a:ext cx="6315" cy="6315"/>
          </a:xfrm>
          <a:prstGeom prst="ellipse">
            <a:avLst/>
          </a:prstGeom>
          <a:solidFill>
            <a:srgbClr val="FFFFFF">
              <a:alpha val="11394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595360" y="2057400"/>
            <a:ext cx="2743200" cy="914"/>
          </a:xfrm>
          <a:prstGeom prst="line">
            <a:avLst/>
          </a:prstGeom>
          <a:noFill/>
          <a:ln w="17780">
            <a:solidFill>
              <a:srgbClr val="A78BFA">
                <a:alpha val="66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338560" y="2057400"/>
            <a:ext cx="914" cy="2743200"/>
          </a:xfrm>
          <a:prstGeom prst="line">
            <a:avLst/>
          </a:prstGeom>
          <a:noFill/>
          <a:ln w="17780">
            <a:solidFill>
              <a:srgbClr val="A78BFA">
                <a:alpha val="66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8595360" y="4800600"/>
            <a:ext cx="2743200" cy="914"/>
          </a:xfrm>
          <a:prstGeom prst="line">
            <a:avLst/>
          </a:prstGeom>
          <a:noFill/>
          <a:ln w="17780">
            <a:solidFill>
              <a:srgbClr val="A78BFA">
                <a:alpha val="66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8595360" y="2057400"/>
            <a:ext cx="914" cy="2743200"/>
          </a:xfrm>
          <a:prstGeom prst="line">
            <a:avLst/>
          </a:prstGeom>
          <a:noFill/>
          <a:ln w="17780">
            <a:solidFill>
              <a:srgbClr val="A78BFA">
                <a:alpha val="66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630918" y="2338578"/>
            <a:ext cx="1426464" cy="914"/>
          </a:xfrm>
          <a:prstGeom prst="line">
            <a:avLst/>
          </a:prstGeom>
          <a:noFill/>
          <a:ln w="17780">
            <a:solidFill>
              <a:srgbClr val="A78BFA">
                <a:alpha val="66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057382" y="2338578"/>
            <a:ext cx="914" cy="1426464"/>
          </a:xfrm>
          <a:prstGeom prst="line">
            <a:avLst/>
          </a:prstGeom>
          <a:noFill/>
          <a:ln w="17780">
            <a:solidFill>
              <a:srgbClr val="A78BFA">
                <a:alpha val="66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9630918" y="3765042"/>
            <a:ext cx="1426464" cy="914"/>
          </a:xfrm>
          <a:prstGeom prst="line">
            <a:avLst/>
          </a:prstGeom>
          <a:noFill/>
          <a:ln w="17780">
            <a:solidFill>
              <a:srgbClr val="A78BFA">
                <a:alpha val="66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9630918" y="2338578"/>
            <a:ext cx="914" cy="1426464"/>
          </a:xfrm>
          <a:prstGeom prst="line">
            <a:avLst/>
          </a:prstGeom>
          <a:noFill/>
          <a:ln w="17780">
            <a:solidFill>
              <a:srgbClr val="A78BFA">
                <a:alpha val="66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595360" y="2057400"/>
            <a:ext cx="1035558" cy="281178"/>
          </a:xfrm>
          <a:prstGeom prst="line">
            <a:avLst/>
          </a:prstGeom>
          <a:noFill/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11057382" y="2057400"/>
            <a:ext cx="281178" cy="281178"/>
          </a:xfrm>
          <a:prstGeom prst="line">
            <a:avLst/>
          </a:prstGeom>
          <a:noFill/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057382" y="3765042"/>
            <a:ext cx="281178" cy="1035558"/>
          </a:xfrm>
          <a:prstGeom prst="line">
            <a:avLst/>
          </a:prstGeom>
          <a:noFill/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8595360" y="3765042"/>
            <a:ext cx="1035558" cy="1035558"/>
          </a:xfrm>
          <a:prstGeom prst="line">
            <a:avLst/>
          </a:prstGeom>
          <a:noFill/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563356" y="2025396"/>
            <a:ext cx="64008" cy="64008"/>
          </a:xfrm>
          <a:prstGeom prst="ellipse">
            <a:avLst/>
          </a:prstGeom>
          <a:solidFill>
            <a:srgbClr val="A78BFA">
              <a:alpha val="74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1306556" y="2025396"/>
            <a:ext cx="64008" cy="64008"/>
          </a:xfrm>
          <a:prstGeom prst="ellipse">
            <a:avLst/>
          </a:prstGeom>
          <a:solidFill>
            <a:srgbClr val="A78BFA">
              <a:alpha val="74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1306556" y="4768596"/>
            <a:ext cx="64008" cy="64008"/>
          </a:xfrm>
          <a:prstGeom prst="ellipse">
            <a:avLst/>
          </a:prstGeom>
          <a:solidFill>
            <a:srgbClr val="A78BFA">
              <a:alpha val="74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563356" y="4768596"/>
            <a:ext cx="64008" cy="64008"/>
          </a:xfrm>
          <a:prstGeom prst="ellipse">
            <a:avLst/>
          </a:prstGeom>
          <a:solidFill>
            <a:srgbClr val="A78BFA">
              <a:alpha val="74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598914" y="2306574"/>
            <a:ext cx="64008" cy="64008"/>
          </a:xfrm>
          <a:prstGeom prst="ellipse">
            <a:avLst/>
          </a:prstGeom>
          <a:solidFill>
            <a:srgbClr val="A78BFA">
              <a:alpha val="74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11025378" y="2306574"/>
            <a:ext cx="64008" cy="64008"/>
          </a:xfrm>
          <a:prstGeom prst="ellipse">
            <a:avLst/>
          </a:prstGeom>
          <a:solidFill>
            <a:srgbClr val="A78BFA">
              <a:alpha val="74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11025378" y="3733038"/>
            <a:ext cx="64008" cy="64008"/>
          </a:xfrm>
          <a:prstGeom prst="ellipse">
            <a:avLst/>
          </a:prstGeom>
          <a:solidFill>
            <a:srgbClr val="A78BFA">
              <a:alpha val="74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598914" y="3733038"/>
            <a:ext cx="64008" cy="64008"/>
          </a:xfrm>
          <a:prstGeom prst="ellipse">
            <a:avLst/>
          </a:prstGeom>
          <a:solidFill>
            <a:srgbClr val="A78BFA">
              <a:alpha val="74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822960" y="1965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3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777240" y="2377440"/>
            <a:ext cx="8869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Networks &amp; data packets</a:t>
            </a:r>
            <a:endParaRPr lang="en-US" sz="4000" dirty="0"/>
          </a:p>
        </p:txBody>
      </p:sp>
      <p:sp>
        <p:nvSpPr>
          <p:cNvPr id="79" name="Text 77"/>
          <p:cNvSpPr/>
          <p:nvPr/>
        </p:nvSpPr>
        <p:spPr>
          <a:xfrm>
            <a:off x="822960" y="3611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software counts, windows and rolls up streams — sliding-window stats, cumulative ACKs, rate limiting, and telemetry at billions of rows.</a:t>
            </a:r>
            <a:endParaRPr lang="en-US" sz="1700" dirty="0"/>
          </a:p>
        </p:txBody>
      </p:sp>
      <p:sp>
        <p:nvSpPr>
          <p:cNvPr id="80" name="Text 78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958657" cy="310896"/>
          </a:xfrm>
          <a:prstGeom prst="roundRect">
            <a:avLst>
              <a:gd name="adj" fmla="val 50000"/>
            </a:avLst>
          </a:prstGeom>
          <a:solidFill>
            <a:srgbClr val="A78BF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9586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aggregation hides in networking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processing and monitoring are full of running aggregates: sliding-window rates, cumulative byte/ACK counters, moving averages for congestion control, and telemetry roll-ups. These are streaming reductions — a natural home for prefix/closed-form math.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5806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Sliding-window throughput &amp; rate limiting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ACK / bytes-in-flight counters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average/variance for congestion control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&amp; monitoring roll-ups at massive scale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720840" y="1874520"/>
            <a:ext cx="4983480" cy="4023360"/>
          </a:xfrm>
          <a:prstGeom prst="roundRect">
            <a:avLst>
              <a:gd name="adj" fmla="val 2045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95160" y="21031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boundary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13448" y="2743200"/>
            <a:ext cx="4434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Checksums/crypto are data-dependent → no win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 is on aggregate statistics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on range queries over counters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on structured/streamed telemetry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958657" cy="310896"/>
          </a:xfrm>
          <a:prstGeom prst="roundRect">
            <a:avLst>
              <a:gd name="adj" fmla="val 50000"/>
            </a:avLst>
          </a:prstGeom>
          <a:solidFill>
            <a:srgbClr val="A78BF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9586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Sliding-window statistics in O(1)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moving average or variance over a window of W samples is usually recomputed by scanning the window. With a running prefix sum, sliding by one step is a single subtraction and addition — O(1) per update, independent of window size.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5806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mean = (prefix(b) − prefix(a)) / W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the window → one subtract + one add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→ keep Σx and Σx² prefixes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work per packet, any window size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720840" y="1874520"/>
            <a:ext cx="4983480" cy="4023360"/>
          </a:xfrm>
          <a:prstGeom prst="roundRect">
            <a:avLst>
              <a:gd name="adj" fmla="val 2045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03720" y="265176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~5,000×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086600" y="4114800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ops per update for a 10,000-sample moving average (k≈2) — illustrative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958657" cy="310896"/>
          </a:xfrm>
          <a:prstGeom prst="roundRect">
            <a:avLst>
              <a:gd name="adj" fmla="val 50000"/>
            </a:avLst>
          </a:prstGeom>
          <a:solidFill>
            <a:srgbClr val="A78BF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9586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 &amp; monitoring at scale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systems answer “how many / how much between time a and b” over enormous event streams. Precomputed cumulative counters make each range query O(1) — the same shape(b) − shape(a) trick that powers fast dashboards over billions of rows.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5806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roll-up over 10⁹ rows → one subtraction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stay instant as data grows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Per-second counters are structured by nature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with compression: aggregate compact counters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720840" y="1874520"/>
            <a:ext cx="4983480" cy="4023360"/>
          </a:xfrm>
          <a:prstGeom prst="roundRect">
            <a:avLst>
              <a:gd name="adj" fmla="val 2045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03720" y="265176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~5×10⁸×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086600" y="4114800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ops for a range roll-up over 1 billion rows (k≈2) — illustrative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84030" cy="310896"/>
          </a:xfrm>
          <a:prstGeom prst="roundRect">
            <a:avLst>
              <a:gd name="adj" fmla="val 50000"/>
            </a:avLst>
          </a:prstGeom>
          <a:solidFill>
            <a:srgbClr val="A78BF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8840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· NUMBERS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scenarios — illustrative speed-ups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3566160" cy="512064"/>
          </a:xfrm>
          <a:prstGeom prst="roundRect">
            <a:avLst>
              <a:gd name="adj" fmla="val 16071"/>
            </a:avLst>
          </a:prstGeom>
          <a:solidFill>
            <a:srgbClr val="060612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7452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B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scenario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0" y="1874520"/>
            <a:ext cx="1920240" cy="512064"/>
          </a:xfrm>
          <a:prstGeom prst="roundRect">
            <a:avLst>
              <a:gd name="adj" fmla="val 16071"/>
            </a:avLst>
          </a:prstGeom>
          <a:solidFill>
            <a:srgbClr val="1D1F3D"/>
          </a:solidFill>
          <a:ln/>
        </p:spPr>
      </p:sp>
      <p:sp>
        <p:nvSpPr>
          <p:cNvPr id="9" name="Text 7"/>
          <p:cNvSpPr/>
          <p:nvPr/>
        </p:nvSpPr>
        <p:spPr>
          <a:xfrm>
            <a:off x="4224528" y="187452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874520"/>
            <a:ext cx="2011680" cy="512064"/>
          </a:xfrm>
          <a:prstGeom prst="roundRect">
            <a:avLst>
              <a:gd name="adj" fmla="val 16071"/>
            </a:avLst>
          </a:prstGeom>
          <a:solidFill>
            <a:srgbClr val="1D1F3D"/>
          </a:solidFill>
          <a:ln/>
        </p:spPr>
      </p:sp>
      <p:sp>
        <p:nvSpPr>
          <p:cNvPr id="11" name="Text 9"/>
          <p:cNvSpPr/>
          <p:nvPr/>
        </p:nvSpPr>
        <p:spPr>
          <a:xfrm>
            <a:off x="6144768" y="187452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Naïve O(N)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874520"/>
            <a:ext cx="1920240" cy="512064"/>
          </a:xfrm>
          <a:prstGeom prst="roundRect">
            <a:avLst>
              <a:gd name="adj" fmla="val 16071"/>
            </a:avLst>
          </a:prstGeom>
          <a:solidFill>
            <a:srgbClr val="1D1F3D"/>
          </a:solidFill>
          <a:ln/>
        </p:spPr>
      </p:sp>
      <p:sp>
        <p:nvSpPr>
          <p:cNvPr id="13" name="Text 11"/>
          <p:cNvSpPr/>
          <p:nvPr/>
        </p:nvSpPr>
        <p:spPr>
          <a:xfrm>
            <a:off x="8156448" y="187452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OmniFit O(1)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966960" y="1874520"/>
            <a:ext cx="1673352" cy="512064"/>
          </a:xfrm>
          <a:prstGeom prst="roundRect">
            <a:avLst>
              <a:gd name="adj" fmla="val 16071"/>
            </a:avLst>
          </a:prstGeom>
          <a:solidFill>
            <a:srgbClr val="1D1F3D"/>
          </a:solidFill>
          <a:ln/>
        </p:spPr>
      </p:sp>
      <p:sp>
        <p:nvSpPr>
          <p:cNvPr id="15" name="Text 13"/>
          <p:cNvSpPr/>
          <p:nvPr/>
        </p:nvSpPr>
        <p:spPr>
          <a:xfrm>
            <a:off x="10076688" y="1874520"/>
            <a:ext cx="1490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Speed-up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459736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459736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Sliding-window average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0" y="2459736"/>
            <a:ext cx="192024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19" name="Text 17"/>
          <p:cNvSpPr/>
          <p:nvPr/>
        </p:nvSpPr>
        <p:spPr>
          <a:xfrm>
            <a:off x="4224528" y="2459736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= 10,000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2459736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1" name="Text 19"/>
          <p:cNvSpPr/>
          <p:nvPr/>
        </p:nvSpPr>
        <p:spPr>
          <a:xfrm>
            <a:off x="6144768" y="245973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46720" y="2459736"/>
            <a:ext cx="192024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3" name="Text 21"/>
          <p:cNvSpPr/>
          <p:nvPr/>
        </p:nvSpPr>
        <p:spPr>
          <a:xfrm>
            <a:off x="8156448" y="2459736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ops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966960" y="2459736"/>
            <a:ext cx="167335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5" name="Text 23"/>
          <p:cNvSpPr/>
          <p:nvPr/>
        </p:nvSpPr>
        <p:spPr>
          <a:xfrm>
            <a:off x="10076688" y="2459736"/>
            <a:ext cx="1490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~5,000×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026664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026664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variance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14800" y="3026664"/>
            <a:ext cx="192024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9" name="Text 27"/>
          <p:cNvSpPr/>
          <p:nvPr/>
        </p:nvSpPr>
        <p:spPr>
          <a:xfrm>
            <a:off x="4224528" y="3026664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= 10,000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35040" y="3026664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31" name="Text 29"/>
          <p:cNvSpPr/>
          <p:nvPr/>
        </p:nvSpPr>
        <p:spPr>
          <a:xfrm>
            <a:off x="6144768" y="3026664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~20,000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046720" y="3026664"/>
            <a:ext cx="192024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33" name="Text 31"/>
          <p:cNvSpPr/>
          <p:nvPr/>
        </p:nvSpPr>
        <p:spPr>
          <a:xfrm>
            <a:off x="8156448" y="3026664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 ops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966960" y="3026664"/>
            <a:ext cx="167335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35" name="Text 33"/>
          <p:cNvSpPr/>
          <p:nvPr/>
        </p:nvSpPr>
        <p:spPr>
          <a:xfrm>
            <a:off x="10076688" y="3026664"/>
            <a:ext cx="1490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~2,500×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3593592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" y="359359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range roll-up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114800" y="3593592"/>
            <a:ext cx="192024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39" name="Text 37"/>
          <p:cNvSpPr/>
          <p:nvPr/>
        </p:nvSpPr>
        <p:spPr>
          <a:xfrm>
            <a:off x="4224528" y="359359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1,000,000,000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035040" y="3593592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41" name="Text 39"/>
          <p:cNvSpPr/>
          <p:nvPr/>
        </p:nvSpPr>
        <p:spPr>
          <a:xfrm>
            <a:off x="6144768" y="359359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1e9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046720" y="3593592"/>
            <a:ext cx="192024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43" name="Text 41"/>
          <p:cNvSpPr/>
          <p:nvPr/>
        </p:nvSpPr>
        <p:spPr>
          <a:xfrm>
            <a:off x="8156448" y="359359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ops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966960" y="3593592"/>
            <a:ext cx="167335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45" name="Text 43"/>
          <p:cNvSpPr/>
          <p:nvPr/>
        </p:nvSpPr>
        <p:spPr>
          <a:xfrm>
            <a:off x="10076688" y="3593592"/>
            <a:ext cx="1490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~5×10⁸×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4160520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47" name="Text 45"/>
          <p:cNvSpPr/>
          <p:nvPr/>
        </p:nvSpPr>
        <p:spPr>
          <a:xfrm>
            <a:off x="658368" y="4160520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Cumulative-ACK / bytes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114800" y="4160520"/>
            <a:ext cx="192024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49" name="Text 47"/>
          <p:cNvSpPr/>
          <p:nvPr/>
        </p:nvSpPr>
        <p:spPr>
          <a:xfrm>
            <a:off x="4224528" y="416052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 seg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035040" y="4160520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51" name="Text 49"/>
          <p:cNvSpPr/>
          <p:nvPr/>
        </p:nvSpPr>
        <p:spPr>
          <a:xfrm>
            <a:off x="6144768" y="416052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046720" y="4160520"/>
            <a:ext cx="192024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53" name="Text 51"/>
          <p:cNvSpPr/>
          <p:nvPr/>
        </p:nvSpPr>
        <p:spPr>
          <a:xfrm>
            <a:off x="8156448" y="416052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ops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966960" y="4160520"/>
            <a:ext cx="167335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55" name="Text 53"/>
          <p:cNvSpPr/>
          <p:nvPr/>
        </p:nvSpPr>
        <p:spPr>
          <a:xfrm>
            <a:off x="10076688" y="4160520"/>
            <a:ext cx="1490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~50,000×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48640" y="4727448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57" name="Text 55"/>
          <p:cNvSpPr/>
          <p:nvPr/>
        </p:nvSpPr>
        <p:spPr>
          <a:xfrm>
            <a:off x="658368" y="4727448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/ bandwidth window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114800" y="4727448"/>
            <a:ext cx="192024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59" name="Text 57"/>
          <p:cNvSpPr/>
          <p:nvPr/>
        </p:nvSpPr>
        <p:spPr>
          <a:xfrm>
            <a:off x="4224528" y="472744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60,000 samples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035040" y="4727448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61" name="Text 59"/>
          <p:cNvSpPr/>
          <p:nvPr/>
        </p:nvSpPr>
        <p:spPr>
          <a:xfrm>
            <a:off x="6144768" y="472744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60,000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046720" y="4727448"/>
            <a:ext cx="192024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63" name="Text 61"/>
          <p:cNvSpPr/>
          <p:nvPr/>
        </p:nvSpPr>
        <p:spPr>
          <a:xfrm>
            <a:off x="8156448" y="472744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ops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9966960" y="4727448"/>
            <a:ext cx="167335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65" name="Text 63"/>
          <p:cNvSpPr/>
          <p:nvPr/>
        </p:nvSpPr>
        <p:spPr>
          <a:xfrm>
            <a:off x="10076688" y="4727448"/>
            <a:ext cx="1490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~30,000×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Illustrative. Applies to aggregate statistics and range queries over counters/streams — NOT to checksums, encryption or per-byte transforms, which are data-dependent. Throughput gains appear when these aggregates are on the packet-processing critical path.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698955" cy="310896"/>
          </a:xfrm>
          <a:prstGeom prst="roundRect">
            <a:avLst>
              <a:gd name="adj" fmla="val 50000"/>
            </a:avLst>
          </a:prstGeom>
          <a:solidFill>
            <a:srgbClr val="A78BF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6989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· 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— what to remember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57400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05740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are full of running aggregates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53512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95351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95351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windows update in O(1)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49624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849624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849624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needs only Σx and Σx² prefixes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745736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74573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745736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roll-ups = one subtraction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63640" y="2057400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19" name="Text 17"/>
          <p:cNvSpPr/>
          <p:nvPr/>
        </p:nvSpPr>
        <p:spPr>
          <a:xfrm>
            <a:off x="6464808" y="205740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95160" y="205740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stays instant at billions of rows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63640" y="2953512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295351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95160" y="295351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well with compressed counters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63640" y="3849624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25" name="Text 23"/>
          <p:cNvSpPr/>
          <p:nvPr/>
        </p:nvSpPr>
        <p:spPr>
          <a:xfrm>
            <a:off x="6464808" y="3849624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95160" y="3849624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Crypto/checksums are out of scope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263640" y="4745736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28" name="Text 26"/>
          <p:cNvSpPr/>
          <p:nvPr/>
        </p:nvSpPr>
        <p:spPr>
          <a:xfrm>
            <a:off x="6464808" y="474573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95160" y="4745736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aggregate hot paths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77407" y="6428080"/>
            <a:ext cx="11721" cy="11721"/>
          </a:xfrm>
          <a:prstGeom prst="ellipse">
            <a:avLst/>
          </a:prstGeom>
          <a:solidFill>
            <a:srgbClr val="FFFFFF">
              <a:alpha val="26433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257977" y="3078891"/>
            <a:ext cx="21841" cy="21841"/>
          </a:xfrm>
          <a:prstGeom prst="ellipse">
            <a:avLst/>
          </a:prstGeom>
          <a:solidFill>
            <a:srgbClr val="FFFFFF">
              <a:alpha val="1017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818889" y="5792925"/>
            <a:ext cx="11652" cy="11652"/>
          </a:xfrm>
          <a:prstGeom prst="ellipse">
            <a:avLst/>
          </a:prstGeom>
          <a:solidFill>
            <a:srgbClr val="FFFFFF">
              <a:alpha val="27617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172764" y="340574"/>
            <a:ext cx="14924" cy="14924"/>
          </a:xfrm>
          <a:prstGeom prst="ellipse">
            <a:avLst/>
          </a:prstGeom>
          <a:solidFill>
            <a:srgbClr val="FFFFFF">
              <a:alpha val="10691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884111" y="843450"/>
            <a:ext cx="19664" cy="19664"/>
          </a:xfrm>
          <a:prstGeom prst="ellipse">
            <a:avLst/>
          </a:prstGeom>
          <a:solidFill>
            <a:srgbClr val="FFFFFF">
              <a:alpha val="17563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027323" y="2345808"/>
            <a:ext cx="22593" cy="22593"/>
          </a:xfrm>
          <a:prstGeom prst="ellipse">
            <a:avLst/>
          </a:prstGeom>
          <a:solidFill>
            <a:srgbClr val="FFFFFF">
              <a:alpha val="3567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521749" y="436449"/>
            <a:ext cx="8977" cy="8977"/>
          </a:xfrm>
          <a:prstGeom prst="ellipse">
            <a:avLst/>
          </a:prstGeom>
          <a:solidFill>
            <a:srgbClr val="FFFFFF">
              <a:alpha val="29799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733527" y="5121601"/>
            <a:ext cx="5897" cy="5897"/>
          </a:xfrm>
          <a:prstGeom prst="ellipse">
            <a:avLst/>
          </a:prstGeom>
          <a:solidFill>
            <a:srgbClr val="FFFFFF">
              <a:alpha val="21469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48558" y="6332478"/>
            <a:ext cx="14012" cy="14012"/>
          </a:xfrm>
          <a:prstGeom prst="ellipse">
            <a:avLst/>
          </a:prstGeom>
          <a:solidFill>
            <a:srgbClr val="FFFFFF">
              <a:alpha val="2580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291771" y="5310050"/>
            <a:ext cx="21445" cy="21445"/>
          </a:xfrm>
          <a:prstGeom prst="ellipse">
            <a:avLst/>
          </a:prstGeom>
          <a:solidFill>
            <a:srgbClr val="FFFFFF">
              <a:alpha val="38433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724848" y="1594778"/>
            <a:ext cx="17123" cy="17123"/>
          </a:xfrm>
          <a:prstGeom prst="ellipse">
            <a:avLst/>
          </a:prstGeom>
          <a:solidFill>
            <a:srgbClr val="FFFFFF">
              <a:alpha val="27593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455982" y="5313595"/>
            <a:ext cx="20092" cy="20092"/>
          </a:xfrm>
          <a:prstGeom prst="ellipse">
            <a:avLst/>
          </a:prstGeom>
          <a:solidFill>
            <a:srgbClr val="FFFFFF">
              <a:alpha val="3037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449609" y="290249"/>
            <a:ext cx="8945" cy="8945"/>
          </a:xfrm>
          <a:prstGeom prst="ellipse">
            <a:avLst/>
          </a:prstGeom>
          <a:solidFill>
            <a:srgbClr val="FFFFFF">
              <a:alpha val="23045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163265" y="3998502"/>
            <a:ext cx="9122" cy="9122"/>
          </a:xfrm>
          <a:prstGeom prst="ellipse">
            <a:avLst/>
          </a:prstGeom>
          <a:solidFill>
            <a:srgbClr val="FFFFFF">
              <a:alpha val="32105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604233" y="5158343"/>
            <a:ext cx="22584" cy="22584"/>
          </a:xfrm>
          <a:prstGeom prst="ellipse">
            <a:avLst/>
          </a:prstGeom>
          <a:solidFill>
            <a:srgbClr val="FFFFFF">
              <a:alpha val="21645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315126" y="3337828"/>
            <a:ext cx="10763" cy="10763"/>
          </a:xfrm>
          <a:prstGeom prst="ellipse">
            <a:avLst/>
          </a:prstGeom>
          <a:solidFill>
            <a:srgbClr val="FFFFFF">
              <a:alpha val="26867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064330" y="41394"/>
            <a:ext cx="7495" cy="7495"/>
          </a:xfrm>
          <a:prstGeom prst="ellipse">
            <a:avLst/>
          </a:prstGeom>
          <a:solidFill>
            <a:srgbClr val="FFFFFF">
              <a:alpha val="22057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545916" y="1515229"/>
            <a:ext cx="12162" cy="12162"/>
          </a:xfrm>
          <a:prstGeom prst="ellipse">
            <a:avLst/>
          </a:prstGeom>
          <a:solidFill>
            <a:srgbClr val="FFFFFF">
              <a:alpha val="39059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355570" y="4051541"/>
            <a:ext cx="20585" cy="20585"/>
          </a:xfrm>
          <a:prstGeom prst="ellipse">
            <a:avLst/>
          </a:prstGeom>
          <a:solidFill>
            <a:srgbClr val="FFFFFF">
              <a:alpha val="36855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098463" y="1552964"/>
            <a:ext cx="19903" cy="19903"/>
          </a:xfrm>
          <a:prstGeom prst="ellipse">
            <a:avLst/>
          </a:prstGeom>
          <a:solidFill>
            <a:srgbClr val="FFFFFF">
              <a:alpha val="33637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864916" y="3266506"/>
            <a:ext cx="8098" cy="8098"/>
          </a:xfrm>
          <a:prstGeom prst="ellipse">
            <a:avLst/>
          </a:prstGeom>
          <a:solidFill>
            <a:srgbClr val="FFFFFF">
              <a:alpha val="18643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174579" y="4727117"/>
            <a:ext cx="23314" cy="23314"/>
          </a:xfrm>
          <a:prstGeom prst="ellipse">
            <a:avLst/>
          </a:prstGeom>
          <a:solidFill>
            <a:srgbClr val="FFFFFF">
              <a:alpha val="13923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602047" y="5690965"/>
            <a:ext cx="22185" cy="22185"/>
          </a:xfrm>
          <a:prstGeom prst="ellipse">
            <a:avLst/>
          </a:prstGeom>
          <a:solidFill>
            <a:srgbClr val="FFFFFF">
              <a:alpha val="3763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347856" y="8969"/>
            <a:ext cx="12034" cy="12034"/>
          </a:xfrm>
          <a:prstGeom prst="ellipse">
            <a:avLst/>
          </a:prstGeom>
          <a:solidFill>
            <a:srgbClr val="FFFFFF">
              <a:alpha val="13342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004" y="1077131"/>
            <a:ext cx="22145" cy="22145"/>
          </a:xfrm>
          <a:prstGeom prst="ellipse">
            <a:avLst/>
          </a:prstGeom>
          <a:solidFill>
            <a:srgbClr val="FFFFFF">
              <a:alpha val="32805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904861" y="6241417"/>
            <a:ext cx="12777" cy="12777"/>
          </a:xfrm>
          <a:prstGeom prst="ellipse">
            <a:avLst/>
          </a:prstGeom>
          <a:solidFill>
            <a:srgbClr val="FFFFFF">
              <a:alpha val="3578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380603" y="1337915"/>
            <a:ext cx="6837" cy="6837"/>
          </a:xfrm>
          <a:prstGeom prst="ellipse">
            <a:avLst/>
          </a:prstGeom>
          <a:solidFill>
            <a:srgbClr val="FFFFFF">
              <a:alpha val="19068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385068" y="1009877"/>
            <a:ext cx="8468" cy="8468"/>
          </a:xfrm>
          <a:prstGeom prst="ellipse">
            <a:avLst/>
          </a:prstGeom>
          <a:solidFill>
            <a:srgbClr val="FFFFFF">
              <a:alpha val="10399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401643" y="1935697"/>
            <a:ext cx="17482" cy="17482"/>
          </a:xfrm>
          <a:prstGeom prst="ellipse">
            <a:avLst/>
          </a:prstGeom>
          <a:solidFill>
            <a:srgbClr val="FFFFFF">
              <a:alpha val="28023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085998" y="1876999"/>
            <a:ext cx="17909" cy="17909"/>
          </a:xfrm>
          <a:prstGeom prst="ellipse">
            <a:avLst/>
          </a:prstGeom>
          <a:solidFill>
            <a:srgbClr val="FFFFFF">
              <a:alpha val="21717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06453" y="5471672"/>
            <a:ext cx="11255" cy="11255"/>
          </a:xfrm>
          <a:prstGeom prst="ellipse">
            <a:avLst/>
          </a:prstGeom>
          <a:solidFill>
            <a:srgbClr val="FFFFFF">
              <a:alpha val="199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179230" y="4927519"/>
            <a:ext cx="19357" cy="19357"/>
          </a:xfrm>
          <a:prstGeom prst="ellipse">
            <a:avLst/>
          </a:prstGeom>
          <a:solidFill>
            <a:srgbClr val="FFFFFF">
              <a:alpha val="26051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623882" y="5072258"/>
            <a:ext cx="9535" cy="9535"/>
          </a:xfrm>
          <a:prstGeom prst="ellipse">
            <a:avLst/>
          </a:prstGeom>
          <a:solidFill>
            <a:srgbClr val="FFFFFF">
              <a:alpha val="26479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791771" y="4511454"/>
            <a:ext cx="22214" cy="22214"/>
          </a:xfrm>
          <a:prstGeom prst="ellipse">
            <a:avLst/>
          </a:prstGeom>
          <a:solidFill>
            <a:srgbClr val="FFFFFF">
              <a:alpha val="27202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61547" y="4850081"/>
            <a:ext cx="6649" cy="6649"/>
          </a:xfrm>
          <a:prstGeom prst="ellipse">
            <a:avLst/>
          </a:prstGeom>
          <a:solidFill>
            <a:srgbClr val="FFFFFF">
              <a:alpha val="11043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479360" y="2462178"/>
            <a:ext cx="8914" cy="8914"/>
          </a:xfrm>
          <a:prstGeom prst="ellipse">
            <a:avLst/>
          </a:prstGeom>
          <a:solidFill>
            <a:srgbClr val="FFFFFF">
              <a:alpha val="19895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771529" y="294863"/>
            <a:ext cx="8593" cy="8593"/>
          </a:xfrm>
          <a:prstGeom prst="ellipse">
            <a:avLst/>
          </a:prstGeom>
          <a:solidFill>
            <a:srgbClr val="FFFFFF">
              <a:alpha val="38322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771576" y="4509532"/>
            <a:ext cx="18732" cy="18732"/>
          </a:xfrm>
          <a:prstGeom prst="ellipse">
            <a:avLst/>
          </a:prstGeom>
          <a:solidFill>
            <a:srgbClr val="FFFFFF">
              <a:alpha val="33603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696109" y="333649"/>
            <a:ext cx="12065" cy="12065"/>
          </a:xfrm>
          <a:prstGeom prst="ellipse">
            <a:avLst/>
          </a:prstGeom>
          <a:solidFill>
            <a:srgbClr val="FFFFFF">
              <a:alpha val="14424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0412" y="3078477"/>
            <a:ext cx="6618" cy="6618"/>
          </a:xfrm>
          <a:prstGeom prst="ellipse">
            <a:avLst/>
          </a:prstGeom>
          <a:solidFill>
            <a:srgbClr val="FFFFFF">
              <a:alpha val="31929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2869190" y="2691323"/>
            <a:ext cx="7592" cy="7592"/>
          </a:xfrm>
          <a:prstGeom prst="ellipse">
            <a:avLst/>
          </a:prstGeom>
          <a:solidFill>
            <a:srgbClr val="FFFFFF">
              <a:alpha val="33494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068934" y="6097922"/>
            <a:ext cx="9639" cy="9639"/>
          </a:xfrm>
          <a:prstGeom prst="ellipse">
            <a:avLst/>
          </a:prstGeom>
          <a:solidFill>
            <a:srgbClr val="FFFFFF">
              <a:alpha val="3447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35248" y="4547249"/>
            <a:ext cx="16455" cy="16455"/>
          </a:xfrm>
          <a:prstGeom prst="ellipse">
            <a:avLst/>
          </a:prstGeom>
          <a:solidFill>
            <a:srgbClr val="FFFFFF">
              <a:alpha val="22027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826196" y="2843675"/>
            <a:ext cx="22705" cy="22705"/>
          </a:xfrm>
          <a:prstGeom prst="ellipse">
            <a:avLst/>
          </a:prstGeom>
          <a:solidFill>
            <a:srgbClr val="FFFFFF">
              <a:alpha val="9077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112411" y="2549566"/>
            <a:ext cx="6966" cy="6966"/>
          </a:xfrm>
          <a:prstGeom prst="ellipse">
            <a:avLst/>
          </a:prstGeom>
          <a:solidFill>
            <a:srgbClr val="FFFFFF">
              <a:alpha val="19092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394682" y="5440908"/>
            <a:ext cx="22212" cy="22212"/>
          </a:xfrm>
          <a:prstGeom prst="ellipse">
            <a:avLst/>
          </a:prstGeom>
          <a:solidFill>
            <a:srgbClr val="FFFFFF">
              <a:alpha val="26599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181974" y="1009723"/>
            <a:ext cx="17869" cy="17869"/>
          </a:xfrm>
          <a:prstGeom prst="ellipse">
            <a:avLst/>
          </a:prstGeom>
          <a:solidFill>
            <a:srgbClr val="FFFFFF">
              <a:alpha val="3496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674655" y="966363"/>
            <a:ext cx="11133" cy="11133"/>
          </a:xfrm>
          <a:prstGeom prst="ellipse">
            <a:avLst/>
          </a:prstGeom>
          <a:solidFill>
            <a:srgbClr val="FFFFFF">
              <a:alpha val="12761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478252" y="5073658"/>
            <a:ext cx="6394" cy="6394"/>
          </a:xfrm>
          <a:prstGeom prst="ellipse">
            <a:avLst/>
          </a:prstGeom>
          <a:solidFill>
            <a:srgbClr val="FFFFFF">
              <a:alpha val="37073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987821" y="857095"/>
            <a:ext cx="13863" cy="13863"/>
          </a:xfrm>
          <a:prstGeom prst="ellipse">
            <a:avLst/>
          </a:prstGeom>
          <a:solidFill>
            <a:srgbClr val="FFFFFF">
              <a:alpha val="3034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554772" y="2520426"/>
            <a:ext cx="18758" cy="18758"/>
          </a:xfrm>
          <a:prstGeom prst="ellipse">
            <a:avLst/>
          </a:prstGeom>
          <a:solidFill>
            <a:srgbClr val="FFFFFF">
              <a:alpha val="38295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285324" y="1659647"/>
            <a:ext cx="15997" cy="15997"/>
          </a:xfrm>
          <a:prstGeom prst="ellipse">
            <a:avLst/>
          </a:prstGeom>
          <a:solidFill>
            <a:srgbClr val="FFFFFF">
              <a:alpha val="18092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8324" y="36358"/>
            <a:ext cx="5528" cy="5528"/>
          </a:xfrm>
          <a:prstGeom prst="ellipse">
            <a:avLst/>
          </a:prstGeom>
          <a:solidFill>
            <a:srgbClr val="FFFFFF">
              <a:alpha val="19234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988725" y="944133"/>
            <a:ext cx="20237" cy="20237"/>
          </a:xfrm>
          <a:prstGeom prst="ellipse">
            <a:avLst/>
          </a:prstGeom>
          <a:solidFill>
            <a:srgbClr val="FFFFFF">
              <a:alpha val="37489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1492026" y="2156335"/>
            <a:ext cx="17106" cy="17106"/>
          </a:xfrm>
          <a:prstGeom prst="ellipse">
            <a:avLst/>
          </a:prstGeom>
          <a:solidFill>
            <a:srgbClr val="FFFFFF">
              <a:alpha val="17718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595360" y="2057400"/>
            <a:ext cx="2743200" cy="914"/>
          </a:xfrm>
          <a:prstGeom prst="line">
            <a:avLst/>
          </a:prstGeom>
          <a:noFill/>
          <a:ln w="17780">
            <a:solidFill>
              <a:srgbClr val="F5B942">
                <a:alpha val="66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338560" y="2057400"/>
            <a:ext cx="914" cy="2743200"/>
          </a:xfrm>
          <a:prstGeom prst="line">
            <a:avLst/>
          </a:prstGeom>
          <a:noFill/>
          <a:ln w="17780">
            <a:solidFill>
              <a:srgbClr val="F5B942">
                <a:alpha val="66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8595360" y="4800600"/>
            <a:ext cx="2743200" cy="914"/>
          </a:xfrm>
          <a:prstGeom prst="line">
            <a:avLst/>
          </a:prstGeom>
          <a:noFill/>
          <a:ln w="17780">
            <a:solidFill>
              <a:srgbClr val="F5B942">
                <a:alpha val="66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8595360" y="2057400"/>
            <a:ext cx="914" cy="2743200"/>
          </a:xfrm>
          <a:prstGeom prst="line">
            <a:avLst/>
          </a:prstGeom>
          <a:noFill/>
          <a:ln w="17780">
            <a:solidFill>
              <a:srgbClr val="F5B942">
                <a:alpha val="66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630918" y="2338578"/>
            <a:ext cx="1426464" cy="914"/>
          </a:xfrm>
          <a:prstGeom prst="line">
            <a:avLst/>
          </a:prstGeom>
          <a:noFill/>
          <a:ln w="17780">
            <a:solidFill>
              <a:srgbClr val="F5B942">
                <a:alpha val="66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057382" y="2338578"/>
            <a:ext cx="914" cy="1426464"/>
          </a:xfrm>
          <a:prstGeom prst="line">
            <a:avLst/>
          </a:prstGeom>
          <a:noFill/>
          <a:ln w="17780">
            <a:solidFill>
              <a:srgbClr val="F5B942">
                <a:alpha val="66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9630918" y="3765042"/>
            <a:ext cx="1426464" cy="914"/>
          </a:xfrm>
          <a:prstGeom prst="line">
            <a:avLst/>
          </a:prstGeom>
          <a:noFill/>
          <a:ln w="17780">
            <a:solidFill>
              <a:srgbClr val="F5B942">
                <a:alpha val="66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9630918" y="2338578"/>
            <a:ext cx="914" cy="1426464"/>
          </a:xfrm>
          <a:prstGeom prst="line">
            <a:avLst/>
          </a:prstGeom>
          <a:noFill/>
          <a:ln w="17780">
            <a:solidFill>
              <a:srgbClr val="F5B942">
                <a:alpha val="66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595360" y="2057400"/>
            <a:ext cx="1035558" cy="281178"/>
          </a:xfrm>
          <a:prstGeom prst="line">
            <a:avLst/>
          </a:prstGeom>
          <a:noFill/>
          <a:ln w="12700">
            <a:solidFill>
              <a:srgbClr val="F5B942">
                <a:alpha val="44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11057382" y="2057400"/>
            <a:ext cx="281178" cy="281178"/>
          </a:xfrm>
          <a:prstGeom prst="line">
            <a:avLst/>
          </a:prstGeom>
          <a:noFill/>
          <a:ln w="12700">
            <a:solidFill>
              <a:srgbClr val="F5B942">
                <a:alpha val="44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057382" y="3765042"/>
            <a:ext cx="281178" cy="1035558"/>
          </a:xfrm>
          <a:prstGeom prst="line">
            <a:avLst/>
          </a:prstGeom>
          <a:noFill/>
          <a:ln w="12700">
            <a:solidFill>
              <a:srgbClr val="F5B942">
                <a:alpha val="44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8595360" y="3765042"/>
            <a:ext cx="1035558" cy="1035558"/>
          </a:xfrm>
          <a:prstGeom prst="line">
            <a:avLst/>
          </a:prstGeom>
          <a:noFill/>
          <a:ln w="12700">
            <a:solidFill>
              <a:srgbClr val="F5B942">
                <a:alpha val="44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563356" y="2025396"/>
            <a:ext cx="64008" cy="64008"/>
          </a:xfrm>
          <a:prstGeom prst="ellipse">
            <a:avLst/>
          </a:prstGeom>
          <a:solidFill>
            <a:srgbClr val="F5B942">
              <a:alpha val="74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1306556" y="2025396"/>
            <a:ext cx="64008" cy="64008"/>
          </a:xfrm>
          <a:prstGeom prst="ellipse">
            <a:avLst/>
          </a:prstGeom>
          <a:solidFill>
            <a:srgbClr val="F5B942">
              <a:alpha val="74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1306556" y="4768596"/>
            <a:ext cx="64008" cy="64008"/>
          </a:xfrm>
          <a:prstGeom prst="ellipse">
            <a:avLst/>
          </a:prstGeom>
          <a:solidFill>
            <a:srgbClr val="F5B942">
              <a:alpha val="74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563356" y="4768596"/>
            <a:ext cx="64008" cy="64008"/>
          </a:xfrm>
          <a:prstGeom prst="ellipse">
            <a:avLst/>
          </a:prstGeom>
          <a:solidFill>
            <a:srgbClr val="F5B942">
              <a:alpha val="74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598914" y="2306574"/>
            <a:ext cx="64008" cy="64008"/>
          </a:xfrm>
          <a:prstGeom prst="ellipse">
            <a:avLst/>
          </a:prstGeom>
          <a:solidFill>
            <a:srgbClr val="F5B942">
              <a:alpha val="74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11025378" y="2306574"/>
            <a:ext cx="64008" cy="64008"/>
          </a:xfrm>
          <a:prstGeom prst="ellipse">
            <a:avLst/>
          </a:prstGeom>
          <a:solidFill>
            <a:srgbClr val="F5B942">
              <a:alpha val="74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11025378" y="3733038"/>
            <a:ext cx="64008" cy="64008"/>
          </a:xfrm>
          <a:prstGeom prst="ellipse">
            <a:avLst/>
          </a:prstGeom>
          <a:solidFill>
            <a:srgbClr val="F5B942">
              <a:alpha val="74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598914" y="3733038"/>
            <a:ext cx="64008" cy="64008"/>
          </a:xfrm>
          <a:prstGeom prst="ellipse">
            <a:avLst/>
          </a:prstGeom>
          <a:solidFill>
            <a:srgbClr val="F5B942">
              <a:alpha val="74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822960" y="1965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40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4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777240" y="2377440"/>
            <a:ext cx="8869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 &amp; firmware</a:t>
            </a:r>
            <a:endParaRPr lang="en-US" sz="4000" dirty="0"/>
          </a:p>
        </p:txBody>
      </p:sp>
      <p:sp>
        <p:nvSpPr>
          <p:cNvPr id="79" name="Text 77"/>
          <p:cNvSpPr/>
          <p:nvPr/>
        </p:nvSpPr>
        <p:spPr>
          <a:xfrm>
            <a:off x="822960" y="3611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tiny microcontrollers the currency is cycles, microjoules and deterministic latency. Fixed-time closed forms are a natural fit for real-time systems.</a:t>
            </a:r>
            <a:endParaRPr lang="en-US" sz="1700" dirty="0"/>
          </a:p>
        </p:txBody>
      </p:sp>
      <p:sp>
        <p:nvSpPr>
          <p:cNvPr id="80" name="Text 78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51194" cy="310896"/>
          </a:xfrm>
          <a:prstGeom prst="roundRect">
            <a:avLst>
              <a:gd name="adj" fmla="val 50000"/>
            </a:avLst>
          </a:prstGeom>
          <a:solidFill>
            <a:srgbClr val="F5B942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0511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embedded loves fixed-time math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microcontroller may lack a fast divider or FPU and must meet hard real-time deadlines. A closed form that runs in a fixed, small number of operations is not just faster — it is deterministic, which is exactly what real-time scheduling needs.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5806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op-count → deterministic, predictable latency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MACs → fewer cycles and microjoules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unbounded loop over a growing buffer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sensor fusion, DSP, control loops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720840" y="1874520"/>
            <a:ext cx="4983480" cy="4023360"/>
          </a:xfrm>
          <a:prstGeom prst="roundRect">
            <a:avLst>
              <a:gd name="adj" fmla="val 2045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03720" y="265176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086600" y="4114800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tiny time every cycle — a real-time guarantee, not just an average speed-up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51194" cy="310896"/>
          </a:xfrm>
          <a:prstGeom prst="roundRect">
            <a:avLst>
              <a:gd name="adj" fmla="val 50000"/>
            </a:avLst>
          </a:prstGeom>
          <a:solidFill>
            <a:srgbClr val="F5B942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0511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fusion, DSP &amp; integral images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the mean and variance of a sensor window, a running filter sum, or an integral image for fast box filters are all prefix/moment computations. On an MCU these collapse from a per-sample loop to a handful of operations per result.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5806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IMU/temperature mean &amp; variance → O(1) moments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filter sums → prefix subtraction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 image → O(1) box-sum queries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Control-loop aggregates in bounded time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720840" y="1874520"/>
            <a:ext cx="4983480" cy="4023360"/>
          </a:xfrm>
          <a:prstGeom prst="roundRect">
            <a:avLst>
              <a:gd name="adj" fmla="val 1364"/>
            </a:avLst>
          </a:prstGeom>
          <a:solidFill>
            <a:srgbClr val="060612"/>
          </a:solidFill>
          <a:ln w="12700">
            <a:solidFill>
              <a:srgbClr val="F5B942">
                <a:alpha val="38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22008" y="2020824"/>
            <a:ext cx="4581144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window of N</a:t>
            </a:r>
            <a:endParaRPr lang="en-US" sz="1800" dirty="0"/>
          </a:p>
          <a:p>
            <a:pPr algn="ctr"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naïve: N MACs per result</a:t>
            </a:r>
            <a:endParaRPr lang="en-US" sz="1800" dirty="0"/>
          </a:p>
          <a:p>
            <a:pPr algn="ctr"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 form: ~8 ops</a:t>
            </a:r>
            <a:endParaRPr lang="en-US" sz="1800" dirty="0"/>
          </a:p>
          <a:p>
            <a:pPr algn="ctr"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⇒ fixed cycles, any 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976567" cy="310896"/>
          </a:xfrm>
          <a:prstGeom prst="roundRect">
            <a:avLst>
              <a:gd name="adj" fmla="val 50000"/>
            </a:avLst>
          </a:prstGeom>
          <a:solidFill>
            <a:srgbClr val="F5B942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9765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· NUMBERS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 scenarios — illustrative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3566160" cy="512064"/>
          </a:xfrm>
          <a:prstGeom prst="roundRect">
            <a:avLst>
              <a:gd name="adj" fmla="val 16071"/>
            </a:avLst>
          </a:prstGeom>
          <a:solidFill>
            <a:srgbClr val="060612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7452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B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 scenario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0" y="1874520"/>
            <a:ext cx="1828800" cy="512064"/>
          </a:xfrm>
          <a:prstGeom prst="roundRect">
            <a:avLst>
              <a:gd name="adj" fmla="val 16071"/>
            </a:avLst>
          </a:prstGeom>
          <a:solidFill>
            <a:srgbClr val="1D1F3D"/>
          </a:solidFill>
          <a:ln/>
        </p:spPr>
      </p:sp>
      <p:sp>
        <p:nvSpPr>
          <p:cNvPr id="9" name="Text 7"/>
          <p:cNvSpPr/>
          <p:nvPr/>
        </p:nvSpPr>
        <p:spPr>
          <a:xfrm>
            <a:off x="4224528" y="187452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1874520"/>
            <a:ext cx="2011680" cy="512064"/>
          </a:xfrm>
          <a:prstGeom prst="roundRect">
            <a:avLst>
              <a:gd name="adj" fmla="val 16071"/>
            </a:avLst>
          </a:prstGeom>
          <a:solidFill>
            <a:srgbClr val="1D1F3D"/>
          </a:solidFill>
          <a:ln/>
        </p:spPr>
      </p:sp>
      <p:sp>
        <p:nvSpPr>
          <p:cNvPr id="11" name="Text 9"/>
          <p:cNvSpPr/>
          <p:nvPr/>
        </p:nvSpPr>
        <p:spPr>
          <a:xfrm>
            <a:off x="6053328" y="187452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Naïve O(N)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1874520"/>
            <a:ext cx="2011680" cy="512064"/>
          </a:xfrm>
          <a:prstGeom prst="roundRect">
            <a:avLst>
              <a:gd name="adj" fmla="val 16071"/>
            </a:avLst>
          </a:prstGeom>
          <a:solidFill>
            <a:srgbClr val="1D1F3D"/>
          </a:solidFill>
          <a:ln/>
        </p:spPr>
      </p:sp>
      <p:sp>
        <p:nvSpPr>
          <p:cNvPr id="13" name="Text 11"/>
          <p:cNvSpPr/>
          <p:nvPr/>
        </p:nvSpPr>
        <p:spPr>
          <a:xfrm>
            <a:off x="8065008" y="187452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OmniFit O(1)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966960" y="1874520"/>
            <a:ext cx="1673352" cy="512064"/>
          </a:xfrm>
          <a:prstGeom prst="roundRect">
            <a:avLst>
              <a:gd name="adj" fmla="val 16071"/>
            </a:avLst>
          </a:prstGeom>
          <a:solidFill>
            <a:srgbClr val="1D1F3D"/>
          </a:solidFill>
          <a:ln/>
        </p:spPr>
      </p:sp>
      <p:sp>
        <p:nvSpPr>
          <p:cNvPr id="15" name="Text 13"/>
          <p:cNvSpPr/>
          <p:nvPr/>
        </p:nvSpPr>
        <p:spPr>
          <a:xfrm>
            <a:off x="10076688" y="1874520"/>
            <a:ext cx="1490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Speed-up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459736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459736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variance (window)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0" y="2459736"/>
            <a:ext cx="182880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19" name="Text 17"/>
          <p:cNvSpPr/>
          <p:nvPr/>
        </p:nvSpPr>
        <p:spPr>
          <a:xfrm>
            <a:off x="4224528" y="2459736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1,024 samples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2459736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1" name="Text 19"/>
          <p:cNvSpPr/>
          <p:nvPr/>
        </p:nvSpPr>
        <p:spPr>
          <a:xfrm>
            <a:off x="6053328" y="245973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1,024 MACs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955280" y="2459736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3" name="Text 21"/>
          <p:cNvSpPr/>
          <p:nvPr/>
        </p:nvSpPr>
        <p:spPr>
          <a:xfrm>
            <a:off x="8065008" y="245973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 ops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966960" y="2459736"/>
            <a:ext cx="167335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5" name="Text 23"/>
          <p:cNvSpPr/>
          <p:nvPr/>
        </p:nvSpPr>
        <p:spPr>
          <a:xfrm>
            <a:off x="10076688" y="2459736"/>
            <a:ext cx="1490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~128×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026664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026664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Integral-image box sum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14800" y="3026664"/>
            <a:ext cx="182880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9" name="Text 27"/>
          <p:cNvSpPr/>
          <p:nvPr/>
        </p:nvSpPr>
        <p:spPr>
          <a:xfrm>
            <a:off x="4224528" y="3026664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256×256 grid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0" y="3026664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31" name="Text 29"/>
          <p:cNvSpPr/>
          <p:nvPr/>
        </p:nvSpPr>
        <p:spPr>
          <a:xfrm>
            <a:off x="6053328" y="3026664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65,536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955280" y="3026664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33" name="Text 31"/>
          <p:cNvSpPr/>
          <p:nvPr/>
        </p:nvSpPr>
        <p:spPr>
          <a:xfrm>
            <a:off x="8065008" y="3026664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~2/query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966960" y="3026664"/>
            <a:ext cx="167335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35" name="Text 33"/>
          <p:cNvSpPr/>
          <p:nvPr/>
        </p:nvSpPr>
        <p:spPr>
          <a:xfrm>
            <a:off x="10076688" y="3026664"/>
            <a:ext cx="1490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~32,000×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3593592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" y="359359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mean per cycle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114800" y="3593592"/>
            <a:ext cx="182880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39" name="Text 37"/>
          <p:cNvSpPr/>
          <p:nvPr/>
        </p:nvSpPr>
        <p:spPr>
          <a:xfrm>
            <a:off x="4224528" y="359359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 samples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943600" y="3593592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41" name="Text 39"/>
          <p:cNvSpPr/>
          <p:nvPr/>
        </p:nvSpPr>
        <p:spPr>
          <a:xfrm>
            <a:off x="6053328" y="359359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955280" y="3593592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43" name="Text 41"/>
          <p:cNvSpPr/>
          <p:nvPr/>
        </p:nvSpPr>
        <p:spPr>
          <a:xfrm>
            <a:off x="8065008" y="359359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 ops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966960" y="3593592"/>
            <a:ext cx="167335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45" name="Text 43"/>
          <p:cNvSpPr/>
          <p:nvPr/>
        </p:nvSpPr>
        <p:spPr>
          <a:xfrm>
            <a:off x="10076688" y="3593592"/>
            <a:ext cx="1490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~128×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4160520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47" name="Text 45"/>
          <p:cNvSpPr/>
          <p:nvPr/>
        </p:nvSpPr>
        <p:spPr>
          <a:xfrm>
            <a:off x="658368" y="4160520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running sum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114800" y="4160520"/>
            <a:ext cx="182880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49" name="Text 47"/>
          <p:cNvSpPr/>
          <p:nvPr/>
        </p:nvSpPr>
        <p:spPr>
          <a:xfrm>
            <a:off x="4224528" y="4160520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4,096 taps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943600" y="4160520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51" name="Text 49"/>
          <p:cNvSpPr/>
          <p:nvPr/>
        </p:nvSpPr>
        <p:spPr>
          <a:xfrm>
            <a:off x="6053328" y="416052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4,096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955280" y="4160520"/>
            <a:ext cx="201168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53" name="Text 51"/>
          <p:cNvSpPr/>
          <p:nvPr/>
        </p:nvSpPr>
        <p:spPr>
          <a:xfrm>
            <a:off x="8065008" y="416052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ops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966960" y="4160520"/>
            <a:ext cx="167335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55" name="Text 53"/>
          <p:cNvSpPr/>
          <p:nvPr/>
        </p:nvSpPr>
        <p:spPr>
          <a:xfrm>
            <a:off x="10076688" y="4160520"/>
            <a:ext cx="1490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~2,000×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48640" y="48737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Illustrative. On MCUs the headline benefit is often deterministic fixed-time latency (a real-time guarantee) and microjoules per result, not only the raw speed-up. Exact for arithmetic/geometric structure; harmonic is approximate with a bound.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791492" cy="310896"/>
          </a:xfrm>
          <a:prstGeom prst="roundRect">
            <a:avLst>
              <a:gd name="adj" fmla="val 50000"/>
            </a:avLst>
          </a:prstGeom>
          <a:solidFill>
            <a:srgbClr val="F5B942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7914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· 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 — what to remember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57400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05740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op-count = deterministic latency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53512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95351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95351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MACs = fewer cycles &amp; microjoules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49624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849624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849624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Moments (mean/variance) in O(1)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745736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74573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745736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 images give O(1) box sums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63640" y="2057400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19" name="Text 17"/>
          <p:cNvSpPr/>
          <p:nvPr/>
        </p:nvSpPr>
        <p:spPr>
          <a:xfrm>
            <a:off x="6464808" y="205740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95160" y="205740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unbounded loops over buffers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63640" y="2953512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295351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95160" y="295351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control loops &amp; DSP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63640" y="3849624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25" name="Text 23"/>
          <p:cNvSpPr/>
          <p:nvPr/>
        </p:nvSpPr>
        <p:spPr>
          <a:xfrm>
            <a:off x="6464808" y="3849624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95160" y="3849624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guarantee is the real prize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263640" y="4745736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28" name="Text 26"/>
          <p:cNvSpPr/>
          <p:nvPr/>
        </p:nvSpPr>
        <p:spPr>
          <a:xfrm>
            <a:off x="6464808" y="474573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95160" y="4745736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the target MCU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3883" y="3709587"/>
            <a:ext cx="8830" cy="8830"/>
          </a:xfrm>
          <a:prstGeom prst="ellipse">
            <a:avLst/>
          </a:prstGeom>
          <a:solidFill>
            <a:srgbClr val="FFFFFF">
              <a:alpha val="33548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8533" y="2964521"/>
            <a:ext cx="7141" cy="7141"/>
          </a:xfrm>
          <a:prstGeom prst="ellipse">
            <a:avLst/>
          </a:prstGeom>
          <a:solidFill>
            <a:srgbClr val="FFFFFF">
              <a:alpha val="1152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28654" y="3238947"/>
            <a:ext cx="18149" cy="18149"/>
          </a:xfrm>
          <a:prstGeom prst="ellipse">
            <a:avLst/>
          </a:prstGeom>
          <a:solidFill>
            <a:srgbClr val="FFFFFF">
              <a:alpha val="29287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435307" y="2850167"/>
            <a:ext cx="16282" cy="16282"/>
          </a:xfrm>
          <a:prstGeom prst="ellipse">
            <a:avLst/>
          </a:prstGeom>
          <a:solidFill>
            <a:srgbClr val="FFFFFF">
              <a:alpha val="10887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614501" y="6573636"/>
            <a:ext cx="17764" cy="17764"/>
          </a:xfrm>
          <a:prstGeom prst="ellipse">
            <a:avLst/>
          </a:prstGeom>
          <a:solidFill>
            <a:srgbClr val="FFFFFF">
              <a:alpha val="30755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211158" y="3399281"/>
            <a:ext cx="17628" cy="17628"/>
          </a:xfrm>
          <a:prstGeom prst="ellipse">
            <a:avLst/>
          </a:prstGeom>
          <a:solidFill>
            <a:srgbClr val="FFFFFF">
              <a:alpha val="9503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05850" y="1625164"/>
            <a:ext cx="11774" cy="11774"/>
          </a:xfrm>
          <a:prstGeom prst="ellipse">
            <a:avLst/>
          </a:prstGeom>
          <a:solidFill>
            <a:srgbClr val="FFFFFF">
              <a:alpha val="17627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088236" y="6489606"/>
            <a:ext cx="22526" cy="22526"/>
          </a:xfrm>
          <a:prstGeom prst="ellipse">
            <a:avLst/>
          </a:prstGeom>
          <a:solidFill>
            <a:srgbClr val="FFFFFF">
              <a:alpha val="21041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901307" y="3410770"/>
            <a:ext cx="10721" cy="10721"/>
          </a:xfrm>
          <a:prstGeom prst="ellipse">
            <a:avLst/>
          </a:prstGeom>
          <a:solidFill>
            <a:srgbClr val="FFFFFF">
              <a:alpha val="2132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233722" y="5975283"/>
            <a:ext cx="15133" cy="15133"/>
          </a:xfrm>
          <a:prstGeom prst="ellipse">
            <a:avLst/>
          </a:prstGeom>
          <a:solidFill>
            <a:srgbClr val="FFFFFF">
              <a:alpha val="32315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43850" y="6350806"/>
            <a:ext cx="15148" cy="15148"/>
          </a:xfrm>
          <a:prstGeom prst="ellipse">
            <a:avLst/>
          </a:prstGeom>
          <a:solidFill>
            <a:srgbClr val="FFFFFF">
              <a:alpha val="18314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833049" y="4257819"/>
            <a:ext cx="18643" cy="18643"/>
          </a:xfrm>
          <a:prstGeom prst="ellipse">
            <a:avLst/>
          </a:prstGeom>
          <a:solidFill>
            <a:srgbClr val="FFFFFF">
              <a:alpha val="25493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739230" y="398998"/>
            <a:ext cx="11584" cy="11584"/>
          </a:xfrm>
          <a:prstGeom prst="ellipse">
            <a:avLst/>
          </a:prstGeom>
          <a:solidFill>
            <a:srgbClr val="FFFFFF">
              <a:alpha val="38511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694166" y="5501139"/>
            <a:ext cx="13335" cy="13335"/>
          </a:xfrm>
          <a:prstGeom prst="ellipse">
            <a:avLst/>
          </a:prstGeom>
          <a:solidFill>
            <a:srgbClr val="FFFFFF">
              <a:alpha val="34738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412644" y="5809150"/>
            <a:ext cx="7775" cy="7775"/>
          </a:xfrm>
          <a:prstGeom prst="ellipse">
            <a:avLst/>
          </a:prstGeom>
          <a:solidFill>
            <a:srgbClr val="FFFFFF">
              <a:alpha val="3435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245521" y="1094943"/>
            <a:ext cx="18296" cy="18296"/>
          </a:xfrm>
          <a:prstGeom prst="ellipse">
            <a:avLst/>
          </a:prstGeom>
          <a:solidFill>
            <a:srgbClr val="FFFFFF">
              <a:alpha val="26388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85758" y="5420342"/>
            <a:ext cx="7720" cy="7720"/>
          </a:xfrm>
          <a:prstGeom prst="ellipse">
            <a:avLst/>
          </a:prstGeom>
          <a:solidFill>
            <a:srgbClr val="FFFFFF">
              <a:alpha val="37809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252114" y="6290969"/>
            <a:ext cx="7245" cy="7245"/>
          </a:xfrm>
          <a:prstGeom prst="ellipse">
            <a:avLst/>
          </a:prstGeom>
          <a:solidFill>
            <a:srgbClr val="FFFFFF">
              <a:alpha val="24054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810851" y="2520603"/>
            <a:ext cx="6589" cy="6589"/>
          </a:xfrm>
          <a:prstGeom prst="ellipse">
            <a:avLst/>
          </a:prstGeom>
          <a:solidFill>
            <a:srgbClr val="FFFFFF">
              <a:alpha val="33645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957970" y="1043865"/>
            <a:ext cx="19537" cy="19537"/>
          </a:xfrm>
          <a:prstGeom prst="ellipse">
            <a:avLst/>
          </a:prstGeom>
          <a:solidFill>
            <a:srgbClr val="FFFFFF">
              <a:alpha val="8545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722095" y="4789225"/>
            <a:ext cx="6150" cy="6150"/>
          </a:xfrm>
          <a:prstGeom prst="ellipse">
            <a:avLst/>
          </a:prstGeom>
          <a:solidFill>
            <a:srgbClr val="FFFFFF">
              <a:alpha val="18425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906905" y="321098"/>
            <a:ext cx="18924" cy="18924"/>
          </a:xfrm>
          <a:prstGeom prst="ellipse">
            <a:avLst/>
          </a:prstGeom>
          <a:solidFill>
            <a:srgbClr val="FFFFFF">
              <a:alpha val="37811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081921" y="5452882"/>
            <a:ext cx="17354" cy="17354"/>
          </a:xfrm>
          <a:prstGeom prst="ellipse">
            <a:avLst/>
          </a:prstGeom>
          <a:solidFill>
            <a:srgbClr val="FFFFFF">
              <a:alpha val="10297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26573" y="3282800"/>
            <a:ext cx="19198" cy="19198"/>
          </a:xfrm>
          <a:prstGeom prst="ellipse">
            <a:avLst/>
          </a:prstGeom>
          <a:solidFill>
            <a:srgbClr val="FFFFFF">
              <a:alpha val="31022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798015" y="4324225"/>
            <a:ext cx="5820" cy="5820"/>
          </a:xfrm>
          <a:prstGeom prst="ellipse">
            <a:avLst/>
          </a:prstGeom>
          <a:solidFill>
            <a:srgbClr val="FFFFFF">
              <a:alpha val="9845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811600" y="5658579"/>
            <a:ext cx="14418" cy="14418"/>
          </a:xfrm>
          <a:prstGeom prst="ellipse">
            <a:avLst/>
          </a:prstGeom>
          <a:solidFill>
            <a:srgbClr val="FFFFFF">
              <a:alpha val="16612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345207" y="2958592"/>
            <a:ext cx="14806" cy="14806"/>
          </a:xfrm>
          <a:prstGeom prst="ellipse">
            <a:avLst/>
          </a:prstGeom>
          <a:solidFill>
            <a:srgbClr val="FFFFFF">
              <a:alpha val="10128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326333" y="3597396"/>
            <a:ext cx="21970" cy="21970"/>
          </a:xfrm>
          <a:prstGeom prst="ellipse">
            <a:avLst/>
          </a:prstGeom>
          <a:solidFill>
            <a:srgbClr val="FFFFFF">
              <a:alpha val="35041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489924" y="1522073"/>
            <a:ext cx="9606" cy="9606"/>
          </a:xfrm>
          <a:prstGeom prst="ellipse">
            <a:avLst/>
          </a:prstGeom>
          <a:solidFill>
            <a:srgbClr val="FFFFFF">
              <a:alpha val="9737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417498" y="2608851"/>
            <a:ext cx="8862" cy="8862"/>
          </a:xfrm>
          <a:prstGeom prst="ellipse">
            <a:avLst/>
          </a:prstGeom>
          <a:solidFill>
            <a:srgbClr val="FFFFFF">
              <a:alpha val="17205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5608" y="1836468"/>
            <a:ext cx="19290" cy="19290"/>
          </a:xfrm>
          <a:prstGeom prst="ellipse">
            <a:avLst/>
          </a:prstGeom>
          <a:solidFill>
            <a:srgbClr val="FFFFFF">
              <a:alpha val="16875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651096" y="1176492"/>
            <a:ext cx="8361" cy="8361"/>
          </a:xfrm>
          <a:prstGeom prst="ellipse">
            <a:avLst/>
          </a:prstGeom>
          <a:solidFill>
            <a:srgbClr val="FFFFFF">
              <a:alpha val="9659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70478" y="4008903"/>
            <a:ext cx="15434" cy="15434"/>
          </a:xfrm>
          <a:prstGeom prst="ellipse">
            <a:avLst/>
          </a:prstGeom>
          <a:solidFill>
            <a:srgbClr val="FFFFFF">
              <a:alpha val="24271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973055" y="205490"/>
            <a:ext cx="9184" cy="9184"/>
          </a:xfrm>
          <a:prstGeom prst="ellipse">
            <a:avLst/>
          </a:prstGeom>
          <a:solidFill>
            <a:srgbClr val="FFFFFF">
              <a:alpha val="19654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831347" y="1616732"/>
            <a:ext cx="15281" cy="15281"/>
          </a:xfrm>
          <a:prstGeom prst="ellipse">
            <a:avLst/>
          </a:prstGeom>
          <a:solidFill>
            <a:srgbClr val="FFFFFF">
              <a:alpha val="19845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456494" y="6513642"/>
            <a:ext cx="18009" cy="18009"/>
          </a:xfrm>
          <a:prstGeom prst="ellipse">
            <a:avLst/>
          </a:prstGeom>
          <a:solidFill>
            <a:srgbClr val="FFFFFF">
              <a:alpha val="30432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307180" y="3311878"/>
            <a:ext cx="7374" cy="7374"/>
          </a:xfrm>
          <a:prstGeom prst="ellipse">
            <a:avLst/>
          </a:prstGeom>
          <a:solidFill>
            <a:srgbClr val="FFFFFF">
              <a:alpha val="17117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279120" y="3931547"/>
            <a:ext cx="13248" cy="13248"/>
          </a:xfrm>
          <a:prstGeom prst="ellipse">
            <a:avLst/>
          </a:prstGeom>
          <a:solidFill>
            <a:srgbClr val="FFFFFF">
              <a:alpha val="1138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1851423" y="721420"/>
            <a:ext cx="21141" cy="21141"/>
          </a:xfrm>
          <a:prstGeom prst="ellipse">
            <a:avLst/>
          </a:prstGeom>
          <a:solidFill>
            <a:srgbClr val="FFFFFF">
              <a:alpha val="25197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850942" y="2314213"/>
            <a:ext cx="23767" cy="23767"/>
          </a:xfrm>
          <a:prstGeom prst="ellipse">
            <a:avLst/>
          </a:prstGeom>
          <a:solidFill>
            <a:srgbClr val="FFFFFF">
              <a:alpha val="37129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936484" y="307172"/>
            <a:ext cx="17191" cy="17191"/>
          </a:xfrm>
          <a:prstGeom prst="ellipse">
            <a:avLst/>
          </a:prstGeom>
          <a:solidFill>
            <a:srgbClr val="FFFFFF">
              <a:alpha val="1088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90138" y="2092389"/>
            <a:ext cx="10591" cy="10591"/>
          </a:xfrm>
          <a:prstGeom prst="ellipse">
            <a:avLst/>
          </a:prstGeom>
          <a:solidFill>
            <a:srgbClr val="FFFFFF">
              <a:alpha val="29657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35703" y="6717273"/>
            <a:ext cx="9685" cy="9685"/>
          </a:xfrm>
          <a:prstGeom prst="ellipse">
            <a:avLst/>
          </a:prstGeom>
          <a:solidFill>
            <a:srgbClr val="FFFFFF">
              <a:alpha val="886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1659222" y="2498659"/>
            <a:ext cx="20010" cy="20010"/>
          </a:xfrm>
          <a:prstGeom prst="ellipse">
            <a:avLst/>
          </a:prstGeom>
          <a:solidFill>
            <a:srgbClr val="FFFFFF">
              <a:alpha val="35842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788354" y="3509331"/>
            <a:ext cx="15307" cy="15307"/>
          </a:xfrm>
          <a:prstGeom prst="ellipse">
            <a:avLst/>
          </a:prstGeom>
          <a:solidFill>
            <a:srgbClr val="FFFFFF">
              <a:alpha val="21817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87815" y="3955063"/>
            <a:ext cx="12659" cy="12659"/>
          </a:xfrm>
          <a:prstGeom prst="ellipse">
            <a:avLst/>
          </a:prstGeom>
          <a:solidFill>
            <a:srgbClr val="FFFFFF">
              <a:alpha val="37322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775744" y="4471912"/>
            <a:ext cx="7983" cy="7983"/>
          </a:xfrm>
          <a:prstGeom prst="ellipse">
            <a:avLst/>
          </a:prstGeom>
          <a:solidFill>
            <a:srgbClr val="FFFFFF">
              <a:alpha val="21553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219176" y="849432"/>
            <a:ext cx="16484" cy="16484"/>
          </a:xfrm>
          <a:prstGeom prst="ellipse">
            <a:avLst/>
          </a:prstGeom>
          <a:solidFill>
            <a:srgbClr val="FFFFFF">
              <a:alpha val="38359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964840" y="3426165"/>
            <a:ext cx="23597" cy="23597"/>
          </a:xfrm>
          <a:prstGeom prst="ellipse">
            <a:avLst/>
          </a:prstGeom>
          <a:solidFill>
            <a:srgbClr val="FFFFFF">
              <a:alpha val="1561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637761" y="147771"/>
            <a:ext cx="14059" cy="14059"/>
          </a:xfrm>
          <a:prstGeom prst="ellipse">
            <a:avLst/>
          </a:prstGeom>
          <a:solidFill>
            <a:srgbClr val="FFFFFF">
              <a:alpha val="13692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712027" y="2495989"/>
            <a:ext cx="20959" cy="20959"/>
          </a:xfrm>
          <a:prstGeom prst="ellipse">
            <a:avLst/>
          </a:prstGeom>
          <a:solidFill>
            <a:srgbClr val="FFFFFF">
              <a:alpha val="2591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591646" y="2316930"/>
            <a:ext cx="9312" cy="9312"/>
          </a:xfrm>
          <a:prstGeom prst="ellipse">
            <a:avLst/>
          </a:prstGeom>
          <a:solidFill>
            <a:srgbClr val="FFFFFF">
              <a:alpha val="21489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00532" y="4854851"/>
            <a:ext cx="16171" cy="16171"/>
          </a:xfrm>
          <a:prstGeom prst="ellipse">
            <a:avLst/>
          </a:prstGeom>
          <a:solidFill>
            <a:srgbClr val="FFFFFF">
              <a:alpha val="13267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395848" y="3554855"/>
            <a:ext cx="11011" cy="11011"/>
          </a:xfrm>
          <a:prstGeom prst="ellipse">
            <a:avLst/>
          </a:prstGeom>
          <a:solidFill>
            <a:srgbClr val="FFFFFF">
              <a:alpha val="26489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339116" y="4596503"/>
            <a:ext cx="16776" cy="16776"/>
          </a:xfrm>
          <a:prstGeom prst="ellipse">
            <a:avLst/>
          </a:prstGeom>
          <a:solidFill>
            <a:srgbClr val="FFFFFF">
              <a:alpha val="19304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595360" y="2057400"/>
            <a:ext cx="2743200" cy="914"/>
          </a:xfrm>
          <a:prstGeom prst="line">
            <a:avLst/>
          </a:prstGeom>
          <a:noFill/>
          <a:ln w="17780">
            <a:solidFill>
              <a:srgbClr val="FB7185">
                <a:alpha val="66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338560" y="2057400"/>
            <a:ext cx="914" cy="2743200"/>
          </a:xfrm>
          <a:prstGeom prst="line">
            <a:avLst/>
          </a:prstGeom>
          <a:noFill/>
          <a:ln w="17780">
            <a:solidFill>
              <a:srgbClr val="FB7185">
                <a:alpha val="66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8595360" y="4800600"/>
            <a:ext cx="2743200" cy="914"/>
          </a:xfrm>
          <a:prstGeom prst="line">
            <a:avLst/>
          </a:prstGeom>
          <a:noFill/>
          <a:ln w="17780">
            <a:solidFill>
              <a:srgbClr val="FB7185">
                <a:alpha val="66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8595360" y="2057400"/>
            <a:ext cx="914" cy="2743200"/>
          </a:xfrm>
          <a:prstGeom prst="line">
            <a:avLst/>
          </a:prstGeom>
          <a:noFill/>
          <a:ln w="17780">
            <a:solidFill>
              <a:srgbClr val="FB7185">
                <a:alpha val="66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630918" y="2338578"/>
            <a:ext cx="1426464" cy="914"/>
          </a:xfrm>
          <a:prstGeom prst="line">
            <a:avLst/>
          </a:prstGeom>
          <a:noFill/>
          <a:ln w="17780">
            <a:solidFill>
              <a:srgbClr val="FB7185">
                <a:alpha val="66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057382" y="2338578"/>
            <a:ext cx="914" cy="1426464"/>
          </a:xfrm>
          <a:prstGeom prst="line">
            <a:avLst/>
          </a:prstGeom>
          <a:noFill/>
          <a:ln w="17780">
            <a:solidFill>
              <a:srgbClr val="FB7185">
                <a:alpha val="66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9630918" y="3765042"/>
            <a:ext cx="1426464" cy="914"/>
          </a:xfrm>
          <a:prstGeom prst="line">
            <a:avLst/>
          </a:prstGeom>
          <a:noFill/>
          <a:ln w="17780">
            <a:solidFill>
              <a:srgbClr val="FB7185">
                <a:alpha val="66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9630918" y="2338578"/>
            <a:ext cx="914" cy="1426464"/>
          </a:xfrm>
          <a:prstGeom prst="line">
            <a:avLst/>
          </a:prstGeom>
          <a:noFill/>
          <a:ln w="17780">
            <a:solidFill>
              <a:srgbClr val="FB7185">
                <a:alpha val="66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595360" y="2057400"/>
            <a:ext cx="1035558" cy="281178"/>
          </a:xfrm>
          <a:prstGeom prst="line">
            <a:avLst/>
          </a:prstGeom>
          <a:noFill/>
          <a:ln w="12700">
            <a:solidFill>
              <a:srgbClr val="FB7185">
                <a:alpha val="44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11057382" y="2057400"/>
            <a:ext cx="281178" cy="281178"/>
          </a:xfrm>
          <a:prstGeom prst="line">
            <a:avLst/>
          </a:prstGeom>
          <a:noFill/>
          <a:ln w="12700">
            <a:solidFill>
              <a:srgbClr val="FB7185">
                <a:alpha val="44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057382" y="3765042"/>
            <a:ext cx="281178" cy="1035558"/>
          </a:xfrm>
          <a:prstGeom prst="line">
            <a:avLst/>
          </a:prstGeom>
          <a:noFill/>
          <a:ln w="12700">
            <a:solidFill>
              <a:srgbClr val="FB7185">
                <a:alpha val="44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8595360" y="3765042"/>
            <a:ext cx="1035558" cy="1035558"/>
          </a:xfrm>
          <a:prstGeom prst="line">
            <a:avLst/>
          </a:prstGeom>
          <a:noFill/>
          <a:ln w="12700">
            <a:solidFill>
              <a:srgbClr val="FB7185">
                <a:alpha val="44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563356" y="2025396"/>
            <a:ext cx="64008" cy="64008"/>
          </a:xfrm>
          <a:prstGeom prst="ellipse">
            <a:avLst/>
          </a:prstGeom>
          <a:solidFill>
            <a:srgbClr val="FB7185">
              <a:alpha val="74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1306556" y="2025396"/>
            <a:ext cx="64008" cy="64008"/>
          </a:xfrm>
          <a:prstGeom prst="ellipse">
            <a:avLst/>
          </a:prstGeom>
          <a:solidFill>
            <a:srgbClr val="FB7185">
              <a:alpha val="74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1306556" y="4768596"/>
            <a:ext cx="64008" cy="64008"/>
          </a:xfrm>
          <a:prstGeom prst="ellipse">
            <a:avLst/>
          </a:prstGeom>
          <a:solidFill>
            <a:srgbClr val="FB7185">
              <a:alpha val="74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563356" y="4768596"/>
            <a:ext cx="64008" cy="64008"/>
          </a:xfrm>
          <a:prstGeom prst="ellipse">
            <a:avLst/>
          </a:prstGeom>
          <a:solidFill>
            <a:srgbClr val="FB7185">
              <a:alpha val="74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598914" y="2306574"/>
            <a:ext cx="64008" cy="64008"/>
          </a:xfrm>
          <a:prstGeom prst="ellipse">
            <a:avLst/>
          </a:prstGeom>
          <a:solidFill>
            <a:srgbClr val="FB7185">
              <a:alpha val="74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11025378" y="2306574"/>
            <a:ext cx="64008" cy="64008"/>
          </a:xfrm>
          <a:prstGeom prst="ellipse">
            <a:avLst/>
          </a:prstGeom>
          <a:solidFill>
            <a:srgbClr val="FB7185">
              <a:alpha val="74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11025378" y="3733038"/>
            <a:ext cx="64008" cy="64008"/>
          </a:xfrm>
          <a:prstGeom prst="ellipse">
            <a:avLst/>
          </a:prstGeom>
          <a:solidFill>
            <a:srgbClr val="FB7185">
              <a:alpha val="74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598914" y="3733038"/>
            <a:ext cx="64008" cy="64008"/>
          </a:xfrm>
          <a:prstGeom prst="ellipse">
            <a:avLst/>
          </a:prstGeom>
          <a:solidFill>
            <a:srgbClr val="FB7185">
              <a:alpha val="74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822960" y="1965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4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MODES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777240" y="2377440"/>
            <a:ext cx="8869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· improved · auto</a:t>
            </a:r>
            <a:endParaRPr lang="en-US" sz="4000" dirty="0"/>
          </a:p>
        </p:txBody>
      </p:sp>
      <p:sp>
        <p:nvSpPr>
          <p:cNvPr id="79" name="Text 77"/>
          <p:cNvSpPr/>
          <p:nvPr/>
        </p:nvSpPr>
        <p:spPr>
          <a:xfrm>
            <a:off x="822960" y="3611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opportunity falls into one of three categories — a brand-new capability, a drop-in improvement to existing code, or an automatic mode that decides at runtime.</a:t>
            </a:r>
            <a:endParaRPr lang="en-US" sz="1700" dirty="0"/>
          </a:p>
        </p:txBody>
      </p:sp>
      <p:sp>
        <p:nvSpPr>
          <p:cNvPr id="80" name="Text 78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36269" cy="310896"/>
          </a:xfrm>
          <a:prstGeom prst="roundRect">
            <a:avLst>
              <a:gd name="adj" fmla="val 50000"/>
            </a:avLst>
          </a:prstGeom>
          <a:solidFill>
            <a:srgbClr val="FB7185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2362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apply 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86000"/>
            <a:ext cx="3538728" cy="3108960"/>
          </a:xfrm>
          <a:prstGeom prst="roundRect">
            <a:avLst>
              <a:gd name="adj" fmla="val 2647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07108" y="2560320"/>
            <a:ext cx="621792" cy="621792"/>
          </a:xfrm>
          <a:prstGeom prst="ellipse">
            <a:avLst/>
          </a:prstGeom>
          <a:solidFill>
            <a:srgbClr val="A3E635">
              <a:alpha val="18000"/>
            </a:srgbClr>
          </a:solidFill>
          <a:ln w="16510">
            <a:solidFill>
              <a:srgbClr val="A3E6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07108" y="25603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" y="3310128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Brand-new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4023360"/>
            <a:ext cx="3264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that were impractical before: real-time O(1) roll-ups, constant-latency stats at any scale.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9080" y="3611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25112" y="2286000"/>
            <a:ext cx="3538728" cy="3108960"/>
          </a:xfrm>
          <a:prstGeom prst="roundRect">
            <a:avLst>
              <a:gd name="adj" fmla="val 2647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83580" y="2560320"/>
            <a:ext cx="621792" cy="621792"/>
          </a:xfrm>
          <a:prstGeom prst="ellipse">
            <a:avLst/>
          </a:prstGeom>
          <a:solidFill>
            <a:srgbClr val="22D3EE">
              <a:alpha val="18000"/>
            </a:srgbClr>
          </a:solidFill>
          <a:ln w="1651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83580" y="25603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34840" y="3310128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+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62272" y="4023360"/>
            <a:ext cx="3264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speed-ups to reductions/scans already in your code — same result, fewer ops.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45552" y="3611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101584" y="2286000"/>
            <a:ext cx="3538728" cy="3108960"/>
          </a:xfrm>
          <a:prstGeom prst="roundRect">
            <a:avLst>
              <a:gd name="adj" fmla="val 2647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560052" y="2560320"/>
            <a:ext cx="621792" cy="621792"/>
          </a:xfrm>
          <a:prstGeom prst="ellipse">
            <a:avLst/>
          </a:prstGeom>
          <a:solidFill>
            <a:srgbClr val="A78BFA">
              <a:alpha val="18000"/>
            </a:srgbClr>
          </a:solidFill>
          <a:ln w="1651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60052" y="25603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11312" y="3310128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(both)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38744" y="4023360"/>
            <a:ext cx="3264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runtime layer detects structure and picks the closed form, else falls back — safe by default.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 adoption is a blend: auto mode captures existing wins for free and unlocks new capabilities where the structure is strong.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36269" cy="310896"/>
          </a:xfrm>
          <a:prstGeom prst="roundRect">
            <a:avLst>
              <a:gd name="adj" fmla="val 50000"/>
            </a:avLst>
          </a:prstGeom>
          <a:solidFill>
            <a:srgbClr val="A3E635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2362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Brand-new capabilities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things are simply not feasible with O(N) work on the critical path. Constant-time aggregation makes them practical: instant range analytics at billions of rows, constant-latency streaming statistics, and real-time roll-ups inside a frame or a control loop.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5806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analytics over unbounded history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Constant-latency streaming stats (no matter the window)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roll-ups inside a 16 ms frame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on devices too small for a full scan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720840" y="1874520"/>
            <a:ext cx="4983480" cy="4023360"/>
          </a:xfrm>
          <a:prstGeom prst="roundRect">
            <a:avLst>
              <a:gd name="adj" fmla="val 2045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03720" y="265176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N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086600" y="4114800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that no longer grows with data — the enabler for new real-time features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36269" cy="310896"/>
          </a:xfrm>
          <a:prstGeom prst="roundRect">
            <a:avLst>
              <a:gd name="adj" fmla="val 50000"/>
            </a:avLst>
          </a:prstGeom>
          <a:solidFill>
            <a:srgbClr val="22D3EE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2362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Existing-code improvements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safest, broadest category: find reductions and scans already in the codebase that run over structured data, and replace the loop with the closed form. Identical results, fewer operations — a pure efficiency upgrade with no behaviour change.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5806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output, fewer operations — a drop-in swap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totals, offsets, moving windows, roll-ups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or UX change; just less work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Lowest-risk place to start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720840" y="1874520"/>
            <a:ext cx="4983480" cy="4023360"/>
          </a:xfrm>
          <a:prstGeom prst="roundRect">
            <a:avLst>
              <a:gd name="adj" fmla="val 2045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95160" y="21031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first targets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13448" y="2743200"/>
            <a:ext cx="4434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Virtualized list offsets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column roll-ups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averages in pipelines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mean/variance loops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36269" cy="310896"/>
          </a:xfrm>
          <a:prstGeom prst="roundRect">
            <a:avLst>
              <a:gd name="adj" fmla="val 50000"/>
            </a:avLst>
          </a:prstGeom>
          <a:solidFill>
            <a:srgbClr val="A78BF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2362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mode — decide at runtime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layer profiles the data with a cheap structure probe: if the buffer is arithmetic, geometric, harmonic or a clean hybrid, it uses the closed form; otherwise it runs the normal loop. You get the existing wins automatically and the new capabilities wherever structure appears — with a guaranteed correct fallback.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5806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probe classifies the data (AP/GP/HP/hybrid/none)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→ O(1) closed form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→ ordinary O(N), identical result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enable by default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720840" y="1874520"/>
            <a:ext cx="4983480" cy="4023360"/>
          </a:xfrm>
          <a:prstGeom prst="roundRect">
            <a:avLst>
              <a:gd name="adj" fmla="val 1364"/>
            </a:avLst>
          </a:prstGeom>
          <a:solidFill>
            <a:srgbClr val="060612"/>
          </a:solidFill>
          <a:ln w="12700">
            <a:solidFill>
              <a:srgbClr val="A78BFA">
                <a:alpha val="38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22008" y="2020824"/>
            <a:ext cx="4581144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700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probe the data</a:t>
            </a:r>
            <a:endParaRPr lang="en-US" sz="1700" dirty="0"/>
          </a:p>
          <a:p>
            <a:pPr algn="ctr"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700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structured?  → closed form</a:t>
            </a:r>
            <a:endParaRPr lang="en-US" sz="1700" dirty="0"/>
          </a:p>
          <a:p>
            <a:pPr algn="ctr"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700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else            → normal loop</a:t>
            </a:r>
            <a:endParaRPr lang="en-US" sz="1700" dirty="0"/>
          </a:p>
          <a:p>
            <a:pPr algn="ctr"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700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⇒ best of both, always correct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51194" cy="310896"/>
          </a:xfrm>
          <a:prstGeom prst="roundRect">
            <a:avLst>
              <a:gd name="adj" fmla="val 50000"/>
            </a:avLst>
          </a:prstGeom>
          <a:solidFill>
            <a:srgbClr val="FB7185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0511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of a codebase is addressable?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depends on the addressable fraction: how much runtime is reductions/scans, times how much of that is over structured data. These are illustrative ranges by software class — the real number must be profiled per system.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5806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≈ (reduction share) × (structured share)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Data/telemetry-heavy systems score highest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UI-render-heavy or crypto-heavy score lowest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measure before promising a number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720840" y="1874520"/>
            <a:ext cx="4983480" cy="4023360"/>
          </a:xfrm>
          <a:prstGeom prst="roundRect">
            <a:avLst>
              <a:gd name="adj" fmla="val 2045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95160" y="21031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B7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Rough ranges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13448" y="2743200"/>
            <a:ext cx="4434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Data-heavy web/app: ~5–18%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list/stream UI: ~4–17%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telemetry: ~10–32%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sensor/DSP: ~10–45%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976567" cy="310896"/>
          </a:xfrm>
          <a:prstGeom prst="roundRect">
            <a:avLst>
              <a:gd name="adj" fmla="val 50000"/>
            </a:avLst>
          </a:prstGeom>
          <a:solidFill>
            <a:srgbClr val="FB7185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9765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· NUMBERS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Addressable fraction — illustrative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3566160" cy="512064"/>
          </a:xfrm>
          <a:prstGeom prst="roundRect">
            <a:avLst>
              <a:gd name="adj" fmla="val 16071"/>
            </a:avLst>
          </a:prstGeom>
          <a:solidFill>
            <a:srgbClr val="060612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7452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B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class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0" y="1874520"/>
            <a:ext cx="2514600" cy="512064"/>
          </a:xfrm>
          <a:prstGeom prst="roundRect">
            <a:avLst>
              <a:gd name="adj" fmla="val 16071"/>
            </a:avLst>
          </a:prstGeom>
          <a:solidFill>
            <a:srgbClr val="1D1F3D"/>
          </a:solidFill>
          <a:ln/>
        </p:spPr>
      </p:sp>
      <p:sp>
        <p:nvSpPr>
          <p:cNvPr id="9" name="Text 7"/>
          <p:cNvSpPr/>
          <p:nvPr/>
        </p:nvSpPr>
        <p:spPr>
          <a:xfrm>
            <a:off x="4224528" y="187452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Reduction share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29400" y="1874520"/>
            <a:ext cx="2514600" cy="512064"/>
          </a:xfrm>
          <a:prstGeom prst="roundRect">
            <a:avLst>
              <a:gd name="adj" fmla="val 16071"/>
            </a:avLst>
          </a:prstGeom>
          <a:solidFill>
            <a:srgbClr val="1D1F3D"/>
          </a:solidFill>
          <a:ln/>
        </p:spPr>
      </p:sp>
      <p:sp>
        <p:nvSpPr>
          <p:cNvPr id="11" name="Text 9"/>
          <p:cNvSpPr/>
          <p:nvPr/>
        </p:nvSpPr>
        <p:spPr>
          <a:xfrm>
            <a:off x="6739128" y="187452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share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0" y="1874520"/>
            <a:ext cx="2496312" cy="512064"/>
          </a:xfrm>
          <a:prstGeom prst="roundRect">
            <a:avLst>
              <a:gd name="adj" fmla="val 16071"/>
            </a:avLst>
          </a:prstGeom>
          <a:solidFill>
            <a:srgbClr val="1D1F3D"/>
          </a:solidFill>
          <a:ln/>
        </p:spPr>
      </p:sp>
      <p:sp>
        <p:nvSpPr>
          <p:cNvPr id="13" name="Text 11"/>
          <p:cNvSpPr/>
          <p:nvPr/>
        </p:nvSpPr>
        <p:spPr>
          <a:xfrm>
            <a:off x="9253728" y="1874520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Addressable ≈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459736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59736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Data-heavy web / app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0" y="2459736"/>
            <a:ext cx="251460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17" name="Text 15"/>
          <p:cNvSpPr/>
          <p:nvPr/>
        </p:nvSpPr>
        <p:spPr>
          <a:xfrm>
            <a:off x="4224528" y="2459736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15–30%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29400" y="2459736"/>
            <a:ext cx="251460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19" name="Text 17"/>
          <p:cNvSpPr/>
          <p:nvPr/>
        </p:nvSpPr>
        <p:spPr>
          <a:xfrm>
            <a:off x="6739128" y="2459736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30–60%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0" y="2459736"/>
            <a:ext cx="249631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1" name="Text 19"/>
          <p:cNvSpPr/>
          <p:nvPr/>
        </p:nvSpPr>
        <p:spPr>
          <a:xfrm>
            <a:off x="9253728" y="2459736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~5–18%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026664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3026664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list / stream UI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14800" y="3026664"/>
            <a:ext cx="251460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3026664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10–25%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29400" y="3026664"/>
            <a:ext cx="251460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7" name="Text 25"/>
          <p:cNvSpPr/>
          <p:nvPr/>
        </p:nvSpPr>
        <p:spPr>
          <a:xfrm>
            <a:off x="6739128" y="3026664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40–70%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0" y="3026664"/>
            <a:ext cx="249631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9" name="Text 27"/>
          <p:cNvSpPr/>
          <p:nvPr/>
        </p:nvSpPr>
        <p:spPr>
          <a:xfrm>
            <a:off x="9253728" y="3026664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~4–17%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3593592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359359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telemetry / monitoring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114800" y="3593592"/>
            <a:ext cx="251460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33" name="Text 31"/>
          <p:cNvSpPr/>
          <p:nvPr/>
        </p:nvSpPr>
        <p:spPr>
          <a:xfrm>
            <a:off x="4224528" y="3593592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20–40%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29400" y="3593592"/>
            <a:ext cx="251460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35" name="Text 33"/>
          <p:cNvSpPr/>
          <p:nvPr/>
        </p:nvSpPr>
        <p:spPr>
          <a:xfrm>
            <a:off x="6739128" y="3593592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50–80%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144000" y="3593592"/>
            <a:ext cx="249631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37" name="Text 35"/>
          <p:cNvSpPr/>
          <p:nvPr/>
        </p:nvSpPr>
        <p:spPr>
          <a:xfrm>
            <a:off x="9253728" y="3593592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~10–32%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4160520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" y="4160520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sensor / DSP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114800" y="4160520"/>
            <a:ext cx="251460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41" name="Text 39"/>
          <p:cNvSpPr/>
          <p:nvPr/>
        </p:nvSpPr>
        <p:spPr>
          <a:xfrm>
            <a:off x="4224528" y="416052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20–50%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629400" y="4160520"/>
            <a:ext cx="251460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43" name="Text 41"/>
          <p:cNvSpPr/>
          <p:nvPr/>
        </p:nvSpPr>
        <p:spPr>
          <a:xfrm>
            <a:off x="6739128" y="416052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50–90%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144000" y="4160520"/>
            <a:ext cx="249631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45" name="Text 43"/>
          <p:cNvSpPr/>
          <p:nvPr/>
        </p:nvSpPr>
        <p:spPr>
          <a:xfrm>
            <a:off x="9253728" y="41605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~10–45%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4727448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47" name="Text 45"/>
          <p:cNvSpPr/>
          <p:nvPr/>
        </p:nvSpPr>
        <p:spPr>
          <a:xfrm>
            <a:off x="658368" y="4727448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/ crypto-heavy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114800" y="4727448"/>
            <a:ext cx="251460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49" name="Text 47"/>
          <p:cNvSpPr/>
          <p:nvPr/>
        </p:nvSpPr>
        <p:spPr>
          <a:xfrm>
            <a:off x="4224528" y="4727448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&lt;10%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629400" y="4727448"/>
            <a:ext cx="251460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51" name="Text 49"/>
          <p:cNvSpPr/>
          <p:nvPr/>
        </p:nvSpPr>
        <p:spPr>
          <a:xfrm>
            <a:off x="6739128" y="4727448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144000" y="4727448"/>
            <a:ext cx="249631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53" name="Text 51"/>
          <p:cNvSpPr/>
          <p:nvPr/>
        </p:nvSpPr>
        <p:spPr>
          <a:xfrm>
            <a:off x="9253728" y="472744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~1–4%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ranges only. Addressable ≈ reduction-share × structured-share. This is the fraction of runtime the method can touch — the next slide turns it into an end-to-end number.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328806" cy="310896"/>
          </a:xfrm>
          <a:prstGeom prst="roundRect">
            <a:avLst>
              <a:gd name="adj" fmla="val 50000"/>
            </a:avLst>
          </a:prstGeom>
          <a:solidFill>
            <a:srgbClr val="F5B942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328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CEILING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wins vs end-to-end wins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965960"/>
            <a:ext cx="10149840" cy="2560320"/>
          </a:xfrm>
          <a:prstGeom prst="roundRect">
            <a:avLst>
              <a:gd name="adj" fmla="val 2143"/>
            </a:avLst>
          </a:prstGeom>
          <a:solidFill>
            <a:srgbClr val="060612"/>
          </a:solidFill>
          <a:ln w="12700">
            <a:solidFill>
              <a:srgbClr val="F5B942">
                <a:alpha val="38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07008" y="2112264"/>
            <a:ext cx="974750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2200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speed-up  =  1 / ( (1 − f) + f / s )</a:t>
            </a:r>
            <a:endParaRPr lang="en-US" sz="2200" dirty="0"/>
          </a:p>
          <a:p>
            <a:pPr algn="ctr"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700" i="1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addressable fraction · s = local speed-up (Amdahl’s law)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47548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most important honesty slide. Even a 1000× local speed-up gives only a modest end-to-end gain unless the addressable fraction f is large. The point of the estimates is to find f — because f, not the headline speed-up, decides the real outcome.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97280" y="5943600"/>
            <a:ext cx="1522293" cy="365760"/>
          </a:xfrm>
          <a:prstGeom prst="roundRect">
            <a:avLst>
              <a:gd name="adj" fmla="val 42500"/>
            </a:avLst>
          </a:prstGeom>
          <a:solidFill>
            <a:srgbClr val="F5B942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943600"/>
            <a:ext cx="15222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060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Amdahl’s law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84165" y="5943600"/>
            <a:ext cx="1724193" cy="365760"/>
          </a:xfrm>
          <a:prstGeom prst="roundRect">
            <a:avLst>
              <a:gd name="adj" fmla="val 42500"/>
            </a:avLst>
          </a:prstGeom>
          <a:solidFill>
            <a:srgbClr val="F5B942"/>
          </a:solidFill>
          <a:ln/>
        </p:spPr>
      </p:sp>
      <p:sp>
        <p:nvSpPr>
          <p:cNvPr id="12" name="Text 10"/>
          <p:cNvSpPr/>
          <p:nvPr/>
        </p:nvSpPr>
        <p:spPr>
          <a:xfrm>
            <a:off x="2784165" y="5943600"/>
            <a:ext cx="17241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060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matters most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72950" y="5943600"/>
            <a:ext cx="1825142" cy="365760"/>
          </a:xfrm>
          <a:prstGeom prst="roundRect">
            <a:avLst>
              <a:gd name="adj" fmla="val 42500"/>
            </a:avLst>
          </a:prstGeom>
          <a:solidFill>
            <a:srgbClr val="F5B942"/>
          </a:solidFill>
          <a:ln/>
        </p:spPr>
      </p:sp>
      <p:sp>
        <p:nvSpPr>
          <p:cNvPr id="14" name="Text 12"/>
          <p:cNvSpPr/>
          <p:nvPr/>
        </p:nvSpPr>
        <p:spPr>
          <a:xfrm>
            <a:off x="4672950" y="5943600"/>
            <a:ext cx="18251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060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f first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254179" cy="310896"/>
          </a:xfrm>
          <a:prstGeom prst="roundRect">
            <a:avLst>
              <a:gd name="adj" fmla="val 50000"/>
            </a:avLst>
          </a:prstGeom>
          <a:solidFill>
            <a:srgbClr val="F5B942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2541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CEILING · NUMBERS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speed-up vs addressable fraction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3840480" cy="512064"/>
          </a:xfrm>
          <a:prstGeom prst="roundRect">
            <a:avLst>
              <a:gd name="adj" fmla="val 16071"/>
            </a:avLst>
          </a:prstGeom>
          <a:solidFill>
            <a:srgbClr val="060612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7452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B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Addressable fraction f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874520"/>
            <a:ext cx="3566160" cy="512064"/>
          </a:xfrm>
          <a:prstGeom prst="roundRect">
            <a:avLst>
              <a:gd name="adj" fmla="val 16071"/>
            </a:avLst>
          </a:prstGeom>
          <a:solidFill>
            <a:srgbClr val="1D1F3D"/>
          </a:solidFill>
          <a:ln/>
        </p:spPr>
      </p:sp>
      <p:sp>
        <p:nvSpPr>
          <p:cNvPr id="9" name="Text 7"/>
          <p:cNvSpPr/>
          <p:nvPr/>
        </p:nvSpPr>
        <p:spPr>
          <a:xfrm>
            <a:off x="4498848" y="187452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speed-up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874520"/>
            <a:ext cx="3685032" cy="512064"/>
          </a:xfrm>
          <a:prstGeom prst="roundRect">
            <a:avLst>
              <a:gd name="adj" fmla="val 16071"/>
            </a:avLst>
          </a:prstGeom>
          <a:solidFill>
            <a:srgbClr val="1D1F3D"/>
          </a:solidFill>
          <a:ln/>
        </p:spPr>
      </p:sp>
      <p:sp>
        <p:nvSpPr>
          <p:cNvPr id="11" name="Text 9"/>
          <p:cNvSpPr/>
          <p:nvPr/>
        </p:nvSpPr>
        <p:spPr>
          <a:xfrm>
            <a:off x="8065008" y="1874520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speed-up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459736"/>
            <a:ext cx="384048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459736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9120" y="2459736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15" name="Text 13"/>
          <p:cNvSpPr/>
          <p:nvPr/>
        </p:nvSpPr>
        <p:spPr>
          <a:xfrm>
            <a:off x="4498848" y="2459736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~1000×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2459736"/>
            <a:ext cx="368503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17" name="Text 15"/>
          <p:cNvSpPr/>
          <p:nvPr/>
        </p:nvSpPr>
        <p:spPr>
          <a:xfrm>
            <a:off x="8065008" y="2459736"/>
            <a:ext cx="3502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~1.05×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026664"/>
            <a:ext cx="384048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026664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0" y="3026664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1" name="Text 19"/>
          <p:cNvSpPr/>
          <p:nvPr/>
        </p:nvSpPr>
        <p:spPr>
          <a:xfrm>
            <a:off x="4498848" y="3026664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~1000×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955280" y="3026664"/>
            <a:ext cx="368503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3" name="Text 21"/>
          <p:cNvSpPr/>
          <p:nvPr/>
        </p:nvSpPr>
        <p:spPr>
          <a:xfrm>
            <a:off x="8065008" y="3026664"/>
            <a:ext cx="3502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~1.11×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593592"/>
            <a:ext cx="384048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59359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0" y="3593592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7" name="Text 25"/>
          <p:cNvSpPr/>
          <p:nvPr/>
        </p:nvSpPr>
        <p:spPr>
          <a:xfrm>
            <a:off x="4498848" y="359359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~1000×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55280" y="3593592"/>
            <a:ext cx="368503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9" name="Text 27"/>
          <p:cNvSpPr/>
          <p:nvPr/>
        </p:nvSpPr>
        <p:spPr>
          <a:xfrm>
            <a:off x="8065008" y="3593592"/>
            <a:ext cx="3502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~1.25×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160520"/>
            <a:ext cx="384048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4160520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89120" y="4160520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33" name="Text 31"/>
          <p:cNvSpPr/>
          <p:nvPr/>
        </p:nvSpPr>
        <p:spPr>
          <a:xfrm>
            <a:off x="4498848" y="4160520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~1000×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955280" y="4160520"/>
            <a:ext cx="368503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35" name="Text 33"/>
          <p:cNvSpPr/>
          <p:nvPr/>
        </p:nvSpPr>
        <p:spPr>
          <a:xfrm>
            <a:off x="8065008" y="4160520"/>
            <a:ext cx="3502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~1.54×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727448"/>
            <a:ext cx="384048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" y="4727448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389120" y="4727448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39" name="Text 37"/>
          <p:cNvSpPr/>
          <p:nvPr/>
        </p:nvSpPr>
        <p:spPr>
          <a:xfrm>
            <a:off x="4498848" y="4727448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~1000×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955280" y="4727448"/>
            <a:ext cx="368503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41" name="Text 39"/>
          <p:cNvSpPr/>
          <p:nvPr/>
        </p:nvSpPr>
        <p:spPr>
          <a:xfrm>
            <a:off x="8065008" y="4727448"/>
            <a:ext cx="3502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~2.0×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5294376"/>
            <a:ext cx="384048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43" name="Text 41"/>
          <p:cNvSpPr/>
          <p:nvPr/>
        </p:nvSpPr>
        <p:spPr>
          <a:xfrm>
            <a:off x="658368" y="5294376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389120" y="5294376"/>
            <a:ext cx="356616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45" name="Text 43"/>
          <p:cNvSpPr/>
          <p:nvPr/>
        </p:nvSpPr>
        <p:spPr>
          <a:xfrm>
            <a:off x="4498848" y="5294376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~1000×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955280" y="5294376"/>
            <a:ext cx="368503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47" name="Text 45"/>
          <p:cNvSpPr/>
          <p:nvPr/>
        </p:nvSpPr>
        <p:spPr>
          <a:xfrm>
            <a:off x="8065008" y="5294376"/>
            <a:ext cx="3502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~3.3×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48640" y="6007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(s ≈ 1000×). Read it honestly: the structured slice gets dramatically faster, but the whole system speeds up only as much as that slice is large. High-f workloads (telemetry, sensor pipelines) benefit most.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513881" cy="310896"/>
          </a:xfrm>
          <a:prstGeom prst="roundRect">
            <a:avLst>
              <a:gd name="adj" fmla="val 50000"/>
            </a:avLst>
          </a:prstGeom>
          <a:solidFill>
            <a:srgbClr val="F5B942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5138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LEDGER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real — and what is not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5349240" cy="3931920"/>
          </a:xfrm>
          <a:prstGeom prst="roundRect">
            <a:avLst>
              <a:gd name="adj" fmla="val 2093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17627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&amp; defensible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true wins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3154680"/>
            <a:ext cx="47640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aggregates on structured data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for arithmetic &amp; geometric families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fixed-time latency (embedded)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falls with operations on that path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5349240" cy="3931920"/>
          </a:xfrm>
          <a:prstGeom prst="roundRect">
            <a:avLst>
              <a:gd name="adj" fmla="val 2093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217627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claimed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83680" y="267004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overreach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01968" y="3154680"/>
            <a:ext cx="47640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speed-up for rendering, crypto or I/O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“everything gets 1000× faster”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sums are approximate (bounded error)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gain capped by Amdahl’s 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79008" y="3611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6B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87387" y="4634691"/>
            <a:ext cx="15804" cy="15804"/>
          </a:xfrm>
          <a:prstGeom prst="ellipse">
            <a:avLst/>
          </a:prstGeom>
          <a:solidFill>
            <a:srgbClr val="FFFFFF">
              <a:alpha val="28263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807274" y="3185583"/>
            <a:ext cx="11211" cy="11211"/>
          </a:xfrm>
          <a:prstGeom prst="ellipse">
            <a:avLst/>
          </a:prstGeom>
          <a:solidFill>
            <a:srgbClr val="FFFFFF">
              <a:alpha val="9361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820328" y="3850747"/>
            <a:ext cx="21522" cy="21522"/>
          </a:xfrm>
          <a:prstGeom prst="ellipse">
            <a:avLst/>
          </a:prstGeom>
          <a:solidFill>
            <a:srgbClr val="FFFFFF">
              <a:alpha val="3828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031930" y="5122873"/>
            <a:ext cx="9545" cy="9545"/>
          </a:xfrm>
          <a:prstGeom prst="ellipse">
            <a:avLst/>
          </a:prstGeom>
          <a:solidFill>
            <a:srgbClr val="FFFFFF">
              <a:alpha val="29144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864079" y="4247149"/>
            <a:ext cx="23122" cy="23122"/>
          </a:xfrm>
          <a:prstGeom prst="ellipse">
            <a:avLst/>
          </a:prstGeom>
          <a:solidFill>
            <a:srgbClr val="FFFFFF">
              <a:alpha val="15289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15137" y="4421377"/>
            <a:ext cx="6006" cy="6006"/>
          </a:xfrm>
          <a:prstGeom prst="ellipse">
            <a:avLst/>
          </a:prstGeom>
          <a:solidFill>
            <a:srgbClr val="FFFFFF">
              <a:alpha val="23843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872710" y="4315313"/>
            <a:ext cx="6778" cy="6778"/>
          </a:xfrm>
          <a:prstGeom prst="ellipse">
            <a:avLst/>
          </a:prstGeom>
          <a:solidFill>
            <a:srgbClr val="FFFFFF">
              <a:alpha val="1165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8740" y="4486185"/>
            <a:ext cx="17449" cy="17449"/>
          </a:xfrm>
          <a:prstGeom prst="ellipse">
            <a:avLst/>
          </a:prstGeom>
          <a:solidFill>
            <a:srgbClr val="FFFFFF">
              <a:alpha val="240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165852" y="1246448"/>
            <a:ext cx="9067" cy="9067"/>
          </a:xfrm>
          <a:prstGeom prst="ellipse">
            <a:avLst/>
          </a:prstGeom>
          <a:solidFill>
            <a:srgbClr val="FFFFFF">
              <a:alpha val="2167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372471" y="261299"/>
            <a:ext cx="23451" cy="23451"/>
          </a:xfrm>
          <a:prstGeom prst="ellipse">
            <a:avLst/>
          </a:prstGeom>
          <a:solidFill>
            <a:srgbClr val="FFFFFF">
              <a:alpha val="33253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833384" y="4562073"/>
            <a:ext cx="17233" cy="17233"/>
          </a:xfrm>
          <a:prstGeom prst="ellipse">
            <a:avLst/>
          </a:prstGeom>
          <a:solidFill>
            <a:srgbClr val="FFFFFF">
              <a:alpha val="17141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325927" y="6440563"/>
            <a:ext cx="19108" cy="19108"/>
          </a:xfrm>
          <a:prstGeom prst="ellipse">
            <a:avLst/>
          </a:prstGeom>
          <a:solidFill>
            <a:srgbClr val="FFFFFF">
              <a:alpha val="3565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98924" y="5400247"/>
            <a:ext cx="12630" cy="12630"/>
          </a:xfrm>
          <a:prstGeom prst="ellipse">
            <a:avLst/>
          </a:prstGeom>
          <a:solidFill>
            <a:srgbClr val="FFFFFF">
              <a:alpha val="31427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42647" y="6759332"/>
            <a:ext cx="18940" cy="18940"/>
          </a:xfrm>
          <a:prstGeom prst="ellipse">
            <a:avLst/>
          </a:prstGeom>
          <a:solidFill>
            <a:srgbClr val="FFFFFF">
              <a:alpha val="26849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590653" y="6044034"/>
            <a:ext cx="19548" cy="19548"/>
          </a:xfrm>
          <a:prstGeom prst="ellipse">
            <a:avLst/>
          </a:prstGeom>
          <a:solidFill>
            <a:srgbClr val="FFFFFF">
              <a:alpha val="23728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280247" y="5849971"/>
            <a:ext cx="18656" cy="18656"/>
          </a:xfrm>
          <a:prstGeom prst="ellipse">
            <a:avLst/>
          </a:prstGeom>
          <a:solidFill>
            <a:srgbClr val="FFFFFF">
              <a:alpha val="824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16182" y="2921317"/>
            <a:ext cx="19877" cy="19877"/>
          </a:xfrm>
          <a:prstGeom prst="ellipse">
            <a:avLst/>
          </a:prstGeom>
          <a:solidFill>
            <a:srgbClr val="FFFFFF">
              <a:alpha val="11908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510037" y="1194354"/>
            <a:ext cx="13665" cy="13665"/>
          </a:xfrm>
          <a:prstGeom prst="ellipse">
            <a:avLst/>
          </a:prstGeom>
          <a:solidFill>
            <a:srgbClr val="FFFFFF">
              <a:alpha val="11995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339921" y="741015"/>
            <a:ext cx="11841" cy="11841"/>
          </a:xfrm>
          <a:prstGeom prst="ellipse">
            <a:avLst/>
          </a:prstGeom>
          <a:solidFill>
            <a:srgbClr val="FFFFFF">
              <a:alpha val="31721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325789" y="496427"/>
            <a:ext cx="12495" cy="12495"/>
          </a:xfrm>
          <a:prstGeom prst="ellipse">
            <a:avLst/>
          </a:prstGeom>
          <a:solidFill>
            <a:srgbClr val="FFFFFF">
              <a:alpha val="33582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229399" y="3394770"/>
            <a:ext cx="10745" cy="10745"/>
          </a:xfrm>
          <a:prstGeom prst="ellipse">
            <a:avLst/>
          </a:prstGeom>
          <a:solidFill>
            <a:srgbClr val="FFFFFF">
              <a:alpha val="39107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59197" y="1509655"/>
            <a:ext cx="14646" cy="14646"/>
          </a:xfrm>
          <a:prstGeom prst="ellipse">
            <a:avLst/>
          </a:prstGeom>
          <a:solidFill>
            <a:srgbClr val="FFFFFF">
              <a:alpha val="14088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348648" y="137689"/>
            <a:ext cx="11179" cy="11179"/>
          </a:xfrm>
          <a:prstGeom prst="ellipse">
            <a:avLst/>
          </a:prstGeom>
          <a:solidFill>
            <a:srgbClr val="FFFFFF">
              <a:alpha val="12544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051489" y="4062050"/>
            <a:ext cx="6448" cy="6448"/>
          </a:xfrm>
          <a:prstGeom prst="ellipse">
            <a:avLst/>
          </a:prstGeom>
          <a:solidFill>
            <a:srgbClr val="FFFFFF">
              <a:alpha val="20804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290939" y="3965666"/>
            <a:ext cx="5716" cy="5716"/>
          </a:xfrm>
          <a:prstGeom prst="ellipse">
            <a:avLst/>
          </a:prstGeom>
          <a:solidFill>
            <a:srgbClr val="FFFFFF">
              <a:alpha val="31782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816150" y="6746969"/>
            <a:ext cx="19966" cy="19966"/>
          </a:xfrm>
          <a:prstGeom prst="ellipse">
            <a:avLst/>
          </a:prstGeom>
          <a:solidFill>
            <a:srgbClr val="FFFFFF">
              <a:alpha val="265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654351" y="929336"/>
            <a:ext cx="22946" cy="22946"/>
          </a:xfrm>
          <a:prstGeom prst="ellipse">
            <a:avLst/>
          </a:prstGeom>
          <a:solidFill>
            <a:srgbClr val="FFFFFF">
              <a:alpha val="16097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34047" y="1530791"/>
            <a:ext cx="22620" cy="22620"/>
          </a:xfrm>
          <a:prstGeom prst="ellipse">
            <a:avLst/>
          </a:prstGeom>
          <a:solidFill>
            <a:srgbClr val="FFFFFF">
              <a:alpha val="33694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57490" y="5960000"/>
            <a:ext cx="6260" cy="6260"/>
          </a:xfrm>
          <a:prstGeom prst="ellipse">
            <a:avLst/>
          </a:prstGeom>
          <a:solidFill>
            <a:srgbClr val="FFFFFF">
              <a:alpha val="10324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456664" y="5749684"/>
            <a:ext cx="12308" cy="12308"/>
          </a:xfrm>
          <a:prstGeom prst="ellipse">
            <a:avLst/>
          </a:prstGeom>
          <a:solidFill>
            <a:srgbClr val="FFFFFF">
              <a:alpha val="21989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15823" y="5969979"/>
            <a:ext cx="15010" cy="15010"/>
          </a:xfrm>
          <a:prstGeom prst="ellipse">
            <a:avLst/>
          </a:prstGeom>
          <a:solidFill>
            <a:srgbClr val="FFFFFF">
              <a:alpha val="2942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366747" y="1451895"/>
            <a:ext cx="23275" cy="23275"/>
          </a:xfrm>
          <a:prstGeom prst="ellipse">
            <a:avLst/>
          </a:prstGeom>
          <a:solidFill>
            <a:srgbClr val="FFFFFF">
              <a:alpha val="1484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043622" y="6796571"/>
            <a:ext cx="20256" cy="20256"/>
          </a:xfrm>
          <a:prstGeom prst="ellipse">
            <a:avLst/>
          </a:prstGeom>
          <a:solidFill>
            <a:srgbClr val="FFFFFF">
              <a:alpha val="26517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365999" y="3093588"/>
            <a:ext cx="9825" cy="9825"/>
          </a:xfrm>
          <a:prstGeom prst="ellipse">
            <a:avLst/>
          </a:prstGeom>
          <a:solidFill>
            <a:srgbClr val="FFFFFF">
              <a:alpha val="37224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549849" y="5757864"/>
            <a:ext cx="16147" cy="16147"/>
          </a:xfrm>
          <a:prstGeom prst="ellipse">
            <a:avLst/>
          </a:prstGeom>
          <a:solidFill>
            <a:srgbClr val="FFFFFF">
              <a:alpha val="33864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1561082" y="5995747"/>
            <a:ext cx="14502" cy="14502"/>
          </a:xfrm>
          <a:prstGeom prst="ellipse">
            <a:avLst/>
          </a:prstGeom>
          <a:solidFill>
            <a:srgbClr val="FFFFFF">
              <a:alpha val="9588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393985" y="1508668"/>
            <a:ext cx="19362" cy="19362"/>
          </a:xfrm>
          <a:prstGeom prst="ellipse">
            <a:avLst/>
          </a:prstGeom>
          <a:solidFill>
            <a:srgbClr val="FFFFFF">
              <a:alpha val="11313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249964" y="175307"/>
            <a:ext cx="11487" cy="11487"/>
          </a:xfrm>
          <a:prstGeom prst="ellipse">
            <a:avLst/>
          </a:prstGeom>
          <a:solidFill>
            <a:srgbClr val="FFFFFF">
              <a:alpha val="37032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866419" y="6766543"/>
            <a:ext cx="21040" cy="21040"/>
          </a:xfrm>
          <a:prstGeom prst="ellipse">
            <a:avLst/>
          </a:prstGeom>
          <a:solidFill>
            <a:srgbClr val="FFFFFF">
              <a:alpha val="18051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706726" y="4044246"/>
            <a:ext cx="10712" cy="10712"/>
          </a:xfrm>
          <a:prstGeom prst="ellipse">
            <a:avLst/>
          </a:prstGeom>
          <a:solidFill>
            <a:srgbClr val="FFFFFF">
              <a:alpha val="169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37949" y="493598"/>
            <a:ext cx="10443" cy="10443"/>
          </a:xfrm>
          <a:prstGeom prst="ellipse">
            <a:avLst/>
          </a:prstGeom>
          <a:solidFill>
            <a:srgbClr val="FFFFFF">
              <a:alpha val="1058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22165" y="2309072"/>
            <a:ext cx="18634" cy="18634"/>
          </a:xfrm>
          <a:prstGeom prst="ellipse">
            <a:avLst/>
          </a:prstGeom>
          <a:solidFill>
            <a:srgbClr val="FFFFFF">
              <a:alpha val="35107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1174" y="132512"/>
            <a:ext cx="9265" cy="9265"/>
          </a:xfrm>
          <a:prstGeom prst="ellipse">
            <a:avLst/>
          </a:prstGeom>
          <a:solidFill>
            <a:srgbClr val="FFFFFF">
              <a:alpha val="30578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983593" y="6008904"/>
            <a:ext cx="9600" cy="9600"/>
          </a:xfrm>
          <a:prstGeom prst="ellipse">
            <a:avLst/>
          </a:prstGeom>
          <a:solidFill>
            <a:srgbClr val="FFFFFF">
              <a:alpha val="20501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675063" y="4353513"/>
            <a:ext cx="22776" cy="22776"/>
          </a:xfrm>
          <a:prstGeom prst="ellipse">
            <a:avLst/>
          </a:prstGeom>
          <a:solidFill>
            <a:srgbClr val="FFFFFF">
              <a:alpha val="32575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382105" y="2382454"/>
            <a:ext cx="10491" cy="10491"/>
          </a:xfrm>
          <a:prstGeom prst="ellipse">
            <a:avLst/>
          </a:prstGeom>
          <a:solidFill>
            <a:srgbClr val="FFFFFF">
              <a:alpha val="19859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950645" y="22186"/>
            <a:ext cx="14624" cy="14624"/>
          </a:xfrm>
          <a:prstGeom prst="ellipse">
            <a:avLst/>
          </a:prstGeom>
          <a:solidFill>
            <a:srgbClr val="FFFFFF">
              <a:alpha val="20031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503204" y="2762932"/>
            <a:ext cx="19155" cy="19155"/>
          </a:xfrm>
          <a:prstGeom prst="ellipse">
            <a:avLst/>
          </a:prstGeom>
          <a:solidFill>
            <a:srgbClr val="FFFFFF">
              <a:alpha val="31634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1457382" y="4201403"/>
            <a:ext cx="14707" cy="14707"/>
          </a:xfrm>
          <a:prstGeom prst="ellipse">
            <a:avLst/>
          </a:prstGeom>
          <a:solidFill>
            <a:srgbClr val="FFFFFF">
              <a:alpha val="31988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129121" y="660951"/>
            <a:ext cx="10028" cy="10028"/>
          </a:xfrm>
          <a:prstGeom prst="ellipse">
            <a:avLst/>
          </a:prstGeom>
          <a:solidFill>
            <a:srgbClr val="FFFFFF">
              <a:alpha val="28778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2167467" y="382775"/>
            <a:ext cx="10002" cy="10002"/>
          </a:xfrm>
          <a:prstGeom prst="ellipse">
            <a:avLst/>
          </a:prstGeom>
          <a:solidFill>
            <a:srgbClr val="FFFFFF">
              <a:alpha val="32157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4206185" y="5177019"/>
            <a:ext cx="21425" cy="21425"/>
          </a:xfrm>
          <a:prstGeom prst="ellipse">
            <a:avLst/>
          </a:prstGeom>
          <a:solidFill>
            <a:srgbClr val="FFFFFF">
              <a:alpha val="1507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079234" y="6211609"/>
            <a:ext cx="11657" cy="11657"/>
          </a:xfrm>
          <a:prstGeom prst="ellipse">
            <a:avLst/>
          </a:prstGeom>
          <a:solidFill>
            <a:srgbClr val="FFFFFF">
              <a:alpha val="16254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215392" y="6852578"/>
            <a:ext cx="21471" cy="21471"/>
          </a:xfrm>
          <a:prstGeom prst="ellipse">
            <a:avLst/>
          </a:prstGeom>
          <a:solidFill>
            <a:srgbClr val="FFFFFF">
              <a:alpha val="22337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0243828" y="6672241"/>
            <a:ext cx="15818" cy="15818"/>
          </a:xfrm>
          <a:prstGeom prst="ellipse">
            <a:avLst/>
          </a:prstGeom>
          <a:solidFill>
            <a:srgbClr val="FFFFFF">
              <a:alpha val="28235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595360" y="2057400"/>
            <a:ext cx="2743200" cy="914"/>
          </a:xfrm>
          <a:prstGeom prst="line">
            <a:avLst/>
          </a:prstGeom>
          <a:noFill/>
          <a:ln w="17780">
            <a:solidFill>
              <a:srgbClr val="22D3EE">
                <a:alpha val="66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338560" y="2057400"/>
            <a:ext cx="914" cy="2743200"/>
          </a:xfrm>
          <a:prstGeom prst="line">
            <a:avLst/>
          </a:prstGeom>
          <a:noFill/>
          <a:ln w="17780">
            <a:solidFill>
              <a:srgbClr val="22D3EE">
                <a:alpha val="66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8595360" y="4800600"/>
            <a:ext cx="2743200" cy="914"/>
          </a:xfrm>
          <a:prstGeom prst="line">
            <a:avLst/>
          </a:prstGeom>
          <a:noFill/>
          <a:ln w="17780">
            <a:solidFill>
              <a:srgbClr val="22D3EE">
                <a:alpha val="66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8595360" y="2057400"/>
            <a:ext cx="914" cy="2743200"/>
          </a:xfrm>
          <a:prstGeom prst="line">
            <a:avLst/>
          </a:prstGeom>
          <a:noFill/>
          <a:ln w="17780">
            <a:solidFill>
              <a:srgbClr val="22D3EE">
                <a:alpha val="66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630918" y="2338578"/>
            <a:ext cx="1426464" cy="914"/>
          </a:xfrm>
          <a:prstGeom prst="line">
            <a:avLst/>
          </a:prstGeom>
          <a:noFill/>
          <a:ln w="17780">
            <a:solidFill>
              <a:srgbClr val="22D3EE">
                <a:alpha val="66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057382" y="2338578"/>
            <a:ext cx="914" cy="1426464"/>
          </a:xfrm>
          <a:prstGeom prst="line">
            <a:avLst/>
          </a:prstGeom>
          <a:noFill/>
          <a:ln w="17780">
            <a:solidFill>
              <a:srgbClr val="22D3EE">
                <a:alpha val="66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9630918" y="3765042"/>
            <a:ext cx="1426464" cy="914"/>
          </a:xfrm>
          <a:prstGeom prst="line">
            <a:avLst/>
          </a:prstGeom>
          <a:noFill/>
          <a:ln w="17780">
            <a:solidFill>
              <a:srgbClr val="22D3EE">
                <a:alpha val="66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9630918" y="2338578"/>
            <a:ext cx="914" cy="1426464"/>
          </a:xfrm>
          <a:prstGeom prst="line">
            <a:avLst/>
          </a:prstGeom>
          <a:noFill/>
          <a:ln w="17780">
            <a:solidFill>
              <a:srgbClr val="22D3EE">
                <a:alpha val="66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595360" y="2057400"/>
            <a:ext cx="1035558" cy="281178"/>
          </a:xfrm>
          <a:prstGeom prst="line">
            <a:avLst/>
          </a:prstGeom>
          <a:noFill/>
          <a:ln w="12700">
            <a:solidFill>
              <a:srgbClr val="22D3EE">
                <a:alpha val="44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11057382" y="2057400"/>
            <a:ext cx="281178" cy="281178"/>
          </a:xfrm>
          <a:prstGeom prst="line">
            <a:avLst/>
          </a:prstGeom>
          <a:noFill/>
          <a:ln w="12700">
            <a:solidFill>
              <a:srgbClr val="22D3EE">
                <a:alpha val="44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057382" y="3765042"/>
            <a:ext cx="281178" cy="1035558"/>
          </a:xfrm>
          <a:prstGeom prst="line">
            <a:avLst/>
          </a:prstGeom>
          <a:noFill/>
          <a:ln w="12700">
            <a:solidFill>
              <a:srgbClr val="22D3EE">
                <a:alpha val="44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8595360" y="3765042"/>
            <a:ext cx="1035558" cy="1035558"/>
          </a:xfrm>
          <a:prstGeom prst="line">
            <a:avLst/>
          </a:prstGeom>
          <a:noFill/>
          <a:ln w="12700">
            <a:solidFill>
              <a:srgbClr val="22D3EE">
                <a:alpha val="44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563356" y="2025396"/>
            <a:ext cx="64008" cy="64008"/>
          </a:xfrm>
          <a:prstGeom prst="ellipse">
            <a:avLst/>
          </a:prstGeom>
          <a:solidFill>
            <a:srgbClr val="22D3EE">
              <a:alpha val="74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1306556" y="2025396"/>
            <a:ext cx="64008" cy="64008"/>
          </a:xfrm>
          <a:prstGeom prst="ellipse">
            <a:avLst/>
          </a:prstGeom>
          <a:solidFill>
            <a:srgbClr val="22D3EE">
              <a:alpha val="74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1306556" y="4768596"/>
            <a:ext cx="64008" cy="64008"/>
          </a:xfrm>
          <a:prstGeom prst="ellipse">
            <a:avLst/>
          </a:prstGeom>
          <a:solidFill>
            <a:srgbClr val="22D3EE">
              <a:alpha val="74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563356" y="4768596"/>
            <a:ext cx="64008" cy="64008"/>
          </a:xfrm>
          <a:prstGeom prst="ellipse">
            <a:avLst/>
          </a:prstGeom>
          <a:solidFill>
            <a:srgbClr val="22D3EE">
              <a:alpha val="74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598914" y="2306574"/>
            <a:ext cx="64008" cy="64008"/>
          </a:xfrm>
          <a:prstGeom prst="ellipse">
            <a:avLst/>
          </a:prstGeom>
          <a:solidFill>
            <a:srgbClr val="22D3EE">
              <a:alpha val="74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11025378" y="2306574"/>
            <a:ext cx="64008" cy="64008"/>
          </a:xfrm>
          <a:prstGeom prst="ellipse">
            <a:avLst/>
          </a:prstGeom>
          <a:solidFill>
            <a:srgbClr val="22D3EE">
              <a:alpha val="74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11025378" y="3733038"/>
            <a:ext cx="64008" cy="64008"/>
          </a:xfrm>
          <a:prstGeom prst="ellipse">
            <a:avLst/>
          </a:prstGeom>
          <a:solidFill>
            <a:srgbClr val="22D3EE">
              <a:alpha val="74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598914" y="3733038"/>
            <a:ext cx="64008" cy="64008"/>
          </a:xfrm>
          <a:prstGeom prst="ellipse">
            <a:avLst/>
          </a:prstGeom>
          <a:solidFill>
            <a:srgbClr val="22D3EE">
              <a:alpha val="74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822960" y="1965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777240" y="2377440"/>
            <a:ext cx="8869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page loading, frame by frame</a:t>
            </a:r>
            <a:endParaRPr lang="en-US" sz="4000" dirty="0"/>
          </a:p>
        </p:txBody>
      </p:sp>
      <p:sp>
        <p:nvSpPr>
          <p:cNvPr id="79" name="Text 77"/>
          <p:cNvSpPr/>
          <p:nvPr/>
        </p:nvSpPr>
        <p:spPr>
          <a:xfrm>
            <a:off x="822960" y="3611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 at the request-to-pixels timeline, and exactly which steps the formula can and cannot touch.</a:t>
            </a:r>
            <a:endParaRPr lang="en-US" sz="1700" dirty="0"/>
          </a:p>
        </p:txBody>
      </p:sp>
      <p:sp>
        <p:nvSpPr>
          <p:cNvPr id="80" name="Text 78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958657" cy="310896"/>
          </a:xfrm>
          <a:prstGeom prst="roundRect">
            <a:avLst>
              <a:gd name="adj" fmla="val 50000"/>
            </a:avLst>
          </a:prstGeom>
          <a:solidFill>
            <a:srgbClr val="22D3EE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9586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loading timeline — where math lives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request to first paint the browser downloads, parses, styles, lays out, paints and composites. The formula does not touch the network or the GPU — it touches the aggregation inside layout and the app’s own data preparation.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5806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parse: not addressable (I/O bound)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&amp; layout: cumulative-size math IS addressable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&amp; composite: GPU — not addressable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data prep (roll-ups): addressable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720840" y="1874520"/>
            <a:ext cx="4983480" cy="4023360"/>
          </a:xfrm>
          <a:prstGeom prst="roundRect">
            <a:avLst>
              <a:gd name="adj" fmla="val 2045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95160" y="21031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Addressable steps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13448" y="2743200"/>
            <a:ext cx="4434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layout heights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Virtualized-list offsets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Grid/flex track sums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data roll-ups &amp; selectors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84030" cy="310896"/>
          </a:xfrm>
          <a:prstGeom prst="roundRect">
            <a:avLst>
              <a:gd name="adj" fmla="val 50000"/>
            </a:avLst>
          </a:prstGeom>
          <a:solidFill>
            <a:srgbClr val="22D3EE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8840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· NUMBERS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worked page budget — illustrative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3383280" cy="512064"/>
          </a:xfrm>
          <a:prstGeom prst="roundRect">
            <a:avLst>
              <a:gd name="adj" fmla="val 16071"/>
            </a:avLst>
          </a:prstGeom>
          <a:solidFill>
            <a:srgbClr val="060612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7452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B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stage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931920" y="1874520"/>
            <a:ext cx="2651760" cy="512064"/>
          </a:xfrm>
          <a:prstGeom prst="roundRect">
            <a:avLst>
              <a:gd name="adj" fmla="val 16071"/>
            </a:avLst>
          </a:prstGeom>
          <a:solidFill>
            <a:srgbClr val="1D1F3D"/>
          </a:solidFill>
          <a:ln/>
        </p:spPr>
      </p:sp>
      <p:sp>
        <p:nvSpPr>
          <p:cNvPr id="9" name="Text 7"/>
          <p:cNvSpPr/>
          <p:nvPr/>
        </p:nvSpPr>
        <p:spPr>
          <a:xfrm>
            <a:off x="4041648" y="187452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of time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0" y="1874520"/>
            <a:ext cx="2651760" cy="512064"/>
          </a:xfrm>
          <a:prstGeom prst="roundRect">
            <a:avLst>
              <a:gd name="adj" fmla="val 16071"/>
            </a:avLst>
          </a:prstGeom>
          <a:solidFill>
            <a:srgbClr val="1D1F3D"/>
          </a:solidFill>
          <a:ln/>
        </p:spPr>
      </p:sp>
      <p:sp>
        <p:nvSpPr>
          <p:cNvPr id="11" name="Text 9"/>
          <p:cNvSpPr/>
          <p:nvPr/>
        </p:nvSpPr>
        <p:spPr>
          <a:xfrm>
            <a:off x="6693408" y="187452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Addressable?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235440" y="1874520"/>
            <a:ext cx="2404872" cy="512064"/>
          </a:xfrm>
          <a:prstGeom prst="roundRect">
            <a:avLst>
              <a:gd name="adj" fmla="val 16071"/>
            </a:avLst>
          </a:prstGeom>
          <a:solidFill>
            <a:srgbClr val="1D1F3D"/>
          </a:solidFill>
          <a:ln/>
        </p:spPr>
      </p:sp>
      <p:sp>
        <p:nvSpPr>
          <p:cNvPr id="13" name="Text 11"/>
          <p:cNvSpPr/>
          <p:nvPr/>
        </p:nvSpPr>
        <p:spPr>
          <a:xfrm>
            <a:off x="9345168" y="1874520"/>
            <a:ext cx="2221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459736"/>
            <a:ext cx="338328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5973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+ parse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931920" y="2459736"/>
            <a:ext cx="265176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17" name="Text 15"/>
          <p:cNvSpPr/>
          <p:nvPr/>
        </p:nvSpPr>
        <p:spPr>
          <a:xfrm>
            <a:off x="4041648" y="245973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2459736"/>
            <a:ext cx="265176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19" name="Text 17"/>
          <p:cNvSpPr/>
          <p:nvPr/>
        </p:nvSpPr>
        <p:spPr>
          <a:xfrm>
            <a:off x="6693408" y="245973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35440" y="2459736"/>
            <a:ext cx="240487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1" name="Text 19"/>
          <p:cNvSpPr/>
          <p:nvPr/>
        </p:nvSpPr>
        <p:spPr>
          <a:xfrm>
            <a:off x="9345168" y="2459736"/>
            <a:ext cx="2221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026664"/>
            <a:ext cx="338328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3026664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+ layout math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931920" y="3026664"/>
            <a:ext cx="265176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5" name="Text 23"/>
          <p:cNvSpPr/>
          <p:nvPr/>
        </p:nvSpPr>
        <p:spPr>
          <a:xfrm>
            <a:off x="4041648" y="3026664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3026664"/>
            <a:ext cx="265176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7" name="Text 25"/>
          <p:cNvSpPr/>
          <p:nvPr/>
        </p:nvSpPr>
        <p:spPr>
          <a:xfrm>
            <a:off x="6693408" y="3026664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Partly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235440" y="3026664"/>
            <a:ext cx="240487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29" name="Text 27"/>
          <p:cNvSpPr/>
          <p:nvPr/>
        </p:nvSpPr>
        <p:spPr>
          <a:xfrm>
            <a:off x="9345168" y="3026664"/>
            <a:ext cx="2221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re-sums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3593592"/>
            <a:ext cx="338328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3593592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data prep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931920" y="3593592"/>
            <a:ext cx="265176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33" name="Text 31"/>
          <p:cNvSpPr/>
          <p:nvPr/>
        </p:nvSpPr>
        <p:spPr>
          <a:xfrm>
            <a:off x="4041648" y="359359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83680" y="3593592"/>
            <a:ext cx="265176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35" name="Text 33"/>
          <p:cNvSpPr/>
          <p:nvPr/>
        </p:nvSpPr>
        <p:spPr>
          <a:xfrm>
            <a:off x="6693408" y="359359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235440" y="3593592"/>
            <a:ext cx="240487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37" name="Text 35"/>
          <p:cNvSpPr/>
          <p:nvPr/>
        </p:nvSpPr>
        <p:spPr>
          <a:xfrm>
            <a:off x="9345168" y="3593592"/>
            <a:ext cx="2221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 roll-ups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4160520"/>
            <a:ext cx="338328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" y="416052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+ composite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931920" y="4160520"/>
            <a:ext cx="265176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41" name="Text 39"/>
          <p:cNvSpPr/>
          <p:nvPr/>
        </p:nvSpPr>
        <p:spPr>
          <a:xfrm>
            <a:off x="4041648" y="416052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83680" y="4160520"/>
            <a:ext cx="265176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43" name="Text 41"/>
          <p:cNvSpPr/>
          <p:nvPr/>
        </p:nvSpPr>
        <p:spPr>
          <a:xfrm>
            <a:off x="6693408" y="416052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235440" y="4160520"/>
            <a:ext cx="240487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45" name="Text 43"/>
          <p:cNvSpPr/>
          <p:nvPr/>
        </p:nvSpPr>
        <p:spPr>
          <a:xfrm>
            <a:off x="9345168" y="4160520"/>
            <a:ext cx="2221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4727448"/>
            <a:ext cx="3383280" cy="493776"/>
          </a:xfrm>
          <a:prstGeom prst="roundRect">
            <a:avLst>
              <a:gd name="adj" fmla="val 16667"/>
            </a:avLst>
          </a:prstGeom>
          <a:solidFill>
            <a:srgbClr val="15162E"/>
          </a:solidFill>
          <a:ln/>
        </p:spPr>
      </p:sp>
      <p:sp>
        <p:nvSpPr>
          <p:cNvPr id="47" name="Text 45"/>
          <p:cNvSpPr/>
          <p:nvPr/>
        </p:nvSpPr>
        <p:spPr>
          <a:xfrm>
            <a:off x="658368" y="4727448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/ script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931920" y="4727448"/>
            <a:ext cx="265176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49" name="Text 47"/>
          <p:cNvSpPr/>
          <p:nvPr/>
        </p:nvSpPr>
        <p:spPr>
          <a:xfrm>
            <a:off x="4041648" y="4727448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583680" y="4727448"/>
            <a:ext cx="2651760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51" name="Text 49"/>
          <p:cNvSpPr/>
          <p:nvPr/>
        </p:nvSpPr>
        <p:spPr>
          <a:xfrm>
            <a:off x="6693408" y="4727448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Partly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235440" y="4727448"/>
            <a:ext cx="2404872" cy="493776"/>
          </a:xfrm>
          <a:prstGeom prst="roundRect">
            <a:avLst>
              <a:gd name="adj" fmla="val 16667"/>
            </a:avLst>
          </a:prstGeom>
          <a:solidFill>
            <a:srgbClr val="0F1024"/>
          </a:solidFill>
          <a:ln/>
        </p:spPr>
      </p:sp>
      <p:sp>
        <p:nvSpPr>
          <p:cNvPr id="53" name="Text 51"/>
          <p:cNvSpPr/>
          <p:nvPr/>
        </p:nvSpPr>
        <p:spPr>
          <a:xfrm>
            <a:off x="9345168" y="4727448"/>
            <a:ext cx="2221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scan work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split for a data-heavy page. If ~20% is addressable and made ~1000× faster, end-to-end ≈ 1.25× (slide 37). Real pages vary widely — profile with the browser performance panel to find your split.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958657" cy="310896"/>
          </a:xfrm>
          <a:prstGeom prst="roundRect">
            <a:avLst>
              <a:gd name="adj" fmla="val 50000"/>
            </a:avLst>
          </a:prstGeom>
          <a:solidFill>
            <a:srgbClr val="22D3EE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9586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Rendering &amp; scrolling steady-state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load, the recurring cost is per-frame layout and app math during scroll and interaction. This is where O(1) offsets and roll-ups pay off continuously — every frame, for the life of the session, not just once.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5806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scroll frame recomputes offsets → make them O(1)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 re-aggregate → range queries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long tasks → fewer dropped frames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is where the compounding gain lives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720840" y="1874520"/>
            <a:ext cx="4983480" cy="4023360"/>
          </a:xfrm>
          <a:prstGeom prst="roundRect">
            <a:avLst>
              <a:gd name="adj" fmla="val 2045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03720" y="265176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frame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086600" y="4114800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 repeats every frame during scroll &amp; interaction — it compounds over a session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51194" cy="310896"/>
          </a:xfrm>
          <a:prstGeom prst="roundRect">
            <a:avLst>
              <a:gd name="adj" fmla="val 50000"/>
            </a:avLst>
          </a:prstGeom>
          <a:solidFill>
            <a:srgbClr val="67E8F9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0511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low-risk path to real numbers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67E8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94560"/>
            <a:ext cx="2594610" cy="3108960"/>
          </a:xfrm>
          <a:prstGeom prst="roundRect">
            <a:avLst>
              <a:gd name="adj" fmla="val 3172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35049" y="2468880"/>
            <a:ext cx="621792" cy="621792"/>
          </a:xfrm>
          <a:prstGeom prst="ellipse">
            <a:avLst/>
          </a:prstGeom>
          <a:solidFill>
            <a:srgbClr val="67E8F9">
              <a:alpha val="18000"/>
            </a:srgbClr>
          </a:solidFill>
          <a:ln w="16510">
            <a:solidFill>
              <a:srgbClr val="67E8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35049" y="24688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E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" y="3218688"/>
            <a:ext cx="23751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931920"/>
            <a:ext cx="232029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reductions/scans on hot paths; measure the addressable fraction f.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24962" y="3520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380994" y="2194560"/>
            <a:ext cx="2594610" cy="3108960"/>
          </a:xfrm>
          <a:prstGeom prst="roundRect">
            <a:avLst>
              <a:gd name="adj" fmla="val 3172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67403" y="2468880"/>
            <a:ext cx="621792" cy="621792"/>
          </a:xfrm>
          <a:prstGeom prst="ellipse">
            <a:avLst/>
          </a:prstGeom>
          <a:solidFill>
            <a:srgbClr val="67E8F9">
              <a:alpha val="18000"/>
            </a:srgbClr>
          </a:solidFill>
          <a:ln w="16510">
            <a:solidFill>
              <a:srgbClr val="67E8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67403" y="24688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E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90722" y="3218688"/>
            <a:ext cx="23751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 (Cat B)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18154" y="3931920"/>
            <a:ext cx="232029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 few structured loops with closed forms — same results.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57316" y="3520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13348" y="2194560"/>
            <a:ext cx="2594610" cy="3108960"/>
          </a:xfrm>
          <a:prstGeom prst="roundRect">
            <a:avLst>
              <a:gd name="adj" fmla="val 3172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99757" y="2468880"/>
            <a:ext cx="621792" cy="621792"/>
          </a:xfrm>
          <a:prstGeom prst="ellipse">
            <a:avLst/>
          </a:prstGeom>
          <a:solidFill>
            <a:srgbClr val="67E8F9">
              <a:alpha val="18000"/>
            </a:srgbClr>
          </a:solidFill>
          <a:ln w="16510">
            <a:solidFill>
              <a:srgbClr val="67E8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99757" y="24688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E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23076" y="3218688"/>
            <a:ext cx="23751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(Cat C)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50508" y="3931920"/>
            <a:ext cx="232029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probe-and-dispatch layer; enable by default with fallback.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89670" y="3520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045702" y="2194560"/>
            <a:ext cx="2594610" cy="3108960"/>
          </a:xfrm>
          <a:prstGeom prst="roundRect">
            <a:avLst>
              <a:gd name="adj" fmla="val 3172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32111" y="2468880"/>
            <a:ext cx="621792" cy="621792"/>
          </a:xfrm>
          <a:prstGeom prst="ellipse">
            <a:avLst/>
          </a:prstGeom>
          <a:solidFill>
            <a:srgbClr val="67E8F9">
              <a:alpha val="18000"/>
            </a:srgbClr>
          </a:solidFill>
          <a:ln w="16510">
            <a:solidFill>
              <a:srgbClr val="67E8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32111" y="24688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E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55430" y="3218688"/>
            <a:ext cx="23751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(Cat A)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82862" y="3931920"/>
            <a:ext cx="232029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real-time features the O(1) budget now allows.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produces its own measured number, so the business case is built on evidence, not on this deck’s estimates.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3582" cy="310896"/>
          </a:xfrm>
          <a:prstGeom prst="roundRect">
            <a:avLst>
              <a:gd name="adj" fmla="val 50000"/>
            </a:avLst>
          </a:prstGeom>
          <a:solidFill>
            <a:srgbClr val="F5B942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735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how they’re handled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 is safe because the fallback guarantees identical results, but a few honest risks remain and are worth naming up front.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5806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addressable fraction → modest end-to-end gain (measure f)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overhead must be amortized over enough data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Low-precision accumulation needs care (use wider sums)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is real engineering, even if low-risk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720840" y="1874520"/>
            <a:ext cx="4983480" cy="4023360"/>
          </a:xfrm>
          <a:prstGeom prst="roundRect">
            <a:avLst>
              <a:gd name="adj" fmla="val 2045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95160" y="21031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by design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13448" y="2743200"/>
            <a:ext cx="4434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data → normal loop, same result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detection where layout is known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probe amortized over the buffer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behaviour change on the fallback path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606418" cy="310896"/>
          </a:xfrm>
          <a:prstGeom prst="roundRect">
            <a:avLst>
              <a:gd name="adj" fmla="val 50000"/>
            </a:avLst>
          </a:prstGeom>
          <a:solidFill>
            <a:srgbClr val="67E8F9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6064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 in four figures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67E8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94560"/>
            <a:ext cx="2567178" cy="2377440"/>
          </a:xfrm>
          <a:prstGeom prst="roundRect">
            <a:avLst>
              <a:gd name="adj" fmla="val 3462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651760"/>
            <a:ext cx="2384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N/k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220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per-operation speed-up on structured aggregates (k ≈ 2–8)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90138" y="2194560"/>
            <a:ext cx="2567178" cy="2377440"/>
          </a:xfrm>
          <a:prstGeom prst="roundRect">
            <a:avLst>
              <a:gd name="adj" fmla="val 3462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81578" y="2651760"/>
            <a:ext cx="2384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73018" y="3657600"/>
            <a:ext cx="220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work &amp; latency, independent of data size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1636" y="2194560"/>
            <a:ext cx="2567178" cy="2377440"/>
          </a:xfrm>
          <a:prstGeom prst="roundRect">
            <a:avLst>
              <a:gd name="adj" fmla="val 3462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23076" y="2651760"/>
            <a:ext cx="2384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14516" y="3657600"/>
            <a:ext cx="220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fraction — the number that decides end-to-end gain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73134" y="2194560"/>
            <a:ext cx="2567178" cy="2377440"/>
          </a:xfrm>
          <a:prstGeom prst="roundRect">
            <a:avLst>
              <a:gd name="adj" fmla="val 3462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64574" y="2651760"/>
            <a:ext cx="2384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risk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256014" y="3657600"/>
            <a:ext cx="220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results on unstructured data via fallback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983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local numbers, an honest end-to-end ceiling, and a safe adoption path — the whole argument in one line.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958657" cy="310896"/>
          </a:xfrm>
          <a:prstGeom prst="roundRect">
            <a:avLst>
              <a:gd name="adj" fmla="val 50000"/>
            </a:avLst>
          </a:prstGeom>
          <a:solidFill>
            <a:srgbClr val="67E8F9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9586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method across four domains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67E8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3200400" cy="548640"/>
          </a:xfrm>
          <a:prstGeom prst="roundRect">
            <a:avLst>
              <a:gd name="adj" fmla="val 15000"/>
            </a:avLst>
          </a:prstGeom>
          <a:solidFill>
            <a:srgbClr val="06061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745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B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749040" y="1874520"/>
            <a:ext cx="4572000" cy="548640"/>
          </a:xfrm>
          <a:prstGeom prst="roundRect">
            <a:avLst>
              <a:gd name="adj" fmla="val 15000"/>
            </a:avLst>
          </a:prstGeom>
          <a:solidFill>
            <a:srgbClr val="1D1F3D"/>
          </a:solidFill>
          <a:ln/>
        </p:spPr>
      </p:sp>
      <p:sp>
        <p:nvSpPr>
          <p:cNvPr id="9" name="Text 7"/>
          <p:cNvSpPr/>
          <p:nvPr/>
        </p:nvSpPr>
        <p:spPr>
          <a:xfrm>
            <a:off x="3886200" y="18745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becomes O(1)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321040" y="1874520"/>
            <a:ext cx="3319272" cy="548640"/>
          </a:xfrm>
          <a:prstGeom prst="roundRect">
            <a:avLst>
              <a:gd name="adj" fmla="val 15000"/>
            </a:avLst>
          </a:prstGeom>
          <a:solidFill>
            <a:srgbClr val="1D1F3D"/>
          </a:solidFill>
          <a:ln/>
        </p:spPr>
      </p:sp>
      <p:sp>
        <p:nvSpPr>
          <p:cNvPr id="11" name="Text 9"/>
          <p:cNvSpPr/>
          <p:nvPr/>
        </p:nvSpPr>
        <p:spPr>
          <a:xfrm>
            <a:off x="8458200" y="1874520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benefit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496312"/>
            <a:ext cx="3200400" cy="948690"/>
          </a:xfrm>
          <a:prstGeom prst="roundRect">
            <a:avLst>
              <a:gd name="adj" fmla="val 8675"/>
            </a:avLst>
          </a:prstGeom>
          <a:solidFill>
            <a:srgbClr val="15162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496312"/>
            <a:ext cx="294436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9040" y="2496312"/>
            <a:ext cx="4572000" cy="948690"/>
          </a:xfrm>
          <a:prstGeom prst="roundRect">
            <a:avLst>
              <a:gd name="adj" fmla="val 8675"/>
            </a:avLst>
          </a:prstGeom>
          <a:solidFill>
            <a:srgbClr val="0F1024"/>
          </a:solidFill>
          <a:ln/>
        </p:spPr>
      </p:sp>
      <p:sp>
        <p:nvSpPr>
          <p:cNvPr id="15" name="Text 13"/>
          <p:cNvSpPr/>
          <p:nvPr/>
        </p:nvSpPr>
        <p:spPr>
          <a:xfrm>
            <a:off x="3886200" y="2496312"/>
            <a:ext cx="431596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offsets, layout sums, table/chart roll-ups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8321040" y="2496312"/>
            <a:ext cx="3319272" cy="948690"/>
          </a:xfrm>
          <a:prstGeom prst="roundRect">
            <a:avLst>
              <a:gd name="adj" fmla="val 8675"/>
            </a:avLst>
          </a:prstGeom>
          <a:solidFill>
            <a:srgbClr val="0F1024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496312"/>
            <a:ext cx="306324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Smoother frames, less main-thread time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548640" y="3536442"/>
            <a:ext cx="3200400" cy="948690"/>
          </a:xfrm>
          <a:prstGeom prst="roundRect">
            <a:avLst>
              <a:gd name="adj" fmla="val 8675"/>
            </a:avLst>
          </a:prstGeom>
          <a:solidFill>
            <a:srgbClr val="15162E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536442"/>
            <a:ext cx="294436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49040" y="3536442"/>
            <a:ext cx="4572000" cy="948690"/>
          </a:xfrm>
          <a:prstGeom prst="roundRect">
            <a:avLst>
              <a:gd name="adj" fmla="val 8675"/>
            </a:avLst>
          </a:prstGeom>
          <a:solidFill>
            <a:srgbClr val="0F1024"/>
          </a:solidFill>
          <a:ln/>
        </p:spPr>
      </p:sp>
      <p:sp>
        <p:nvSpPr>
          <p:cNvPr id="21" name="Text 19"/>
          <p:cNvSpPr/>
          <p:nvPr/>
        </p:nvSpPr>
        <p:spPr>
          <a:xfrm>
            <a:off x="3886200" y="3536442"/>
            <a:ext cx="431596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offsets, sensor moments, on-device roll-ups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8321040" y="3536442"/>
            <a:ext cx="3319272" cy="948690"/>
          </a:xfrm>
          <a:prstGeom prst="roundRect">
            <a:avLst>
              <a:gd name="adj" fmla="val 8675"/>
            </a:avLst>
          </a:prstGeom>
          <a:solidFill>
            <a:srgbClr val="0F1024"/>
          </a:solidFill>
          <a:ln/>
        </p:spPr>
      </p:sp>
      <p:sp>
        <p:nvSpPr>
          <p:cNvPr id="23" name="Text 21"/>
          <p:cNvSpPr/>
          <p:nvPr/>
        </p:nvSpPr>
        <p:spPr>
          <a:xfrm>
            <a:off x="8458200" y="3536442"/>
            <a:ext cx="306324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battery, smoother UI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548640" y="4576572"/>
            <a:ext cx="3200400" cy="948690"/>
          </a:xfrm>
          <a:prstGeom prst="roundRect">
            <a:avLst>
              <a:gd name="adj" fmla="val 8675"/>
            </a:avLst>
          </a:prstGeom>
          <a:solidFill>
            <a:srgbClr val="15162E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576572"/>
            <a:ext cx="294436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749040" y="4576572"/>
            <a:ext cx="4572000" cy="948690"/>
          </a:xfrm>
          <a:prstGeom prst="roundRect">
            <a:avLst>
              <a:gd name="adj" fmla="val 8675"/>
            </a:avLst>
          </a:prstGeom>
          <a:solidFill>
            <a:srgbClr val="0F1024"/>
          </a:solidFill>
          <a:ln/>
        </p:spPr>
      </p:sp>
      <p:sp>
        <p:nvSpPr>
          <p:cNvPr id="27" name="Text 25"/>
          <p:cNvSpPr/>
          <p:nvPr/>
        </p:nvSpPr>
        <p:spPr>
          <a:xfrm>
            <a:off x="3886200" y="4576572"/>
            <a:ext cx="431596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windows, telemetry range roll-ups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8321040" y="4576572"/>
            <a:ext cx="3319272" cy="948690"/>
          </a:xfrm>
          <a:prstGeom prst="roundRect">
            <a:avLst>
              <a:gd name="adj" fmla="val 8675"/>
            </a:avLst>
          </a:prstGeom>
          <a:solidFill>
            <a:srgbClr val="0F1024"/>
          </a:solidFill>
          <a:ln/>
        </p:spPr>
      </p:sp>
      <p:sp>
        <p:nvSpPr>
          <p:cNvPr id="29" name="Text 27"/>
          <p:cNvSpPr/>
          <p:nvPr/>
        </p:nvSpPr>
        <p:spPr>
          <a:xfrm>
            <a:off x="8458200" y="4576572"/>
            <a:ext cx="306324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throughput on aggregate paths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548640" y="5616702"/>
            <a:ext cx="3200400" cy="948690"/>
          </a:xfrm>
          <a:prstGeom prst="roundRect">
            <a:avLst>
              <a:gd name="adj" fmla="val 8675"/>
            </a:avLst>
          </a:prstGeom>
          <a:solidFill>
            <a:srgbClr val="15162E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5616702"/>
            <a:ext cx="294436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49040" y="5616702"/>
            <a:ext cx="4572000" cy="948690"/>
          </a:xfrm>
          <a:prstGeom prst="roundRect">
            <a:avLst>
              <a:gd name="adj" fmla="val 8675"/>
            </a:avLst>
          </a:prstGeom>
          <a:solidFill>
            <a:srgbClr val="0F1024"/>
          </a:solidFill>
          <a:ln/>
        </p:spPr>
      </p:sp>
      <p:sp>
        <p:nvSpPr>
          <p:cNvPr id="33" name="Text 31"/>
          <p:cNvSpPr/>
          <p:nvPr/>
        </p:nvSpPr>
        <p:spPr>
          <a:xfrm>
            <a:off x="3886200" y="5616702"/>
            <a:ext cx="431596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moments, integral images, filter sums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8321040" y="5616702"/>
            <a:ext cx="3319272" cy="948690"/>
          </a:xfrm>
          <a:prstGeom prst="roundRect">
            <a:avLst>
              <a:gd name="adj" fmla="val 8675"/>
            </a:avLst>
          </a:prstGeom>
          <a:solidFill>
            <a:srgbClr val="0F1024"/>
          </a:solidFill>
          <a:ln/>
        </p:spPr>
      </p:sp>
      <p:sp>
        <p:nvSpPr>
          <p:cNvPr id="35" name="Text 33"/>
          <p:cNvSpPr/>
          <p:nvPr/>
        </p:nvSpPr>
        <p:spPr>
          <a:xfrm>
            <a:off x="8458200" y="5616702"/>
            <a:ext cx="306324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latency, fewer µJ</a:t>
            </a:r>
            <a:endParaRPr lang="en-US" sz="1130" dirty="0"/>
          </a:p>
        </p:txBody>
      </p:sp>
      <p:sp>
        <p:nvSpPr>
          <p:cNvPr id="36" name="Text 34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3582" cy="310896"/>
          </a:xfrm>
          <a:prstGeom prst="roundRect">
            <a:avLst>
              <a:gd name="adj" fmla="val 50000"/>
            </a:avLst>
          </a:prstGeom>
          <a:solidFill>
            <a:srgbClr val="67E8F9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735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in eight lines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67E8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57400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05740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over structured data → O(1) closed forms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53512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95351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95351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Per-op speed-up ≈ N/k (k ≈ 2–8)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49624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849624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849624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 offsets, layout, roll-ups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745736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74573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745736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Mobile: lists, sensors, battery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63640" y="2057400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19" name="Text 17"/>
          <p:cNvSpPr/>
          <p:nvPr/>
        </p:nvSpPr>
        <p:spPr>
          <a:xfrm>
            <a:off x="6464808" y="205740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95160" y="205740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 windows, telemetry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63640" y="2953512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295351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95160" y="295351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Embedded: fixed-time real-time math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63640" y="3849624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25" name="Text 23"/>
          <p:cNvSpPr/>
          <p:nvPr/>
        </p:nvSpPr>
        <p:spPr>
          <a:xfrm>
            <a:off x="6464808" y="3849624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95160" y="3849624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modes: new · improved · auto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263640" y="4745736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15162E"/>
          </a:solidFill>
          <a:ln/>
        </p:spPr>
      </p:sp>
      <p:sp>
        <p:nvSpPr>
          <p:cNvPr id="28" name="Text 26"/>
          <p:cNvSpPr/>
          <p:nvPr/>
        </p:nvSpPr>
        <p:spPr>
          <a:xfrm>
            <a:off x="6464808" y="474573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95160" y="4745736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gain is capped by f — measure it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958657" cy="310896"/>
          </a:xfrm>
          <a:prstGeom prst="roundRect">
            <a:avLst>
              <a:gd name="adj" fmla="val 50000"/>
            </a:avLst>
          </a:prstGeom>
          <a:solidFill>
            <a:srgbClr val="67E8F9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9586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start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67E8F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aggregate-heavy hot path in each domain you care about, measure its addressable fraction, and do a Category-B swap. That single measured number tells you whether the auto layer and new-capability work are worth it for your system.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5806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EA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measured hot path per domain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safe Category-B swap first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measured f decide the rest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after that is evidence-driven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720840" y="1874520"/>
            <a:ext cx="4983480" cy="4023360"/>
          </a:xfrm>
          <a:prstGeom prst="roundRect">
            <a:avLst>
              <a:gd name="adj" fmla="val 2045"/>
            </a:avLst>
          </a:prstGeom>
          <a:solidFill>
            <a:srgbClr val="1D1F3D"/>
          </a:solidFill>
          <a:ln/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03720" y="265176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7E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67E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086600" y="4114800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estimates here point the way; your profiler provides the real numbers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51194" cy="310896"/>
          </a:xfrm>
          <a:prstGeom prst="roundRect">
            <a:avLst>
              <a:gd name="adj" fmla="val 50000"/>
            </a:avLst>
          </a:prstGeom>
          <a:solidFill>
            <a:srgbClr val="67E8F9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0511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deck in one 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8872" cy="118872"/>
          </a:xfrm>
          <a:prstGeom prst="ellipse">
            <a:avLst/>
          </a:prstGeom>
          <a:solidFill>
            <a:srgbClr val="67E8F9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965960"/>
            <a:ext cx="10149840" cy="2011680"/>
          </a:xfrm>
          <a:prstGeom prst="roundRect">
            <a:avLst>
              <a:gd name="adj" fmla="val 2727"/>
            </a:avLst>
          </a:prstGeom>
          <a:solidFill>
            <a:srgbClr val="060612"/>
          </a:solidFill>
          <a:ln w="12700">
            <a:solidFill>
              <a:srgbClr val="67E8F9">
                <a:alpha val="38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07008" y="2112264"/>
            <a:ext cx="974750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2200" dirty="0">
                <a:solidFill>
                  <a:srgbClr val="67E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O(N) aggregation over structured data with an O(1) formula —</a:t>
            </a:r>
            <a:endParaRPr lang="en-US" sz="2200" dirty="0"/>
          </a:p>
          <a:p>
            <a:pPr algn="ctr"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700" i="1" dirty="0">
                <a:solidFill>
                  <a:srgbClr val="A6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everywhere software totals, offsets, windows or rolls up, and the data has a rule.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42062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pages, mobile apps, network stacks and embedded firmware all do this constantly. Where the data is structured, the loop becomes a formula: fewer operations, less energy, fixed latency — bounded honestly by how much of the workload it can touch.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71147" y="3794071"/>
            <a:ext cx="9652" cy="9652"/>
          </a:xfrm>
          <a:prstGeom prst="ellipse">
            <a:avLst/>
          </a:prstGeom>
          <a:solidFill>
            <a:srgbClr val="FFFFFF">
              <a:alpha val="32003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714981" y="6111944"/>
            <a:ext cx="7629" cy="7629"/>
          </a:xfrm>
          <a:prstGeom prst="ellipse">
            <a:avLst/>
          </a:prstGeom>
          <a:solidFill>
            <a:srgbClr val="FFFFFF">
              <a:alpha val="16803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66009" y="1344090"/>
            <a:ext cx="19309" cy="19309"/>
          </a:xfrm>
          <a:prstGeom prst="ellipse">
            <a:avLst/>
          </a:prstGeom>
          <a:solidFill>
            <a:srgbClr val="FFFFFF">
              <a:alpha val="15802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55435" y="5870561"/>
            <a:ext cx="9093" cy="9093"/>
          </a:xfrm>
          <a:prstGeom prst="ellipse">
            <a:avLst/>
          </a:prstGeom>
          <a:solidFill>
            <a:srgbClr val="FFFFFF">
              <a:alpha val="15668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514058" y="1549386"/>
            <a:ext cx="8710" cy="8710"/>
          </a:xfrm>
          <a:prstGeom prst="ellipse">
            <a:avLst/>
          </a:prstGeom>
          <a:solidFill>
            <a:srgbClr val="FFFFFF">
              <a:alpha val="1306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58474" y="5061749"/>
            <a:ext cx="13888" cy="13888"/>
          </a:xfrm>
          <a:prstGeom prst="ellipse">
            <a:avLst/>
          </a:prstGeom>
          <a:solidFill>
            <a:srgbClr val="FFFFFF">
              <a:alpha val="8091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06620" y="2446886"/>
            <a:ext cx="17680" cy="17680"/>
          </a:xfrm>
          <a:prstGeom prst="ellipse">
            <a:avLst/>
          </a:prstGeom>
          <a:solidFill>
            <a:srgbClr val="FFFFFF">
              <a:alpha val="26851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166897" y="6661558"/>
            <a:ext cx="22626" cy="22626"/>
          </a:xfrm>
          <a:prstGeom prst="ellipse">
            <a:avLst/>
          </a:prstGeom>
          <a:solidFill>
            <a:srgbClr val="FFFFFF">
              <a:alpha val="15165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935478" y="816924"/>
            <a:ext cx="15530" cy="15530"/>
          </a:xfrm>
          <a:prstGeom prst="ellipse">
            <a:avLst/>
          </a:prstGeom>
          <a:solidFill>
            <a:srgbClr val="FFFFFF">
              <a:alpha val="22519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289209" y="2573000"/>
            <a:ext cx="16731" cy="16731"/>
          </a:xfrm>
          <a:prstGeom prst="ellipse">
            <a:avLst/>
          </a:prstGeom>
          <a:solidFill>
            <a:srgbClr val="FFFFFF">
              <a:alpha val="3742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93451" y="3815528"/>
            <a:ext cx="8654" cy="8654"/>
          </a:xfrm>
          <a:prstGeom prst="ellipse">
            <a:avLst/>
          </a:prstGeom>
          <a:solidFill>
            <a:srgbClr val="FFFFFF">
              <a:alpha val="15578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135607" y="3055274"/>
            <a:ext cx="22774" cy="22774"/>
          </a:xfrm>
          <a:prstGeom prst="ellipse">
            <a:avLst/>
          </a:prstGeom>
          <a:solidFill>
            <a:srgbClr val="FFFFFF">
              <a:alpha val="34823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966619" y="3801541"/>
            <a:ext cx="12867" cy="12867"/>
          </a:xfrm>
          <a:prstGeom prst="ellipse">
            <a:avLst/>
          </a:prstGeom>
          <a:solidFill>
            <a:srgbClr val="FFFFFF">
              <a:alpha val="16103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339500" y="3129788"/>
            <a:ext cx="20963" cy="20963"/>
          </a:xfrm>
          <a:prstGeom prst="ellipse">
            <a:avLst/>
          </a:prstGeom>
          <a:solidFill>
            <a:srgbClr val="FFFFFF">
              <a:alpha val="35569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800410" y="3002653"/>
            <a:ext cx="15755" cy="15755"/>
          </a:xfrm>
          <a:prstGeom prst="ellipse">
            <a:avLst/>
          </a:prstGeom>
          <a:solidFill>
            <a:srgbClr val="FFFFFF">
              <a:alpha val="26407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002484" y="3011795"/>
            <a:ext cx="12173" cy="12173"/>
          </a:xfrm>
          <a:prstGeom prst="ellipse">
            <a:avLst/>
          </a:prstGeom>
          <a:solidFill>
            <a:srgbClr val="FFFFFF">
              <a:alpha val="34258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207919" y="4913249"/>
            <a:ext cx="18138" cy="18138"/>
          </a:xfrm>
          <a:prstGeom prst="ellipse">
            <a:avLst/>
          </a:prstGeom>
          <a:solidFill>
            <a:srgbClr val="FFFFFF">
              <a:alpha val="11213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020450" y="1924211"/>
            <a:ext cx="8210" cy="8210"/>
          </a:xfrm>
          <a:prstGeom prst="ellipse">
            <a:avLst/>
          </a:prstGeom>
          <a:solidFill>
            <a:srgbClr val="FFFFFF">
              <a:alpha val="23313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249046" y="2511831"/>
            <a:ext cx="21977" cy="21977"/>
          </a:xfrm>
          <a:prstGeom prst="ellipse">
            <a:avLst/>
          </a:prstGeom>
          <a:solidFill>
            <a:srgbClr val="FFFFFF">
              <a:alpha val="37055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083353" y="2838856"/>
            <a:ext cx="22874" cy="22874"/>
          </a:xfrm>
          <a:prstGeom prst="ellipse">
            <a:avLst/>
          </a:prstGeom>
          <a:solidFill>
            <a:srgbClr val="FFFFFF">
              <a:alpha val="22905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524908" y="4562487"/>
            <a:ext cx="11718" cy="11718"/>
          </a:xfrm>
          <a:prstGeom prst="ellipse">
            <a:avLst/>
          </a:prstGeom>
          <a:solidFill>
            <a:srgbClr val="FFFFFF">
              <a:alpha val="2826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752606" y="3105656"/>
            <a:ext cx="7861" cy="7861"/>
          </a:xfrm>
          <a:prstGeom prst="ellipse">
            <a:avLst/>
          </a:prstGeom>
          <a:solidFill>
            <a:srgbClr val="FFFFFF">
              <a:alpha val="11972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21716" y="2009273"/>
            <a:ext cx="7760" cy="7760"/>
          </a:xfrm>
          <a:prstGeom prst="ellipse">
            <a:avLst/>
          </a:prstGeom>
          <a:solidFill>
            <a:srgbClr val="FFFFFF">
              <a:alpha val="9049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031798" y="607377"/>
            <a:ext cx="21967" cy="21967"/>
          </a:xfrm>
          <a:prstGeom prst="ellipse">
            <a:avLst/>
          </a:prstGeom>
          <a:solidFill>
            <a:srgbClr val="FFFFFF">
              <a:alpha val="27594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335101" y="4639689"/>
            <a:ext cx="9836" cy="9836"/>
          </a:xfrm>
          <a:prstGeom prst="ellipse">
            <a:avLst/>
          </a:prstGeom>
          <a:solidFill>
            <a:srgbClr val="FFFFFF">
              <a:alpha val="24458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34841" y="4198092"/>
            <a:ext cx="13401" cy="13401"/>
          </a:xfrm>
          <a:prstGeom prst="ellipse">
            <a:avLst/>
          </a:prstGeom>
          <a:solidFill>
            <a:srgbClr val="FFFFFF">
              <a:alpha val="1610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427277" y="5610381"/>
            <a:ext cx="11331" cy="11331"/>
          </a:xfrm>
          <a:prstGeom prst="ellipse">
            <a:avLst/>
          </a:prstGeom>
          <a:solidFill>
            <a:srgbClr val="FFFFFF">
              <a:alpha val="1377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696384" y="3360105"/>
            <a:ext cx="14949" cy="14949"/>
          </a:xfrm>
          <a:prstGeom prst="ellipse">
            <a:avLst/>
          </a:prstGeom>
          <a:solidFill>
            <a:srgbClr val="FFFFFF">
              <a:alpha val="15764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853558" y="6694536"/>
            <a:ext cx="16361" cy="16361"/>
          </a:xfrm>
          <a:prstGeom prst="ellipse">
            <a:avLst/>
          </a:prstGeom>
          <a:solidFill>
            <a:srgbClr val="FFFFFF">
              <a:alpha val="31442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419637" y="1402200"/>
            <a:ext cx="15900" cy="15900"/>
          </a:xfrm>
          <a:prstGeom prst="ellipse">
            <a:avLst/>
          </a:prstGeom>
          <a:solidFill>
            <a:srgbClr val="FFFFFF">
              <a:alpha val="18517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2140281" y="4119246"/>
            <a:ext cx="11705" cy="11705"/>
          </a:xfrm>
          <a:prstGeom prst="ellipse">
            <a:avLst/>
          </a:prstGeom>
          <a:solidFill>
            <a:srgbClr val="FFFFFF">
              <a:alpha val="26857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814089" y="3005153"/>
            <a:ext cx="20350" cy="20350"/>
          </a:xfrm>
          <a:prstGeom prst="ellipse">
            <a:avLst/>
          </a:prstGeom>
          <a:solidFill>
            <a:srgbClr val="FFFFFF">
              <a:alpha val="35213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940354" y="4615803"/>
            <a:ext cx="13478" cy="13478"/>
          </a:xfrm>
          <a:prstGeom prst="ellipse">
            <a:avLst/>
          </a:prstGeom>
          <a:solidFill>
            <a:srgbClr val="FFFFFF">
              <a:alpha val="27447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589764" y="1434482"/>
            <a:ext cx="15019" cy="15019"/>
          </a:xfrm>
          <a:prstGeom prst="ellipse">
            <a:avLst/>
          </a:prstGeom>
          <a:solidFill>
            <a:srgbClr val="FFFFFF">
              <a:alpha val="3702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907743" y="2211062"/>
            <a:ext cx="7140" cy="7140"/>
          </a:xfrm>
          <a:prstGeom prst="ellipse">
            <a:avLst/>
          </a:prstGeom>
          <a:solidFill>
            <a:srgbClr val="FFFFFF">
              <a:alpha val="28441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647682" y="3978811"/>
            <a:ext cx="12241" cy="12241"/>
          </a:xfrm>
          <a:prstGeom prst="ellipse">
            <a:avLst/>
          </a:prstGeom>
          <a:solidFill>
            <a:srgbClr val="FFFFFF">
              <a:alpha val="2363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869274" y="191569"/>
            <a:ext cx="7567" cy="7567"/>
          </a:xfrm>
          <a:prstGeom prst="ellipse">
            <a:avLst/>
          </a:prstGeom>
          <a:solidFill>
            <a:srgbClr val="FFFFFF">
              <a:alpha val="21795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1710215" y="5363647"/>
            <a:ext cx="16144" cy="16144"/>
          </a:xfrm>
          <a:prstGeom prst="ellipse">
            <a:avLst/>
          </a:prstGeom>
          <a:solidFill>
            <a:srgbClr val="FFFFFF">
              <a:alpha val="27094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413992" y="6131201"/>
            <a:ext cx="10583" cy="10583"/>
          </a:xfrm>
          <a:prstGeom prst="ellipse">
            <a:avLst/>
          </a:prstGeom>
          <a:solidFill>
            <a:srgbClr val="FFFFFF">
              <a:alpha val="9679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215731" y="1899340"/>
            <a:ext cx="7121" cy="7121"/>
          </a:xfrm>
          <a:prstGeom prst="ellipse">
            <a:avLst/>
          </a:prstGeom>
          <a:solidFill>
            <a:srgbClr val="FFFFFF">
              <a:alpha val="28279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502890" y="4637369"/>
            <a:ext cx="10226" cy="10226"/>
          </a:xfrm>
          <a:prstGeom prst="ellipse">
            <a:avLst/>
          </a:prstGeom>
          <a:solidFill>
            <a:srgbClr val="FFFFFF">
              <a:alpha val="38894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2762726" y="2334491"/>
            <a:ext cx="13105" cy="13105"/>
          </a:xfrm>
          <a:prstGeom prst="ellipse">
            <a:avLst/>
          </a:prstGeom>
          <a:solidFill>
            <a:srgbClr val="FFFFFF">
              <a:alpha val="23219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262448" y="4387690"/>
            <a:ext cx="10828" cy="10828"/>
          </a:xfrm>
          <a:prstGeom prst="ellipse">
            <a:avLst/>
          </a:prstGeom>
          <a:solidFill>
            <a:srgbClr val="FFFFFF">
              <a:alpha val="14799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15003" y="5748340"/>
            <a:ext cx="22129" cy="22129"/>
          </a:xfrm>
          <a:prstGeom prst="ellipse">
            <a:avLst/>
          </a:prstGeom>
          <a:solidFill>
            <a:srgbClr val="FFFFFF">
              <a:alpha val="2141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1773423" y="2105066"/>
            <a:ext cx="10991" cy="10991"/>
          </a:xfrm>
          <a:prstGeom prst="ellipse">
            <a:avLst/>
          </a:prstGeom>
          <a:solidFill>
            <a:srgbClr val="FFFFFF">
              <a:alpha val="2106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480790" y="1831846"/>
            <a:ext cx="10919" cy="10919"/>
          </a:xfrm>
          <a:prstGeom prst="ellipse">
            <a:avLst/>
          </a:prstGeom>
          <a:solidFill>
            <a:srgbClr val="FFFFFF">
              <a:alpha val="12873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1888798" y="298024"/>
            <a:ext cx="17878" cy="17878"/>
          </a:xfrm>
          <a:prstGeom prst="ellipse">
            <a:avLst/>
          </a:prstGeom>
          <a:solidFill>
            <a:srgbClr val="FFFFFF">
              <a:alpha val="30288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579331" y="2379055"/>
            <a:ext cx="20045" cy="20045"/>
          </a:xfrm>
          <a:prstGeom prst="ellipse">
            <a:avLst/>
          </a:prstGeom>
          <a:solidFill>
            <a:srgbClr val="FFFFFF">
              <a:alpha val="26227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293413" y="6503572"/>
            <a:ext cx="17796" cy="17796"/>
          </a:xfrm>
          <a:prstGeom prst="ellipse">
            <a:avLst/>
          </a:prstGeom>
          <a:solidFill>
            <a:srgbClr val="FFFFFF">
              <a:alpha val="20993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971394" y="4462866"/>
            <a:ext cx="8307" cy="8307"/>
          </a:xfrm>
          <a:prstGeom prst="ellipse">
            <a:avLst/>
          </a:prstGeom>
          <a:solidFill>
            <a:srgbClr val="FFFFFF">
              <a:alpha val="17137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472858" y="5431837"/>
            <a:ext cx="19973" cy="19973"/>
          </a:xfrm>
          <a:prstGeom prst="ellipse">
            <a:avLst/>
          </a:prstGeom>
          <a:solidFill>
            <a:srgbClr val="FFFFFF">
              <a:alpha val="23955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177476" y="5915268"/>
            <a:ext cx="13502" cy="13502"/>
          </a:xfrm>
          <a:prstGeom prst="ellipse">
            <a:avLst/>
          </a:prstGeom>
          <a:solidFill>
            <a:srgbClr val="FFFFFF">
              <a:alpha val="16554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08685" y="785312"/>
            <a:ext cx="14627" cy="14627"/>
          </a:xfrm>
          <a:prstGeom prst="ellipse">
            <a:avLst/>
          </a:prstGeom>
          <a:solidFill>
            <a:srgbClr val="FFFFFF">
              <a:alpha val="34608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641311" y="6360044"/>
            <a:ext cx="9804" cy="9804"/>
          </a:xfrm>
          <a:prstGeom prst="ellipse">
            <a:avLst/>
          </a:prstGeom>
          <a:solidFill>
            <a:srgbClr val="FFFFFF">
              <a:alpha val="33179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282693" y="2786101"/>
            <a:ext cx="11541" cy="11541"/>
          </a:xfrm>
          <a:prstGeom prst="ellipse">
            <a:avLst/>
          </a:prstGeom>
          <a:solidFill>
            <a:srgbClr val="FFFFFF">
              <a:alpha val="2028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412617" y="4986168"/>
            <a:ext cx="9042" cy="9042"/>
          </a:xfrm>
          <a:prstGeom prst="ellipse">
            <a:avLst/>
          </a:prstGeom>
          <a:solidFill>
            <a:srgbClr val="FFFFFF">
              <a:alpha val="3542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92514" y="2358000"/>
            <a:ext cx="6193" cy="6193"/>
          </a:xfrm>
          <a:prstGeom prst="ellipse">
            <a:avLst/>
          </a:prstGeom>
          <a:solidFill>
            <a:srgbClr val="FFFFFF">
              <a:alpha val="22242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581425" y="3634577"/>
            <a:ext cx="13121" cy="13121"/>
          </a:xfrm>
          <a:prstGeom prst="ellipse">
            <a:avLst/>
          </a:prstGeom>
          <a:solidFill>
            <a:srgbClr val="FFFFFF">
              <a:alpha val="37001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4082821" y="4846544"/>
            <a:ext cx="22412" cy="22412"/>
          </a:xfrm>
          <a:prstGeom prst="ellipse">
            <a:avLst/>
          </a:prstGeom>
          <a:solidFill>
            <a:srgbClr val="FFFFFF">
              <a:alpha val="1212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92547" y="5136056"/>
            <a:ext cx="17605" cy="17605"/>
          </a:xfrm>
          <a:prstGeom prst="ellipse">
            <a:avLst/>
          </a:prstGeom>
          <a:solidFill>
            <a:srgbClr val="FFFFFF">
              <a:alpha val="14142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5336456" y="4778567"/>
            <a:ext cx="18476" cy="18476"/>
          </a:xfrm>
          <a:prstGeom prst="ellipse">
            <a:avLst/>
          </a:prstGeom>
          <a:solidFill>
            <a:srgbClr val="FFFFFF">
              <a:alpha val="32008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2037199" y="4560071"/>
            <a:ext cx="6185" cy="6185"/>
          </a:xfrm>
          <a:prstGeom prst="ellipse">
            <a:avLst/>
          </a:prstGeom>
          <a:solidFill>
            <a:srgbClr val="FFFFFF">
              <a:alpha val="27987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0373859" y="6434800"/>
            <a:ext cx="11593" cy="11593"/>
          </a:xfrm>
          <a:prstGeom prst="ellipse">
            <a:avLst/>
          </a:prstGeom>
          <a:solidFill>
            <a:srgbClr val="FFFFFF">
              <a:alpha val="26677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0299213" y="863116"/>
            <a:ext cx="9775" cy="9775"/>
          </a:xfrm>
          <a:prstGeom prst="ellipse">
            <a:avLst/>
          </a:prstGeom>
          <a:solidFill>
            <a:srgbClr val="FFFFFF">
              <a:alpha val="31557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3535750" y="3778236"/>
            <a:ext cx="14557" cy="14557"/>
          </a:xfrm>
          <a:prstGeom prst="ellipse">
            <a:avLst/>
          </a:prstGeom>
          <a:solidFill>
            <a:srgbClr val="FFFFFF">
              <a:alpha val="21396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5412675" y="2516060"/>
            <a:ext cx="7373" cy="7373"/>
          </a:xfrm>
          <a:prstGeom prst="ellipse">
            <a:avLst/>
          </a:prstGeom>
          <a:solidFill>
            <a:srgbClr val="FFFFFF">
              <a:alpha val="188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766058" y="6395202"/>
            <a:ext cx="9075" cy="9075"/>
          </a:xfrm>
          <a:prstGeom prst="ellipse">
            <a:avLst/>
          </a:prstGeom>
          <a:solidFill>
            <a:srgbClr val="FFFFFF">
              <a:alpha val="38836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2410664" y="1678630"/>
            <a:ext cx="16100" cy="16100"/>
          </a:xfrm>
          <a:prstGeom prst="ellipse">
            <a:avLst/>
          </a:prstGeom>
          <a:solidFill>
            <a:srgbClr val="FFFFFF">
              <a:alpha val="8391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2761243" y="2928559"/>
            <a:ext cx="12707" cy="12707"/>
          </a:xfrm>
          <a:prstGeom prst="ellipse">
            <a:avLst/>
          </a:prstGeom>
          <a:solidFill>
            <a:srgbClr val="FFFFFF">
              <a:alpha val="28935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411390" y="6547793"/>
            <a:ext cx="21759" cy="21759"/>
          </a:xfrm>
          <a:prstGeom prst="ellipse">
            <a:avLst/>
          </a:prstGeom>
          <a:solidFill>
            <a:srgbClr val="FFFFFF">
              <a:alpha val="17236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10794886" y="4237489"/>
            <a:ext cx="8951" cy="8951"/>
          </a:xfrm>
          <a:prstGeom prst="ellipse">
            <a:avLst/>
          </a:prstGeom>
          <a:solidFill>
            <a:srgbClr val="FFFFFF">
              <a:alpha val="39809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4072459" y="6564730"/>
            <a:ext cx="17025" cy="17025"/>
          </a:xfrm>
          <a:prstGeom prst="ellipse">
            <a:avLst/>
          </a:prstGeom>
          <a:solidFill>
            <a:srgbClr val="FFFFFF">
              <a:alpha val="11074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6582216" y="270050"/>
            <a:ext cx="11138" cy="11138"/>
          </a:xfrm>
          <a:prstGeom prst="ellipse">
            <a:avLst/>
          </a:prstGeom>
          <a:solidFill>
            <a:srgbClr val="FFFFFF">
              <a:alpha val="16462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4608728" y="856777"/>
            <a:ext cx="7606" cy="7606"/>
          </a:xfrm>
          <a:prstGeom prst="ellipse">
            <a:avLst/>
          </a:prstGeom>
          <a:solidFill>
            <a:srgbClr val="FFFFFF">
              <a:alpha val="38838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11408500" y="713150"/>
            <a:ext cx="15114" cy="15114"/>
          </a:xfrm>
          <a:prstGeom prst="ellipse">
            <a:avLst/>
          </a:prstGeom>
          <a:solidFill>
            <a:srgbClr val="FFFFFF">
              <a:alpha val="31998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4988202" y="3013786"/>
            <a:ext cx="20656" cy="20656"/>
          </a:xfrm>
          <a:prstGeom prst="ellipse">
            <a:avLst/>
          </a:prstGeom>
          <a:solidFill>
            <a:srgbClr val="FFFFFF">
              <a:alpha val="26836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5066760" y="5336911"/>
            <a:ext cx="13834" cy="13834"/>
          </a:xfrm>
          <a:prstGeom prst="ellipse">
            <a:avLst/>
          </a:prstGeom>
          <a:solidFill>
            <a:srgbClr val="FFFFFF">
              <a:alpha val="35771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9925673" y="6238028"/>
            <a:ext cx="17026" cy="17026"/>
          </a:xfrm>
          <a:prstGeom prst="ellipse">
            <a:avLst/>
          </a:prstGeom>
          <a:solidFill>
            <a:srgbClr val="FFFFFF">
              <a:alpha val="11373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6136358" y="2357176"/>
            <a:ext cx="6906" cy="6906"/>
          </a:xfrm>
          <a:prstGeom prst="ellipse">
            <a:avLst/>
          </a:prstGeom>
          <a:solidFill>
            <a:srgbClr val="FFFFFF">
              <a:alpha val="26243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11230955" y="368693"/>
            <a:ext cx="9694" cy="9694"/>
          </a:xfrm>
          <a:prstGeom prst="ellipse">
            <a:avLst/>
          </a:prstGeom>
          <a:solidFill>
            <a:srgbClr val="FFFFFF">
              <a:alpha val="11441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1018098" y="3245399"/>
            <a:ext cx="14814" cy="14814"/>
          </a:xfrm>
          <a:prstGeom prst="ellipse">
            <a:avLst/>
          </a:prstGeom>
          <a:solidFill>
            <a:srgbClr val="FFFFFF">
              <a:alpha val="34538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947466" y="2653122"/>
            <a:ext cx="9921" cy="9921"/>
          </a:xfrm>
          <a:prstGeom prst="ellipse">
            <a:avLst/>
          </a:prstGeom>
          <a:solidFill>
            <a:srgbClr val="FFFFFF">
              <a:alpha val="31741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2572210" y="1861687"/>
            <a:ext cx="21290" cy="21290"/>
          </a:xfrm>
          <a:prstGeom prst="ellipse">
            <a:avLst/>
          </a:prstGeom>
          <a:solidFill>
            <a:srgbClr val="FFFFFF">
              <a:alpha val="23339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5595496" y="3276119"/>
            <a:ext cx="9367" cy="9367"/>
          </a:xfrm>
          <a:prstGeom prst="ellipse">
            <a:avLst/>
          </a:prstGeom>
          <a:solidFill>
            <a:srgbClr val="FFFFFF">
              <a:alpha val="24549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7644027" y="5661513"/>
            <a:ext cx="21205" cy="21205"/>
          </a:xfrm>
          <a:prstGeom prst="ellipse">
            <a:avLst/>
          </a:prstGeom>
          <a:solidFill>
            <a:srgbClr val="FFFFFF">
              <a:alpha val="20876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2686912" y="4187692"/>
            <a:ext cx="13521" cy="13521"/>
          </a:xfrm>
          <a:prstGeom prst="ellipse">
            <a:avLst/>
          </a:prstGeom>
          <a:solidFill>
            <a:srgbClr val="FFFFFF">
              <a:alpha val="26426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7463698" y="4075809"/>
            <a:ext cx="22002" cy="22002"/>
          </a:xfrm>
          <a:prstGeom prst="ellipse">
            <a:avLst/>
          </a:prstGeom>
          <a:solidFill>
            <a:srgbClr val="FFFFFF">
              <a:alpha val="32929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10996770" y="6068340"/>
            <a:ext cx="9940" cy="9940"/>
          </a:xfrm>
          <a:prstGeom prst="ellipse">
            <a:avLst/>
          </a:prstGeom>
          <a:solidFill>
            <a:srgbClr val="FFFFFF">
              <a:alpha val="24784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10046806" y="2497938"/>
            <a:ext cx="17503" cy="17503"/>
          </a:xfrm>
          <a:prstGeom prst="ellipse">
            <a:avLst/>
          </a:prstGeom>
          <a:solidFill>
            <a:srgbClr val="FFFFFF">
              <a:alpha val="13362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286515" y="5599521"/>
            <a:ext cx="22316" cy="22316"/>
          </a:xfrm>
          <a:prstGeom prst="ellipse">
            <a:avLst/>
          </a:prstGeom>
          <a:solidFill>
            <a:srgbClr val="FFFFFF">
              <a:alpha val="11318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6094896" y="2314743"/>
            <a:ext cx="22861" cy="22861"/>
          </a:xfrm>
          <a:prstGeom prst="ellipse">
            <a:avLst/>
          </a:prstGeom>
          <a:solidFill>
            <a:srgbClr val="FFFFFF">
              <a:alpha val="10202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4871372" y="3422998"/>
            <a:ext cx="16116" cy="16116"/>
          </a:xfrm>
          <a:prstGeom prst="ellipse">
            <a:avLst/>
          </a:prstGeom>
          <a:solidFill>
            <a:srgbClr val="FFFFFF">
              <a:alpha val="22976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6712361" y="1659684"/>
            <a:ext cx="12201" cy="12201"/>
          </a:xfrm>
          <a:prstGeom prst="ellipse">
            <a:avLst/>
          </a:prstGeom>
          <a:solidFill>
            <a:srgbClr val="FFFFFF">
              <a:alpha val="39999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950296" y="2820020"/>
            <a:ext cx="5843" cy="5843"/>
          </a:xfrm>
          <a:prstGeom prst="ellipse">
            <a:avLst/>
          </a:prstGeom>
          <a:solidFill>
            <a:srgbClr val="FFFFFF">
              <a:alpha val="20774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103716" y="3945052"/>
            <a:ext cx="15593" cy="15593"/>
          </a:xfrm>
          <a:prstGeom prst="ellipse">
            <a:avLst/>
          </a:prstGeom>
          <a:solidFill>
            <a:srgbClr val="FFFFFF">
              <a:alpha val="2537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2909022" y="3327943"/>
            <a:ext cx="6359" cy="6359"/>
          </a:xfrm>
          <a:prstGeom prst="ellipse">
            <a:avLst/>
          </a:prstGeom>
          <a:solidFill>
            <a:srgbClr val="FFFFFF">
              <a:alpha val="25585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3664410" y="1518194"/>
            <a:ext cx="19359" cy="19359"/>
          </a:xfrm>
          <a:prstGeom prst="ellipse">
            <a:avLst/>
          </a:prstGeom>
          <a:solidFill>
            <a:srgbClr val="FFFFFF">
              <a:alpha val="19723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7960744" y="6664055"/>
            <a:ext cx="23734" cy="23734"/>
          </a:xfrm>
          <a:prstGeom prst="ellipse">
            <a:avLst/>
          </a:prstGeom>
          <a:solidFill>
            <a:srgbClr val="FFFFFF">
              <a:alpha val="37028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7504914" y="3537004"/>
            <a:ext cx="21435" cy="21435"/>
          </a:xfrm>
          <a:prstGeom prst="ellipse">
            <a:avLst/>
          </a:prstGeom>
          <a:solidFill>
            <a:srgbClr val="FFFFFF">
              <a:alpha val="31514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2899142" y="2161003"/>
            <a:ext cx="8233" cy="8233"/>
          </a:xfrm>
          <a:prstGeom prst="ellipse">
            <a:avLst/>
          </a:prstGeom>
          <a:solidFill>
            <a:srgbClr val="FFFFFF">
              <a:alpha val="1508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4992624" y="1051560"/>
            <a:ext cx="2194560" cy="914"/>
          </a:xfrm>
          <a:prstGeom prst="line">
            <a:avLst/>
          </a:prstGeom>
          <a:noFill/>
          <a:ln w="1778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187184" y="1051560"/>
            <a:ext cx="914" cy="2194560"/>
          </a:xfrm>
          <a:prstGeom prst="line">
            <a:avLst/>
          </a:prstGeom>
          <a:noFill/>
          <a:ln w="1778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4992624" y="3246120"/>
            <a:ext cx="2194560" cy="914"/>
          </a:xfrm>
          <a:prstGeom prst="line">
            <a:avLst/>
          </a:prstGeom>
          <a:noFill/>
          <a:ln w="1778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4992624" y="1051560"/>
            <a:ext cx="914" cy="2194560"/>
          </a:xfrm>
          <a:prstGeom prst="line">
            <a:avLst/>
          </a:prstGeom>
          <a:noFill/>
          <a:ln w="1778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821070" y="1276502"/>
            <a:ext cx="1141171" cy="914"/>
          </a:xfrm>
          <a:prstGeom prst="line">
            <a:avLst/>
          </a:prstGeom>
          <a:noFill/>
          <a:ln w="1778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962242" y="1276502"/>
            <a:ext cx="914" cy="1141171"/>
          </a:xfrm>
          <a:prstGeom prst="line">
            <a:avLst/>
          </a:prstGeom>
          <a:noFill/>
          <a:ln w="1778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5821070" y="2417674"/>
            <a:ext cx="1141171" cy="914"/>
          </a:xfrm>
          <a:prstGeom prst="line">
            <a:avLst/>
          </a:prstGeom>
          <a:noFill/>
          <a:ln w="1778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5821070" y="1276502"/>
            <a:ext cx="914" cy="1141171"/>
          </a:xfrm>
          <a:prstGeom prst="line">
            <a:avLst/>
          </a:prstGeom>
          <a:noFill/>
          <a:ln w="1778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992624" y="1051560"/>
            <a:ext cx="828446" cy="224942"/>
          </a:xfrm>
          <a:prstGeom prst="line">
            <a:avLst/>
          </a:prstGeom>
          <a:noFill/>
          <a:ln w="12700">
            <a:solidFill>
              <a:srgbClr val="22D3EE">
                <a:alpha val="4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V="1">
            <a:off x="6962242" y="1051560"/>
            <a:ext cx="224942" cy="224942"/>
          </a:xfrm>
          <a:prstGeom prst="line">
            <a:avLst/>
          </a:prstGeom>
          <a:noFill/>
          <a:ln w="12700">
            <a:solidFill>
              <a:srgbClr val="22D3EE">
                <a:alpha val="4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962242" y="2417674"/>
            <a:ext cx="224942" cy="828446"/>
          </a:xfrm>
          <a:prstGeom prst="line">
            <a:avLst/>
          </a:prstGeom>
          <a:noFill/>
          <a:ln w="12700">
            <a:solidFill>
              <a:srgbClr val="22D3EE">
                <a:alpha val="4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V="1">
            <a:off x="4992624" y="2417674"/>
            <a:ext cx="828446" cy="828446"/>
          </a:xfrm>
          <a:prstGeom prst="line">
            <a:avLst/>
          </a:prstGeom>
          <a:noFill/>
          <a:ln w="12700">
            <a:solidFill>
              <a:srgbClr val="22D3EE">
                <a:alpha val="4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960620" y="1019556"/>
            <a:ext cx="64008" cy="64008"/>
          </a:xfrm>
          <a:prstGeom prst="ellipse">
            <a:avLst/>
          </a:prstGeom>
          <a:solidFill>
            <a:srgbClr val="22D3EE">
              <a:alpha val="78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7155180" y="1019556"/>
            <a:ext cx="64008" cy="64008"/>
          </a:xfrm>
          <a:prstGeom prst="ellipse">
            <a:avLst/>
          </a:prstGeom>
          <a:solidFill>
            <a:srgbClr val="22D3EE">
              <a:alpha val="78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7155180" y="3214116"/>
            <a:ext cx="64008" cy="64008"/>
          </a:xfrm>
          <a:prstGeom prst="ellipse">
            <a:avLst/>
          </a:prstGeom>
          <a:solidFill>
            <a:srgbClr val="22D3EE">
              <a:alpha val="78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4960620" y="3214116"/>
            <a:ext cx="64008" cy="64008"/>
          </a:xfrm>
          <a:prstGeom prst="ellipse">
            <a:avLst/>
          </a:prstGeom>
          <a:solidFill>
            <a:srgbClr val="22D3EE">
              <a:alpha val="78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5789066" y="1244498"/>
            <a:ext cx="64008" cy="64008"/>
          </a:xfrm>
          <a:prstGeom prst="ellipse">
            <a:avLst/>
          </a:prstGeom>
          <a:solidFill>
            <a:srgbClr val="22D3EE">
              <a:alpha val="78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6930238" y="1244498"/>
            <a:ext cx="64008" cy="64008"/>
          </a:xfrm>
          <a:prstGeom prst="ellipse">
            <a:avLst/>
          </a:prstGeom>
          <a:solidFill>
            <a:srgbClr val="22D3EE">
              <a:alpha val="78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6930238" y="2385670"/>
            <a:ext cx="64008" cy="64008"/>
          </a:xfrm>
          <a:prstGeom prst="ellipse">
            <a:avLst/>
          </a:prstGeom>
          <a:solidFill>
            <a:srgbClr val="22D3EE">
              <a:alpha val="78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5789066" y="2385670"/>
            <a:ext cx="64008" cy="64008"/>
          </a:xfrm>
          <a:prstGeom prst="ellipse">
            <a:avLst/>
          </a:prstGeom>
          <a:solidFill>
            <a:srgbClr val="22D3EE">
              <a:alpha val="78000"/>
            </a:srgbClr>
          </a:solidFill>
          <a:ln/>
        </p:spPr>
      </p:sp>
      <p:sp>
        <p:nvSpPr>
          <p:cNvPr id="122" name="Text 120"/>
          <p:cNvSpPr/>
          <p:nvPr/>
        </p:nvSpPr>
        <p:spPr>
          <a:xfrm>
            <a:off x="914400" y="12344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23" name="Text 121"/>
          <p:cNvSpPr/>
          <p:nvPr/>
        </p:nvSpPr>
        <p:spPr>
          <a:xfrm>
            <a:off x="914400" y="35661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operations. Fixed latency. Honest numbers.</a:t>
            </a:r>
            <a:endParaRPr lang="en-US" sz="3400" dirty="0"/>
          </a:p>
        </p:txBody>
      </p:sp>
      <p:sp>
        <p:nvSpPr>
          <p:cNvPr id="124" name="Text 122"/>
          <p:cNvSpPr/>
          <p:nvPr/>
        </p:nvSpPr>
        <p:spPr>
          <a:xfrm>
            <a:off x="1463040" y="4480560"/>
            <a:ext cx="9235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A6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O(1) accelerator for the structured-aggregation fraction of web, mobile, network and embedded software — big local speed-ups, an Amdahl-bounded end-to-end gain, and a safe, measure-first path to adoption.</a:t>
            </a:r>
            <a:endParaRPr lang="en-US" sz="1500" dirty="0"/>
          </a:p>
        </p:txBody>
      </p:sp>
      <p:sp>
        <p:nvSpPr>
          <p:cNvPr id="125" name="Shape 123"/>
          <p:cNvSpPr/>
          <p:nvPr/>
        </p:nvSpPr>
        <p:spPr>
          <a:xfrm>
            <a:off x="2743200" y="5715000"/>
            <a:ext cx="613745" cy="365760"/>
          </a:xfrm>
          <a:prstGeom prst="roundRect">
            <a:avLst>
              <a:gd name="adj" fmla="val 42500"/>
            </a:avLst>
          </a:prstGeom>
          <a:solidFill>
            <a:srgbClr val="22D3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2743200" y="5715000"/>
            <a:ext cx="6137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060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3676985" y="5715000"/>
            <a:ext cx="916595" cy="365760"/>
          </a:xfrm>
          <a:prstGeom prst="roundRect">
            <a:avLst>
              <a:gd name="adj" fmla="val 42500"/>
            </a:avLst>
          </a:prstGeom>
          <a:solidFill>
            <a:srgbClr val="A3E635"/>
          </a:solidFill>
          <a:ln/>
        </p:spPr>
      </p:sp>
      <p:sp>
        <p:nvSpPr>
          <p:cNvPr id="128" name="Text 126"/>
          <p:cNvSpPr/>
          <p:nvPr/>
        </p:nvSpPr>
        <p:spPr>
          <a:xfrm>
            <a:off x="3676985" y="5715000"/>
            <a:ext cx="9165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060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200" dirty="0"/>
          </a:p>
        </p:txBody>
      </p:sp>
      <p:sp>
        <p:nvSpPr>
          <p:cNvPr id="129" name="Shape 127"/>
          <p:cNvSpPr/>
          <p:nvPr/>
        </p:nvSpPr>
        <p:spPr>
          <a:xfrm>
            <a:off x="4913620" y="5715000"/>
            <a:ext cx="1017544" cy="365760"/>
          </a:xfrm>
          <a:prstGeom prst="roundRect">
            <a:avLst>
              <a:gd name="adj" fmla="val 42500"/>
            </a:avLst>
          </a:prstGeom>
          <a:solidFill>
            <a:srgbClr val="A78BFA"/>
          </a:solidFill>
          <a:ln/>
        </p:spPr>
      </p:sp>
      <p:sp>
        <p:nvSpPr>
          <p:cNvPr id="130" name="Text 128"/>
          <p:cNvSpPr/>
          <p:nvPr/>
        </p:nvSpPr>
        <p:spPr>
          <a:xfrm>
            <a:off x="4913620" y="5715000"/>
            <a:ext cx="1017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060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00" dirty="0"/>
          </a:p>
        </p:txBody>
      </p:sp>
      <p:sp>
        <p:nvSpPr>
          <p:cNvPr id="131" name="Shape 129"/>
          <p:cNvSpPr/>
          <p:nvPr/>
        </p:nvSpPr>
        <p:spPr>
          <a:xfrm>
            <a:off x="6251204" y="5715000"/>
            <a:ext cx="1118494" cy="365760"/>
          </a:xfrm>
          <a:prstGeom prst="roundRect">
            <a:avLst>
              <a:gd name="adj" fmla="val 42500"/>
            </a:avLst>
          </a:prstGeom>
          <a:solidFill>
            <a:srgbClr val="F5B942"/>
          </a:solidFill>
          <a:ln/>
        </p:spPr>
      </p:sp>
      <p:sp>
        <p:nvSpPr>
          <p:cNvPr id="132" name="Text 130"/>
          <p:cNvSpPr/>
          <p:nvPr/>
        </p:nvSpPr>
        <p:spPr>
          <a:xfrm>
            <a:off x="6251204" y="5715000"/>
            <a:ext cx="11184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060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1200" dirty="0"/>
          </a:p>
        </p:txBody>
      </p:sp>
      <p:sp>
        <p:nvSpPr>
          <p:cNvPr id="133" name="Text 131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OmniFit  ·  software &amp; systems optimization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OmniFit — Software &amp; Systems Optimization</dc:title>
  <dc:subject>PptxGenJS Presentation</dc:subject>
  <dc:creator>OMNIBAL</dc:creator>
  <cp:lastModifiedBy>OMNIBAL</cp:lastModifiedBy>
  <cp:revision>1</cp:revision>
  <dcterms:created xsi:type="dcterms:W3CDTF">2026-07-27T09:28:29Z</dcterms:created>
  <dcterms:modified xsi:type="dcterms:W3CDTF">2026-07-27T09:28:29Z</dcterms:modified>
</cp:coreProperties>
</file>