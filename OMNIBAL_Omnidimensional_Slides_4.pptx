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153498" y="1371600"/>
            <a:ext cx="1280160" cy="1280160"/>
          </a:xfrm>
          <a:prstGeom prst="rect">
            <a:avLst/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23069" y="1602029"/>
            <a:ext cx="128016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92640" y="1832458"/>
            <a:ext cx="1280160" cy="1280160"/>
          </a:xfrm>
          <a:prstGeom prst="rect">
            <a:avLst/>
          </a:prstGeom>
          <a:solidFill>
            <a:srgbClr val="FFC857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08008" y="3383280"/>
            <a:ext cx="685800" cy="685800"/>
          </a:xfrm>
          <a:prstGeom prst="rect">
            <a:avLst/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084564" y="3506724"/>
            <a:ext cx="685800" cy="685800"/>
          </a:xfrm>
          <a:prstGeom prst="rect">
            <a:avLst/>
          </a:prstGeom>
          <a:solidFill>
            <a:srgbClr val="5E6FB8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961120" y="3630168"/>
            <a:ext cx="685800" cy="685800"/>
          </a:xfrm>
          <a:prstGeom prst="rect">
            <a:avLst/>
          </a:prstGeom>
          <a:solidFill>
            <a:srgbClr val="CADCFC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79531" y="4023360"/>
            <a:ext cx="502920" cy="502920"/>
          </a:xfrm>
          <a:prstGeom prst="rect">
            <a:avLst/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789006" y="4113886"/>
            <a:ext cx="502920" cy="502920"/>
          </a:xfrm>
          <a:prstGeom prst="rect">
            <a:avLst/>
          </a:prstGeom>
          <a:solidFill>
            <a:srgbClr val="5E6FB8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98480" y="4204411"/>
            <a:ext cx="502920" cy="502920"/>
          </a:xfrm>
          <a:prstGeom prst="rect">
            <a:avLst/>
          </a:prstGeom>
          <a:solidFill>
            <a:srgbClr val="E0A82E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" y="1554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STARDATE 2026 · MACHINE-VERIFIED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594360" y="19202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Omnidimensional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Hyperdimensional</a:t>
            </a:r>
            <a:endParaRPr lang="en-US" sz="4600" dirty="0"/>
          </a:p>
        </p:txBody>
      </p:sp>
      <p:sp>
        <p:nvSpPr>
          <p:cNvPr id="83" name="Text 81"/>
          <p:cNvSpPr/>
          <p:nvPr/>
        </p:nvSpPr>
        <p:spPr>
          <a:xfrm>
            <a:off x="640080" y="4114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· GP · HP  —  one midpoint balance, any power, any dimension, with worked examples.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Kanniappan</a:t>
            </a:r>
            <a:pPr indent="0" marL="0">
              <a:buNone/>
            </a:pPr>
            <a:r>
              <a:rPr lang="en-US" sz="14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Formulas with Space Exploration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every run on its midpoint</a:t>
            </a:r>
            <a:endParaRPr lang="en-US" sz="3000" dirty="0"/>
          </a:p>
        </p:txBody>
      </p:sp>
      <p:sp>
        <p:nvSpPr>
          <p:cNvPr id="74" name="Text 72"/>
          <p:cNvSpPr/>
          <p:nvPr/>
        </p:nvSpPr>
        <p:spPr>
          <a:xfrm>
            <a:off x="548640" y="16916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each number not from zero, but from the middle M. Then every number is “the middle, plus or minus a step,” and the steps come in mirror pairs.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822960" y="3840480"/>
            <a:ext cx="6400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023360" y="3017520"/>
            <a:ext cx="0" cy="164592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1549908" y="3767328"/>
            <a:ext cx="146304" cy="146304"/>
          </a:xfrm>
          <a:prstGeom prst="ellipse">
            <a:avLst/>
          </a:prstGeom>
          <a:solidFill>
            <a:srgbClr val="F09090"/>
          </a:solidFill>
          <a:ln/>
        </p:spPr>
      </p:sp>
      <p:sp>
        <p:nvSpPr>
          <p:cNvPr id="79" name="Text 77"/>
          <p:cNvSpPr/>
          <p:nvPr/>
        </p:nvSpPr>
        <p:spPr>
          <a:xfrm>
            <a:off x="13944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50008" y="3767328"/>
            <a:ext cx="146304" cy="146304"/>
          </a:xfrm>
          <a:prstGeom prst="ellipse">
            <a:avLst/>
          </a:prstGeom>
          <a:solidFill>
            <a:srgbClr val="F09090"/>
          </a:solidFill>
          <a:ln/>
        </p:spPr>
      </p:sp>
      <p:sp>
        <p:nvSpPr>
          <p:cNvPr id="81" name="Text 79"/>
          <p:cNvSpPr/>
          <p:nvPr/>
        </p:nvSpPr>
        <p:spPr>
          <a:xfrm>
            <a:off x="21945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150108" y="3767328"/>
            <a:ext cx="146304" cy="146304"/>
          </a:xfrm>
          <a:prstGeom prst="ellipse">
            <a:avLst/>
          </a:prstGeom>
          <a:solidFill>
            <a:srgbClr val="F09090"/>
          </a:solidFill>
          <a:ln/>
        </p:spPr>
      </p:sp>
      <p:sp>
        <p:nvSpPr>
          <p:cNvPr id="83" name="Text 81"/>
          <p:cNvSpPr/>
          <p:nvPr/>
        </p:nvSpPr>
        <p:spPr>
          <a:xfrm>
            <a:off x="29946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750308" y="3767328"/>
            <a:ext cx="146304" cy="146304"/>
          </a:xfrm>
          <a:prstGeom prst="ellipse">
            <a:avLst/>
          </a:prstGeom>
          <a:solidFill>
            <a:srgbClr val="7CFC9E"/>
          </a:solidFill>
          <a:ln/>
        </p:spPr>
      </p:sp>
      <p:sp>
        <p:nvSpPr>
          <p:cNvPr id="85" name="Text 83"/>
          <p:cNvSpPr/>
          <p:nvPr/>
        </p:nvSpPr>
        <p:spPr>
          <a:xfrm>
            <a:off x="45948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550408" y="3767328"/>
            <a:ext cx="146304" cy="146304"/>
          </a:xfrm>
          <a:prstGeom prst="ellipse">
            <a:avLst/>
          </a:prstGeom>
          <a:solidFill>
            <a:srgbClr val="7CFC9E"/>
          </a:solidFill>
          <a:ln/>
        </p:spPr>
      </p:sp>
      <p:sp>
        <p:nvSpPr>
          <p:cNvPr id="87" name="Text 85"/>
          <p:cNvSpPr/>
          <p:nvPr/>
        </p:nvSpPr>
        <p:spPr>
          <a:xfrm>
            <a:off x="53949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50508" y="3767328"/>
            <a:ext cx="146304" cy="146304"/>
          </a:xfrm>
          <a:prstGeom prst="ellipse">
            <a:avLst/>
          </a:prstGeom>
          <a:solidFill>
            <a:srgbClr val="7CFC9E"/>
          </a:solidFill>
          <a:ln/>
        </p:spPr>
      </p:sp>
      <p:sp>
        <p:nvSpPr>
          <p:cNvPr id="89" name="Text 87"/>
          <p:cNvSpPr/>
          <p:nvPr/>
        </p:nvSpPr>
        <p:spPr>
          <a:xfrm>
            <a:off x="61950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822960" y="4937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steps cancel · even steps survive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7955280" y="16916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92" name="Text 90"/>
          <p:cNvSpPr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LETTERS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2960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600" dirty="0"/>
          </a:p>
        </p:txBody>
      </p:sp>
      <p:sp>
        <p:nvSpPr>
          <p:cNvPr id="94" name="Text 92"/>
          <p:cNvSpPr/>
          <p:nvPr/>
        </p:nvSpPr>
        <p:spPr>
          <a:xfrm>
            <a:off x="896112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number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822960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96" name="Text 94"/>
          <p:cNvSpPr/>
          <p:nvPr/>
        </p:nvSpPr>
        <p:spPr>
          <a:xfrm>
            <a:off x="8961120" y="3264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number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822960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600" dirty="0"/>
          </a:p>
        </p:txBody>
      </p:sp>
      <p:sp>
        <p:nvSpPr>
          <p:cNvPr id="98" name="Text 96"/>
          <p:cNvSpPr/>
          <p:nvPr/>
        </p:nvSpPr>
        <p:spPr>
          <a:xfrm>
            <a:off x="896112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of terms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8229600" y="4754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00" name="Text 98"/>
          <p:cNvSpPr/>
          <p:nvPr/>
        </p:nvSpPr>
        <p:spPr>
          <a:xfrm>
            <a:off x="8961120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= (F+L)/2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OMNIDIMENSIONAL ENGINE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balance formula, three families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S[f ; F, L]  =  X · Σ  [ f⁽²ᵐ⁾(M) / (2m)! ] · μ₂ₘ(X)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engine a term-function f and it returns the family: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48640" y="3749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A3475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kᵈ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82296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— add powers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251960" y="3749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1" name="Text 79"/>
          <p:cNvSpPr/>
          <p:nvPr/>
        </p:nvSpPr>
        <p:spPr>
          <a:xfrm>
            <a:off x="452628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log k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452628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— multiply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955280" y="3749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k⁻ᵖ</a:t>
            </a:r>
            <a:endParaRPr lang="en-US" sz="2400" dirty="0"/>
          </a:p>
        </p:txBody>
      </p:sp>
      <p:sp>
        <p:nvSpPr>
          <p:cNvPr id="85" name="Text 83"/>
          <p:cNvSpPr/>
          <p:nvPr/>
        </p:nvSpPr>
        <p:spPr>
          <a:xfrm>
            <a:off x="822960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— add reciprocals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OMNIDIMENSIONAL → HYPERDIMENSIONAL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method, in five steps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" y="1956816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6" name="Text 74"/>
          <p:cNvSpPr/>
          <p:nvPr/>
        </p:nvSpPr>
        <p:spPr>
          <a:xfrm>
            <a:off x="77724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417320" y="1901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Recenter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4023360" y="19019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k = M + j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48640" y="264261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2A3475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" y="281635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1" name="Text 79"/>
          <p:cNvSpPr/>
          <p:nvPr/>
        </p:nvSpPr>
        <p:spPr>
          <a:xfrm>
            <a:off x="77724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417320" y="2761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4023360" y="27614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 about M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548640" y="350215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85" name="Shape 83"/>
          <p:cNvSpPr/>
          <p:nvPr/>
        </p:nvSpPr>
        <p:spPr>
          <a:xfrm>
            <a:off x="777240" y="3675888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6" name="Text 84"/>
          <p:cNvSpPr/>
          <p:nvPr/>
        </p:nvSpPr>
        <p:spPr>
          <a:xfrm>
            <a:off x="77724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417320" y="3621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700" dirty="0"/>
          </a:p>
        </p:txBody>
      </p:sp>
      <p:sp>
        <p:nvSpPr>
          <p:cNvPr id="88" name="Text 86"/>
          <p:cNvSpPr/>
          <p:nvPr/>
        </p:nvSpPr>
        <p:spPr>
          <a:xfrm>
            <a:off x="4023360" y="36210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steps vanish by mirror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548640" y="436168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2A3475"/>
          </a:solidFill>
          <a:ln/>
        </p:spPr>
      </p:sp>
      <p:sp>
        <p:nvSpPr>
          <p:cNvPr id="90" name="Shape 88"/>
          <p:cNvSpPr/>
          <p:nvPr/>
        </p:nvSpPr>
        <p:spPr>
          <a:xfrm>
            <a:off x="777240" y="4535424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1" name="Text 89"/>
          <p:cNvSpPr/>
          <p:nvPr/>
        </p:nvSpPr>
        <p:spPr>
          <a:xfrm>
            <a:off x="7772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1417320" y="4480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700" dirty="0"/>
          </a:p>
        </p:txBody>
      </p:sp>
      <p:sp>
        <p:nvSpPr>
          <p:cNvPr id="93" name="Text 91"/>
          <p:cNvSpPr/>
          <p:nvPr/>
        </p:nvSpPr>
        <p:spPr>
          <a:xfrm>
            <a:off x="40233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steps → moment blocks μ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548640" y="522122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95" name="Shape 93"/>
          <p:cNvSpPr/>
          <p:nvPr/>
        </p:nvSpPr>
        <p:spPr>
          <a:xfrm>
            <a:off x="777240" y="5394960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6" name="Text 94"/>
          <p:cNvSpPr/>
          <p:nvPr/>
        </p:nvSpPr>
        <p:spPr>
          <a:xfrm>
            <a:off x="77724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1417320" y="53400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</a:t>
            </a:r>
            <a:endParaRPr lang="en-US" sz="1700" dirty="0"/>
          </a:p>
        </p:txBody>
      </p:sp>
      <p:sp>
        <p:nvSpPr>
          <p:cNvPr id="98" name="Text 96"/>
          <p:cNvSpPr/>
          <p:nvPr/>
        </p:nvSpPr>
        <p:spPr>
          <a:xfrm>
            <a:off x="4023360" y="53400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AP / GP / HP form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enters only through the count: a hypercube of side n in d dimensions has X = nᵈ cells.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SERIES · ADD POWERS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— the specific formula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8288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Dᵖ  =  X · Σ  C(p, 2m) · Mᵖ⁻²ᵐ · μ₂ₘ(X)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548640" y="3200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coefficients weight the falling powers of the midpoint; the moment blocks carry the even steps. Even powers give X·[bracket]; odd powers carry an extra M.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325466" y="4206240"/>
            <a:ext cx="822960" cy="822960"/>
          </a:xfrm>
          <a:prstGeom prst="rect">
            <a:avLst/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77333" y="4354373"/>
            <a:ext cx="82296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29200" y="4502506"/>
            <a:ext cx="822960" cy="822960"/>
          </a:xfrm>
          <a:prstGeom prst="rect">
            <a:avLst/>
          </a:prstGeom>
          <a:solidFill>
            <a:srgbClr val="FFC857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power is a polynomial, the sum stops — short and exact.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SERIES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1 to 10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8115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formula  Dᵖ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M² + μ₂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M³ + 3·M·μ₂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M⁴ + 6·M²·μ₂ + μ₄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M⁵ + 10·M³·μ₂ + 5·M·μ₄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M⁶ + 15·M⁴·μ₂ + 15·M²·μ₄ + μ₆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M⁷ + 21·M⁵·μ₂ + 35·M³·μ₄ + 7·M·μ₆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M⁸ + 28·M⁶·μ₂ + 70·M⁴·μ₄ + 28·M²·μ₆ + μ₈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M⁹ + 36·M⁷·μ₂ + 126·M⁵·μ₄ + 84·M³·μ₆ + 9·M·μ₈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D¹⁰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· [ M¹⁰ + 45·M⁸·μ₂ + 210·M⁶·μ₄ + 210·M⁴·μ₆ + 45·M²·μ₈ + μ₁₀ 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SERIES · WORKED EXAMPLE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of cubes, 3 to 7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D³ = X · M · [ M² + (X²−1)/4 ]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7315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8016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3, L = 7   →   M = 5, X = 5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731520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80160" y="3493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M² = 25 ,   (X²−1)/4 = 24/4 = 6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731520" y="4059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280160" y="4059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 = 25 + 6 = 31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731520" y="4626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280160" y="4626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D³ = 5 · 5 · 31 = 775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731520" y="5193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280160" y="5193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Direct: 27 + 64 + 125 + 216 + 343 = 775  ✓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9326880" y="29260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2688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</a:t>
            </a:r>
            <a:endParaRPr lang="en-US" sz="5400" dirty="0"/>
          </a:p>
        </p:txBody>
      </p:sp>
      <p:sp>
        <p:nvSpPr>
          <p:cNvPr id="88" name="Text 86"/>
          <p:cNvSpPr/>
          <p:nvPr/>
        </p:nvSpPr>
        <p:spPr>
          <a:xfrm>
            <a:off x="9326880" y="4480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steps, not 5 additions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· HYPERDIMENSIONAL 1 → 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formula, dimensions 1 to 5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017520"/>
                <a:gridCol w="29535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X = 2ᵈ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1²+…+X²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 =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2⁴ =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2⁵ =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5" name="Text 72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count X grows — the formula D² = X·[M²+(X²−1)/12] never changes.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SERIES · MULTIPLY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— the specific formula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8288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 =  ( x × y )^(X / 2)      power w →  ( x × y )^(w·X/2)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548640" y="3200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run instead of adding it. The product is the geometric midpoint (the ends multiplied) raised to half the count — the exact mirror of the AP power-sum.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303520" y="4206240"/>
            <a:ext cx="1280160" cy="1280160"/>
          </a:xfrm>
          <a:prstGeom prst="rect">
            <a:avLst/>
          </a:prstGeom>
          <a:ln w="19050">
            <a:solidFill>
              <a:srgbClr val="6EC8E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23560" y="4526280"/>
            <a:ext cx="640080" cy="640080"/>
          </a:xfrm>
          <a:prstGeom prst="rect">
            <a:avLst/>
          </a:prstGeom>
          <a:ln w="19050">
            <a:solidFill>
              <a:srgbClr val="FFC85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scales the sum of the ends · GP raises the product of the ends.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SERIES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1 to 10  (ends 2 &amp; 5, count 2)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120640"/>
                <a:gridCol w="46908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= (x×y)^(w·X/2)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(2×8)¹·²/2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(2×8)²·²/2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(2×5)³·²/2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(2×5)⁴·²/2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(2×5)⁵·²/2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(2×5)⁶·²/2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(2×5)⁷·²/2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(2×5)⁸·²/2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(2×5)⁹·²/2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(2×5)¹⁰·²/2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SERIES · WORKED EXAMPLE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ends 2 &amp; 5, power 3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= ( x × y )^(w · X / 2)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7315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8016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ends x = 2, y = 5 ,  count X = 2 ,  power w = 3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731520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80160" y="3493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 = w·X/2 = 3·2/2 = 3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731520" y="4059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280160" y="4059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= (2 × 5)³ = 10³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731520" y="4626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280160" y="4626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1000</a:t>
            </a:r>
            <a:endParaRPr lang="en-US" sz="1700" dirty="0"/>
          </a:p>
        </p:txBody>
      </p:sp>
      <p:sp>
        <p:nvSpPr>
          <p:cNvPr id="84" name="Shape 82"/>
          <p:cNvSpPr/>
          <p:nvPr/>
        </p:nvSpPr>
        <p:spPr>
          <a:xfrm>
            <a:off x="9326880" y="29260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2688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4600" dirty="0"/>
          </a:p>
        </p:txBody>
      </p:sp>
      <p:sp>
        <p:nvSpPr>
          <p:cNvPr id="86" name="Text 84"/>
          <p:cNvSpPr/>
          <p:nvPr/>
        </p:nvSpPr>
        <p:spPr>
          <a:xfrm>
            <a:off x="932688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exponentiation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· HYPERDIMENSIONAL 1 → 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across dimensions 1 to 5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743200"/>
                <a:gridCol w="34107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X = 2ᵈ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= 16^(X/2)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 =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65536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2⁴ =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4294967296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2⁵ =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16¹⁶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1844674407370955…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5" name="Text 72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dimensions → 16¹⁶, a twenty-digit product, in one step.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SERIES · ADD RECIPROCALS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— the specific formula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= Σ k⁻ᵖ = ζ(p, F) − ζ(p, L+1)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548640" y="28346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 · Σ  (p)₂ₘ/(2m)! · μ₂ₘ(X) / M^(p+2m)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548640" y="4023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rising factorial replaces the binomial; reciprocal powers of M replace positive ones. Exact via the zeta function; the balanced series converges when F ≥ 1.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SERIES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1 to 10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3931920"/>
                <a:gridCol w="29535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k⁻ᵖ  (range)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k⁻¹, 1…5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137/60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2.28333333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k⁻², 1…5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5269/3600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1.46361111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k⁻³, 1…5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256103/216000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1.18566204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k⁻⁴,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22369/20736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1.07875193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k⁻⁵,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257875/248832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1.03634179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k⁻⁶,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3037465/2985984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1.01724088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k⁻⁷,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36130315/35831808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1.00833078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k⁻⁸,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431733409/42998169…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1.00407392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k⁻⁹,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5170139875/5159780…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1.00200774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k⁻¹⁰, 1…4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61978938025/619173…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1.00099445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SERIES · WORKED EXAMPLE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Reciprocals, 1 to 5, power 1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= 1 + ½ + ⅓ + ¼ + ⅕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7315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8016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3 , X = 5  (balanced series)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731520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80160" y="3493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m=0: 5/3 = 1.6667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731520" y="4059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280160" y="4059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m=1: 5·2/27 = 0.3704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731520" y="4626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280160" y="4626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m=2, m=3, …  → converges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731520" y="5193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280160" y="5193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= 137/60 = 2.28333…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9326880" y="29260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268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137/60</a:t>
            </a:r>
            <a:endParaRPr lang="en-US" sz="3400" dirty="0"/>
          </a:p>
        </p:txBody>
      </p:sp>
      <p:sp>
        <p:nvSpPr>
          <p:cNvPr id="88" name="Text 86"/>
          <p:cNvSpPr/>
          <p:nvPr/>
        </p:nvSpPr>
        <p:spPr>
          <a:xfrm>
            <a:off x="932688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via ζ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· HYPERDIMENSIONAL 1 → 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sums, dimensions 1 to 5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657600"/>
                <a:gridCol w="24963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X = 2ᵈ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1/1+…+1/X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3/2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 =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25/12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2.083333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761/280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2.717857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2⁴ =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2436559/720720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3.380729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2⁵ =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586061125622639/…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4.058495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5" name="Text 72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sums crawl upward — even 32 terms barely pass 4. The gentlest growth of the three.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DUALITY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families, one balance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743200"/>
                <a:gridCol w="27432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+ last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× last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reciprocals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acts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raising ^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weighting series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converges (ζ)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nᵈ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nᵈ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nᵈ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5" name="Text 72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the same moment blocks μ — the hidden unity beneath adding, multiplying, and inverting.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power. Any dimension. Exact.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8288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75" name="Text 73"/>
          <p:cNvSpPr/>
          <p:nvPr/>
        </p:nvSpPr>
        <p:spPr>
          <a:xfrm>
            <a:off x="86868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76" name="Text 74"/>
          <p:cNvSpPr/>
          <p:nvPr/>
        </p:nvSpPr>
        <p:spPr>
          <a:xfrm>
            <a:off x="86868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charted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3291840" y="2194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10 for each family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172200" y="18288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79" name="Text 77"/>
          <p:cNvSpPr/>
          <p:nvPr/>
        </p:nvSpPr>
        <p:spPr>
          <a:xfrm>
            <a:off x="649224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80" name="Text 78"/>
          <p:cNvSpPr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8915400" y="2194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→ penteract, X = nᵈ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54864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3" name="Text 81"/>
          <p:cNvSpPr/>
          <p:nvPr/>
        </p:nvSpPr>
        <p:spPr>
          <a:xfrm>
            <a:off x="86868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4" name="Text 82"/>
          <p:cNvSpPr/>
          <p:nvPr/>
        </p:nvSpPr>
        <p:spPr>
          <a:xfrm>
            <a:off x="868680" y="4937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329184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· GP · HP, one balance</a:t>
            </a:r>
            <a:endParaRPr lang="en-US" sz="1250" dirty="0"/>
          </a:p>
        </p:txBody>
      </p:sp>
      <p:sp>
        <p:nvSpPr>
          <p:cNvPr id="86" name="Shape 84"/>
          <p:cNvSpPr/>
          <p:nvPr/>
        </p:nvSpPr>
        <p:spPr>
          <a:xfrm>
            <a:off x="617220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92240" y="4069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8" name="Text 86"/>
          <p:cNvSpPr/>
          <p:nvPr/>
        </p:nvSpPr>
        <p:spPr>
          <a:xfrm>
            <a:off x="6492240" y="4937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891540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verified exact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· How · What if?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75" name="Shape 73"/>
          <p:cNvSpPr/>
          <p:nvPr/>
        </p:nvSpPr>
        <p:spPr>
          <a:xfrm>
            <a:off x="822960" y="2029968"/>
            <a:ext cx="384048" cy="38404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6" name="Text 74"/>
          <p:cNvSpPr/>
          <p:nvPr/>
        </p:nvSpPr>
        <p:spPr>
          <a:xfrm>
            <a:off x="8229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1463040" y="19202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measure from the midpoint — what makes the awkward parts cancel there?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A3475"/>
          </a:solidFill>
          <a:ln/>
        </p:spPr>
      </p:sp>
      <p:sp>
        <p:nvSpPr>
          <p:cNvPr id="79" name="Shape 77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0" name="Text 78"/>
          <p:cNvSpPr/>
          <p:nvPr/>
        </p:nvSpPr>
        <p:spPr>
          <a:xfrm>
            <a:off x="82296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1463040" y="29260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odd powers carry an extra M, and even powers not?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548640" y="37947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83" name="Shape 81"/>
          <p:cNvSpPr/>
          <p:nvPr/>
        </p:nvSpPr>
        <p:spPr>
          <a:xfrm>
            <a:off x="822960" y="4041648"/>
            <a:ext cx="384048" cy="38404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5" name="Text 83"/>
          <p:cNvSpPr/>
          <p:nvPr/>
        </p:nvSpPr>
        <p:spPr>
          <a:xfrm>
            <a:off x="1463040" y="39319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GP explode, while HP barely grows?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548640" y="48006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A3475"/>
          </a:solidFill>
          <a:ln/>
        </p:spPr>
      </p:sp>
      <p:sp>
        <p:nvSpPr>
          <p:cNvPr id="87" name="Shape 85"/>
          <p:cNvSpPr/>
          <p:nvPr/>
        </p:nvSpPr>
        <p:spPr>
          <a:xfrm>
            <a:off x="822960" y="5047488"/>
            <a:ext cx="384048" cy="38404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8" name="Text 86"/>
          <p:cNvSpPr/>
          <p:nvPr/>
        </p:nvSpPr>
        <p:spPr>
          <a:xfrm>
            <a:off x="82296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1463040" y="4937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all three families share the same moment blocks μ?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GO BIGGER — EXPLAINED LIKE YOU'RE 10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 examples, super simple words</a:t>
            </a:r>
            <a:endParaRPr lang="en-US" sz="3000" dirty="0"/>
          </a:p>
        </p:txBody>
      </p:sp>
      <p:sp>
        <p:nvSpPr>
          <p:cNvPr id="74" name="Text 72"/>
          <p:cNvSpPr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use bigger starting numbers (above 7) and lay them out in squares and cubes — two dimensions and up. But the idea stays the same, and we'll explain it the way a friend would.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548640" y="32004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76" name="Text 74"/>
          <p:cNvSpPr/>
          <p:nvPr/>
        </p:nvSpPr>
        <p:spPr>
          <a:xfrm>
            <a:off x="822960" y="3383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</a:t>
            </a:r>
            <a:endParaRPr lang="en-US" sz="3400" dirty="0"/>
          </a:p>
        </p:txBody>
      </p:sp>
      <p:sp>
        <p:nvSpPr>
          <p:cNvPr id="77" name="Text 75"/>
          <p:cNvSpPr/>
          <p:nvPr/>
        </p:nvSpPr>
        <p:spPr>
          <a:xfrm>
            <a:off x="82296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 of numbers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82296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= 9 numbers in a grid, like tic-tac-toe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251960" y="32004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2A3475"/>
          </a:solidFill>
          <a:ln/>
        </p:spPr>
      </p:sp>
      <p:sp>
        <p:nvSpPr>
          <p:cNvPr id="80" name="Text 78"/>
          <p:cNvSpPr/>
          <p:nvPr/>
        </p:nvSpPr>
        <p:spPr>
          <a:xfrm>
            <a:off x="4526280" y="3383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</a:t>
            </a:r>
            <a:endParaRPr lang="en-US" sz="3400" dirty="0"/>
          </a:p>
        </p:txBody>
      </p:sp>
      <p:sp>
        <p:nvSpPr>
          <p:cNvPr id="81" name="Text 79"/>
          <p:cNvSpPr/>
          <p:nvPr/>
        </p:nvSpPr>
        <p:spPr>
          <a:xfrm>
            <a:off x="452628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CUBE of numbers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452628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 × 2 = 8 numbers stacked in a box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955280" y="32004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0" y="3383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3400" dirty="0"/>
          </a:p>
        </p:txBody>
      </p:sp>
      <p:sp>
        <p:nvSpPr>
          <p:cNvPr id="85" name="Text 83"/>
          <p:cNvSpPr/>
          <p:nvPr/>
        </p:nvSpPr>
        <p:spPr>
          <a:xfrm>
            <a:off x="822960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balances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822960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on each side cancel like a see-saw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· ADD — START AT 7, GRID OF 4 (2×2)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powers of 7, 8, 9, 10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777240" y="1874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24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1691640" y="1874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9164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777240" y="27889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80" name="Shape 78"/>
          <p:cNvSpPr/>
          <p:nvPr/>
        </p:nvSpPr>
        <p:spPr>
          <a:xfrm>
            <a:off x="1691640" y="27889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916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82" name="Text 80"/>
          <p:cNvSpPr/>
          <p:nvPr/>
        </p:nvSpPr>
        <p:spPr>
          <a:xfrm>
            <a:off x="7772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sits at 8.5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48640" y="41148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Feynman: line up four numbers 7, 8, 9, 10 in a 2-by-2 square. Want the total of their squares? Their cubes? Balance around the middle (8.5) and one short formula gives each answer.</a:t>
            </a:r>
            <a:endParaRPr lang="en-US" sz="14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6052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57984"/>
                <a:gridCol w="2167128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· 2×2 (7…10)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· 2×2×2 (7…14)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125,412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208,624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1,527,624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5" name="Text 82"/>
          <p:cNvSpPr/>
          <p:nvPr/>
        </p:nvSpPr>
        <p:spPr>
          <a:xfrm>
            <a:off x="6035040" y="4846320"/>
            <a:ext cx="5605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the four into a 2×2×2 box (8 numbers, 7 to 14) and the SAME formula works — just a bigger count X. Every value machine-checked.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· MULTIPLY — START AT 7, GRID OF 4 (2×2)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7, 14, 28, 56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777240" y="187452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FC857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1737360" y="187452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373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777240" y="283464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>
            <a:off x="1737360" y="283464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FC857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3736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7772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7 · last 56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48640" y="42062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Feynman: these four double each step — 7, 14, 28, 56. To multiply them, just pair the first and last: 7 × 56 = 392. The answer is 392 multiplied by itself, 392 × 392 = 153,664. Raise it to a power and it rockets skyward.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6052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1305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(7×56)^(w·4/2)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392²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153,664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392⁴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 billion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392⁶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digits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392⁸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digits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392¹⁰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digits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5" name="Text 82"/>
          <p:cNvSpPr/>
          <p:nvPr/>
        </p:nvSpPr>
        <p:spPr>
          <a:xfrm>
            <a:off x="6035040" y="484632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grows explosively — by power 5 the answer has 26 digits, found in one exponentiation.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· FLIP &amp; ADD — START AT 1/7, GRID OF 4 (2×2)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1/7 + 1/8 + 1/9 + 1/10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777240" y="1874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24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691640" y="1874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9164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77240" y="27889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691640" y="27889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916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77240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one-seventh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48640" y="41148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Feynman: flip each number upside-down — 1/7, 1/8, 1/9, 1/10 — and add the flips. That's about 0.48. Use the squares (1/7², …) and it shrinks to 0.058: teeny crumbs, like the last thin flakes of a chocolate bar.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6052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13432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1/kᵖ  (7…10)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(7…14)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0.478968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0.801562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0.058379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0.084607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5" name="Text 82"/>
          <p:cNvSpPr/>
          <p:nvPr/>
        </p:nvSpPr>
        <p:spPr>
          <a:xfrm>
            <a:off x="6035040" y="484632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shrinks numbers fast, so harmonic totals stay small — each higher power is far tinier. Exact via the ζ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MIDDLE TRICK WORK?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see-saw secret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1828800" y="3108960"/>
            <a:ext cx="54864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97680" y="3108960"/>
            <a:ext cx="548640" cy="502920"/>
          </a:xfrm>
          <a:prstGeom prst="triangle">
            <a:avLst/>
          </a:prstGeom>
          <a:solidFill>
            <a:srgbClr val="FFC857"/>
          </a:solidFill>
          <a:ln/>
        </p:spPr>
      </p:sp>
      <p:sp>
        <p:nvSpPr>
          <p:cNvPr id="76" name="Shape 74"/>
          <p:cNvSpPr/>
          <p:nvPr/>
        </p:nvSpPr>
        <p:spPr>
          <a:xfrm>
            <a:off x="2011680" y="2743200"/>
            <a:ext cx="457200" cy="457200"/>
          </a:xfrm>
          <a:prstGeom prst="ellipse">
            <a:avLst/>
          </a:prstGeom>
          <a:solidFill>
            <a:srgbClr val="F09090"/>
          </a:solidFill>
          <a:ln/>
        </p:spPr>
      </p:sp>
      <p:sp>
        <p:nvSpPr>
          <p:cNvPr id="77" name="Shape 75"/>
          <p:cNvSpPr/>
          <p:nvPr/>
        </p:nvSpPr>
        <p:spPr>
          <a:xfrm>
            <a:off x="6675120" y="2743200"/>
            <a:ext cx="457200" cy="457200"/>
          </a:xfrm>
          <a:prstGeom prst="ellipse">
            <a:avLst/>
          </a:prstGeom>
          <a:solidFill>
            <a:srgbClr val="7CFC9E"/>
          </a:solidFill>
          <a:ln/>
        </p:spPr>
      </p:sp>
      <p:sp>
        <p:nvSpPr>
          <p:cNvPr id="78" name="Text 76"/>
          <p:cNvSpPr/>
          <p:nvPr/>
        </p:nvSpPr>
        <p:spPr>
          <a:xfrm>
            <a:off x="196596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662940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434340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548640" y="438912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2" name="Text 80"/>
          <p:cNvSpPr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the same weight the same distance on both sides of a see-saw, and it balances — the two tips cancel out. Numbers around the midpoint do exactly this: the “+3” and the “−3” cancel when you add up the messy odd bits. What is left over is short and neat — and that leftover is the formula. Balance on the middle: that is the whole secret, for adding, multiplying, and flipping alike.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USAGE · ANY NUMBER FITS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any number — it plays all three ways</a:t>
            </a:r>
            <a:endParaRPr lang="en-US" sz="3000" dirty="0"/>
          </a:p>
        </p:txBody>
      </p:sp>
      <p:sp>
        <p:nvSpPr>
          <p:cNvPr id="74" name="Text 7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starting number at random. One choice decides which family it joins — and any of them lays out in any dimension: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548640" y="24231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  ADD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7315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 run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73152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up by a fixed amount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306824" y="24231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9050">
            <a:solidFill>
              <a:srgbClr val="6EC8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89704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 MULTIPLY</a:t>
            </a:r>
            <a:endParaRPr lang="en-US" sz="2200" dirty="0"/>
          </a:p>
        </p:txBody>
      </p:sp>
      <p:sp>
        <p:nvSpPr>
          <p:cNvPr id="81" name="Text 79"/>
          <p:cNvSpPr/>
          <p:nvPr/>
        </p:nvSpPr>
        <p:spPr>
          <a:xfrm>
            <a:off x="4489704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 run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4489704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by a fixed ratio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065008" y="24231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9050">
            <a:solidFill>
              <a:srgbClr val="7CFC9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47888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  FLIP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8247888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HP run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8247888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upside-down numbers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48640" y="43434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seed  →  choose ＋ · × · 1/  →  arrange in 1D…5D  →  one balance formula solves it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collective use case: the operation you pick, not the number, decides the family. Every number qualifies — nothing is left out.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USAGE · WORKED — RANDOM SEED 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number, 23, fitted three ways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6459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A3475"/>
          </a:solidFill>
          <a:ln w="1651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AP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23,26,29,32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4306824" y="16459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A3475"/>
          </a:solidFill>
          <a:ln w="16510">
            <a:solidFill>
              <a:srgbClr val="6EC8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GP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23,46,92,184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8065008" y="16459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A3475"/>
          </a:solidFill>
          <a:ln w="16510">
            <a:solidFill>
              <a:srgbClr val="7CFC9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02168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 HP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1/23 … 1/32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4233672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 Σkᵖ (2×2)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 ∏kᵖ (2×2)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 Σk⁻ᵖ (2×2)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17,909,824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0.147673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320,761,795,710,976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5.74×10²¹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2,492,674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1.03×10²⁹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72,383,300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1.84×10³⁶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1" name="Text 78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up to 3D (2×2×2, eight terms) and the same formula keeps up — AP cubes give 268, 9,356, 338,752 for powers 1-3; HP gives ≈0.2497, ≈0.0082.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machine-verified with exact fraction arithmetic. Pick any other number and the table just refills — the framework never says no.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1720" y="532180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29400" y="1115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5907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23957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16936" y="13350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70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17736" y="576072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6568" y="11521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78640" y="541324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89611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47365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277977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0504" y="438912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34656" y="51206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41864" y="4773168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42232" y="4937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67912" y="59436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40740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02536" y="517550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5413248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64008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13848" y="192024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99032" y="24871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63624" y="186537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07624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88752" y="47000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4216" y="44439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512064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304" y="60716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503152" y="19385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9256" y="4937760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622024" y="153619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12296" y="27614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179222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32504" y="256032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7667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84708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34072" y="612648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292608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20240" y="287121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442569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02412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68128" y="54315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6089904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16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09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291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87368" y="63642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051792" y="3456432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2832" y="19019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52744" y="65105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64373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35440" y="40599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70064" y="36576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7656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73352" y="60167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9024" y="29992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0" y="49011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89704" y="1316736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367528" y="26883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27248" y="577900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74136" y="66385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49824" y="2743200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411480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3488" y="64008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44" y="6565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04488" y="42062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312664" y="12435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396728" y="640080"/>
            <a:ext cx="685800" cy="685800"/>
          </a:xfrm>
          <a:prstGeom prst="rect">
            <a:avLst/>
          </a:prstGeom>
          <a:solidFill>
            <a:srgbClr val="2A3475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273284" y="763524"/>
            <a:ext cx="685800" cy="685800"/>
          </a:xfrm>
          <a:prstGeom prst="rect">
            <a:avLst/>
          </a:prstGeom>
          <a:solidFill>
            <a:srgbClr val="CADCFC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49840" y="886968"/>
            <a:ext cx="685800" cy="685800"/>
          </a:xfrm>
          <a:prstGeom prst="rect">
            <a:avLst/>
          </a:prstGeom>
          <a:solidFill>
            <a:srgbClr val="FFC857"/>
          </a:solidFill>
          <a:ln w="12700">
            <a:solidFill>
              <a:srgbClr val="0B0F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" y="21945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symmetry. Three families.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power, any dimension.</a:t>
            </a:r>
            <a:endParaRPr lang="en-US" sz="4000" dirty="0"/>
          </a:p>
        </p:txBody>
      </p:sp>
      <p:sp>
        <p:nvSpPr>
          <p:cNvPr id="76" name="Text 74"/>
          <p:cNvSpPr/>
          <p:nvPr/>
        </p:nvSpPr>
        <p:spPr>
          <a:xfrm>
            <a:off x="640080" y="3931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Omnidimensional balance → specific hyperdimensional form — proven exact.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Kumaran Kanniappan</a:t>
            </a:r>
            <a:pPr indent="0" marL="0">
              <a:buNone/>
            </a:pPr>
            <a:r>
              <a:rPr lang="en-US" sz="14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Formulas with Space Exploration ·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2026-07-18T11:39:55Z</dcterms:created>
  <dcterms:modified xsi:type="dcterms:W3CDTF">2026-07-18T11:39:55Z</dcterms:modified>
</cp:coreProperties>
</file>